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drawings/drawing1.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2.xml" ContentType="application/vnd.openxmlformats-officedocument.drawingml.chartshapes+xml"/>
  <Override PartName="/ppt/presentation.xml" ContentType="application/vnd.openxmlformats-officedocument.presentationml.presentation.main+xml"/>
  <Override PartName="/ppt/slides/slide8.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charts/chart1.xml" ContentType="application/vnd.openxmlformats-officedocument.drawingml.chart+xml"/>
  <Override PartName="/ppt/notesMasters/notesMaster1.xml" ContentType="application/vnd.openxmlformats-officedocument.presentationml.notesMaster+xml"/>
  <Override PartName="/ppt/charts/chart4.xml" ContentType="application/vnd.openxmlformats-officedocument.drawingml.chart+xml"/>
  <Override PartName="/ppt/charts/chart3.xml" ContentType="application/vnd.openxmlformats-officedocument.drawingml.chart+xml"/>
  <Override PartName="/ppt/charts/chart2.xml" ContentType="application/vnd.openxmlformats-officedocument.drawingml.char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60" r:id="rId1"/>
  </p:sldMasterIdLst>
  <p:notesMasterIdLst>
    <p:notesMasterId r:id="rId24"/>
  </p:notesMasterIdLst>
  <p:handoutMasterIdLst>
    <p:handoutMasterId r:id="rId25"/>
  </p:handoutMasterIdLst>
  <p:sldIdLst>
    <p:sldId id="401" r:id="rId2"/>
    <p:sldId id="402" r:id="rId3"/>
    <p:sldId id="403" r:id="rId4"/>
    <p:sldId id="703" r:id="rId5"/>
    <p:sldId id="731" r:id="rId6"/>
    <p:sldId id="704" r:id="rId7"/>
    <p:sldId id="716" r:id="rId8"/>
    <p:sldId id="706" r:id="rId9"/>
    <p:sldId id="727" r:id="rId10"/>
    <p:sldId id="729" r:id="rId11"/>
    <p:sldId id="734" r:id="rId12"/>
    <p:sldId id="735" r:id="rId13"/>
    <p:sldId id="710" r:id="rId14"/>
    <p:sldId id="730" r:id="rId15"/>
    <p:sldId id="712" r:id="rId16"/>
    <p:sldId id="726" r:id="rId17"/>
    <p:sldId id="733" r:id="rId18"/>
    <p:sldId id="465" r:id="rId19"/>
    <p:sldId id="715" r:id="rId20"/>
    <p:sldId id="732" r:id="rId21"/>
    <p:sldId id="721" r:id="rId22"/>
    <p:sldId id="722" r:id="rId23"/>
  </p:sldIdLst>
  <p:sldSz cx="9144000" cy="6858000" type="screen4x3"/>
  <p:notesSz cx="6807200" cy="9939338"/>
  <p:defaultTextStyle>
    <a:defPPr>
      <a:defRPr lang="ja-JP"/>
    </a:defPPr>
    <a:lvl1pPr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1pPr>
    <a:lvl2pPr marL="4572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2pPr>
    <a:lvl3pPr marL="9144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3pPr>
    <a:lvl4pPr marL="13716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4pPr>
    <a:lvl5pPr marL="18288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ern="1200">
        <a:solidFill>
          <a:schemeClr val="tx1"/>
        </a:solidFill>
        <a:latin typeface="Calibri" pitchFamily="34" charset="0"/>
        <a:ea typeface="ＭＳ Ｐゴシック" pitchFamily="50" charset="-128"/>
        <a:cs typeface="+mn-cs"/>
      </a:defRPr>
    </a:lvl6pPr>
    <a:lvl7pPr marL="2743200" algn="l" defTabSz="914400" rtl="0" eaLnBrk="1" latinLnBrk="0" hangingPunct="1">
      <a:defRPr kern="1200">
        <a:solidFill>
          <a:schemeClr val="tx1"/>
        </a:solidFill>
        <a:latin typeface="Calibri" pitchFamily="34" charset="0"/>
        <a:ea typeface="ＭＳ Ｐゴシック" pitchFamily="50" charset="-128"/>
        <a:cs typeface="+mn-cs"/>
      </a:defRPr>
    </a:lvl7pPr>
    <a:lvl8pPr marL="3200400" algn="l" defTabSz="914400" rtl="0" eaLnBrk="1" latinLnBrk="0" hangingPunct="1">
      <a:defRPr kern="1200">
        <a:solidFill>
          <a:schemeClr val="tx1"/>
        </a:solidFill>
        <a:latin typeface="Calibri" pitchFamily="34" charset="0"/>
        <a:ea typeface="ＭＳ Ｐゴシック" pitchFamily="50" charset="-128"/>
        <a:cs typeface="+mn-cs"/>
      </a:defRPr>
    </a:lvl8pPr>
    <a:lvl9pPr marL="3657600" algn="l" defTabSz="914400" rtl="0" eaLnBrk="1" latinLnBrk="0" hangingPunct="1">
      <a:defRPr kern="1200">
        <a:solidFill>
          <a:schemeClr val="tx1"/>
        </a:solidFill>
        <a:latin typeface="Calibri" pitchFamily="34" charset="0"/>
        <a:ea typeface="ＭＳ Ｐゴシック" pitchFamily="50" charset="-128"/>
        <a:cs typeface="+mn-cs"/>
      </a:defRPr>
    </a:lvl9pPr>
  </p:defaultTextStyle>
  <p:extLst>
    <p:ext uri="{EFAFB233-063F-42B5-8137-9DF3F51BA10A}">
      <p15:sldGuideLst xmlns:p15="http://schemas.microsoft.com/office/powerpoint/2012/main">
        <p15:guide id="1" orient="horz" pos="2297">
          <p15:clr>
            <a:srgbClr val="A4A3A4"/>
          </p15:clr>
        </p15:guide>
        <p15:guide id="2" pos="291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5EBEB"/>
    <a:srgbClr val="FFC489"/>
    <a:srgbClr val="0000FF"/>
    <a:srgbClr val="4F81BD"/>
    <a:srgbClr val="C6D9F1"/>
    <a:srgbClr val="FFCC99"/>
    <a:srgbClr val="FFCC66"/>
    <a:srgbClr val="FF8B8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30" autoAdjust="0"/>
    <p:restoredTop sz="94660" autoAdjust="0"/>
  </p:normalViewPr>
  <p:slideViewPr>
    <p:cSldViewPr snapToGrid="0">
      <p:cViewPr varScale="1">
        <p:scale>
          <a:sx n="68" d="100"/>
          <a:sy n="68" d="100"/>
        </p:scale>
        <p:origin x="1722" y="72"/>
      </p:cViewPr>
      <p:guideLst>
        <p:guide orient="horz" pos="2297"/>
        <p:guide pos="291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AA01047\Desktop\&#20896;&#27700;&#23550;&#31574;&#26908;&#35342;\&#23713;&#30000;&#12458;&#12522;&#12472;&#12490;&#12523;&#12288;180711_&#38477;&#38632;&#20104;&#24819;&#21450;&#12403;&#23455;&#32318;&#65288;&#20966;&#29702;&#33021;&#21147;&#36861;&#35352;&#65289;rev.1.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AA01047\Desktop\&#20896;&#27700;&#23550;&#31574;&#26908;&#35342;\&#9679;201810&#25152;&#20896;&#27700;&#23550;&#31574;&#26908;&#35342;\&#21069;&#25552;&#26465;&#20214;20181008\&#25490;&#27700;&#33021;&#21147;&#26908;&#35388;.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C:\Users\AA01047\Desktop\&#20896;&#27700;&#23550;&#31574;&#26908;&#35342;\&#9679;201810&#25152;&#20896;&#27700;&#23550;&#31574;&#26908;&#35342;\&#21069;&#25552;&#26465;&#20214;20181008\&#25490;&#27700;&#33021;&#21147;&#26908;&#35388;.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C:\Users\AA01047\Desktop\&#26087;&#31471;&#26411;&#12487;&#12540;&#12479;\Desktop\&#20896;&#27700;&#23550;&#31574;&#26908;&#35342;\&#9679;201810&#25152;&#20896;&#27700;&#23550;&#31574;&#26908;&#35342;\&#21069;&#25552;&#26465;&#20214;20181008\&#25490;&#27700;&#33021;&#21147;&#26908;&#35388;.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639219764566055E-2"/>
          <c:y val="4.3354466464457564E-2"/>
          <c:w val="0.80538893792548971"/>
          <c:h val="0.74343957525059901"/>
        </c:manualLayout>
      </c:layout>
      <c:barChart>
        <c:barDir val="col"/>
        <c:grouping val="clustered"/>
        <c:varyColors val="0"/>
        <c:ser>
          <c:idx val="0"/>
          <c:order val="0"/>
          <c:tx>
            <c:strRef>
              <c:f>'2014.7.5-9 (2)'!$C$2</c:f>
              <c:strCache>
                <c:ptCount val="1"/>
                <c:pt idx="0">
                  <c:v>降雨量</c:v>
                </c:pt>
              </c:strCache>
            </c:strRef>
          </c:tx>
          <c:invertIfNegative val="0"/>
          <c:cat>
            <c:numRef>
              <c:f>'2014.7.5-9 (2)'!$B$5:$B$100</c:f>
              <c:numCache>
                <c:formatCode>General</c:formatCode>
                <c:ptCount val="9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1</c:v>
                </c:pt>
                <c:pt idx="25">
                  <c:v>2</c:v>
                </c:pt>
                <c:pt idx="26">
                  <c:v>3</c:v>
                </c:pt>
                <c:pt idx="27">
                  <c:v>4</c:v>
                </c:pt>
                <c:pt idx="28">
                  <c:v>5</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24</c:v>
                </c:pt>
                <c:pt idx="48">
                  <c:v>1</c:v>
                </c:pt>
                <c:pt idx="49">
                  <c:v>2</c:v>
                </c:pt>
                <c:pt idx="50">
                  <c:v>3</c:v>
                </c:pt>
                <c:pt idx="51">
                  <c:v>4</c:v>
                </c:pt>
                <c:pt idx="52">
                  <c:v>5</c:v>
                </c:pt>
                <c:pt idx="53">
                  <c:v>6</c:v>
                </c:pt>
                <c:pt idx="54">
                  <c:v>7</c:v>
                </c:pt>
                <c:pt idx="55">
                  <c:v>8</c:v>
                </c:pt>
                <c:pt idx="56">
                  <c:v>9</c:v>
                </c:pt>
                <c:pt idx="57">
                  <c:v>10</c:v>
                </c:pt>
                <c:pt idx="58">
                  <c:v>11</c:v>
                </c:pt>
                <c:pt idx="59">
                  <c:v>12</c:v>
                </c:pt>
                <c:pt idx="60">
                  <c:v>13</c:v>
                </c:pt>
                <c:pt idx="61">
                  <c:v>14</c:v>
                </c:pt>
                <c:pt idx="62">
                  <c:v>15</c:v>
                </c:pt>
                <c:pt idx="63">
                  <c:v>16</c:v>
                </c:pt>
                <c:pt idx="64">
                  <c:v>17</c:v>
                </c:pt>
                <c:pt idx="65">
                  <c:v>18</c:v>
                </c:pt>
                <c:pt idx="66">
                  <c:v>19</c:v>
                </c:pt>
                <c:pt idx="67">
                  <c:v>20</c:v>
                </c:pt>
                <c:pt idx="68">
                  <c:v>21</c:v>
                </c:pt>
                <c:pt idx="69">
                  <c:v>22</c:v>
                </c:pt>
                <c:pt idx="70">
                  <c:v>23</c:v>
                </c:pt>
                <c:pt idx="71">
                  <c:v>24</c:v>
                </c:pt>
                <c:pt idx="72">
                  <c:v>1</c:v>
                </c:pt>
                <c:pt idx="73">
                  <c:v>2</c:v>
                </c:pt>
                <c:pt idx="74">
                  <c:v>3</c:v>
                </c:pt>
                <c:pt idx="75">
                  <c:v>4</c:v>
                </c:pt>
                <c:pt idx="76">
                  <c:v>5</c:v>
                </c:pt>
                <c:pt idx="77">
                  <c:v>6</c:v>
                </c:pt>
                <c:pt idx="78">
                  <c:v>7</c:v>
                </c:pt>
                <c:pt idx="79">
                  <c:v>8</c:v>
                </c:pt>
                <c:pt idx="80">
                  <c:v>9</c:v>
                </c:pt>
                <c:pt idx="81">
                  <c:v>10</c:v>
                </c:pt>
                <c:pt idx="82">
                  <c:v>11</c:v>
                </c:pt>
                <c:pt idx="83">
                  <c:v>12</c:v>
                </c:pt>
                <c:pt idx="84">
                  <c:v>13</c:v>
                </c:pt>
                <c:pt idx="85">
                  <c:v>14</c:v>
                </c:pt>
                <c:pt idx="86">
                  <c:v>15</c:v>
                </c:pt>
                <c:pt idx="87">
                  <c:v>16</c:v>
                </c:pt>
                <c:pt idx="88">
                  <c:v>17</c:v>
                </c:pt>
                <c:pt idx="89">
                  <c:v>18</c:v>
                </c:pt>
                <c:pt idx="90">
                  <c:v>19</c:v>
                </c:pt>
                <c:pt idx="91">
                  <c:v>20</c:v>
                </c:pt>
                <c:pt idx="92">
                  <c:v>21</c:v>
                </c:pt>
                <c:pt idx="93">
                  <c:v>22</c:v>
                </c:pt>
                <c:pt idx="94">
                  <c:v>23</c:v>
                </c:pt>
                <c:pt idx="95">
                  <c:v>24</c:v>
                </c:pt>
              </c:numCache>
            </c:numRef>
          </c:cat>
          <c:val>
            <c:numRef>
              <c:f>'2014.7.5-9 (2)'!$C$5:$C$100</c:f>
              <c:numCache>
                <c:formatCode>0.000_ ;[Red]\-0.000\ </c:formatCode>
                <c:ptCount val="96"/>
                <c:pt idx="0">
                  <c:v>0.5</c:v>
                </c:pt>
                <c:pt idx="1">
                  <c:v>1.5</c:v>
                </c:pt>
                <c:pt idx="2">
                  <c:v>0.5</c:v>
                </c:pt>
                <c:pt idx="3">
                  <c:v>0</c:v>
                </c:pt>
                <c:pt idx="4">
                  <c:v>0.5</c:v>
                </c:pt>
                <c:pt idx="5">
                  <c:v>5.5</c:v>
                </c:pt>
                <c:pt idx="6">
                  <c:v>3.5</c:v>
                </c:pt>
                <c:pt idx="7">
                  <c:v>10</c:v>
                </c:pt>
                <c:pt idx="8">
                  <c:v>12</c:v>
                </c:pt>
                <c:pt idx="9">
                  <c:v>43</c:v>
                </c:pt>
                <c:pt idx="10">
                  <c:v>18</c:v>
                </c:pt>
                <c:pt idx="11">
                  <c:v>13</c:v>
                </c:pt>
                <c:pt idx="12">
                  <c:v>3</c:v>
                </c:pt>
                <c:pt idx="13">
                  <c:v>0.5</c:v>
                </c:pt>
                <c:pt idx="14">
                  <c:v>0.5</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0-1E68-4473-A933-762AD8B3BE10}"/>
            </c:ext>
          </c:extLst>
        </c:ser>
        <c:dLbls>
          <c:showLegendKey val="0"/>
          <c:showVal val="0"/>
          <c:showCatName val="0"/>
          <c:showSerName val="0"/>
          <c:showPercent val="0"/>
          <c:showBubbleSize val="0"/>
        </c:dLbls>
        <c:gapWidth val="20"/>
        <c:axId val="290180096"/>
        <c:axId val="295524224"/>
      </c:barChart>
      <c:lineChart>
        <c:grouping val="standard"/>
        <c:varyColors val="0"/>
        <c:ser>
          <c:idx val="1"/>
          <c:order val="1"/>
          <c:spPr>
            <a:ln>
              <a:solidFill>
                <a:srgbClr val="00B050"/>
              </a:solidFill>
            </a:ln>
          </c:spPr>
          <c:marker>
            <c:symbol val="none"/>
          </c:marker>
          <c:dLbls>
            <c:dLbl>
              <c:idx val="71"/>
              <c:layout>
                <c:manualLayout>
                  <c:x val="-2.1228766679014958E-2"/>
                  <c:y val="-5.738975423232761E-2"/>
                </c:manualLayout>
              </c:layout>
              <c:tx>
                <c:rich>
                  <a:bodyPr/>
                  <a:lstStyle/>
                  <a:p>
                    <a:pPr>
                      <a:defRPr sz="1400">
                        <a:solidFill>
                          <a:srgbClr val="00B050"/>
                        </a:solidFill>
                      </a:defRPr>
                    </a:pPr>
                    <a:r>
                      <a:rPr lang="zh-TW" altLang="en-US" sz="1400" dirty="0">
                        <a:solidFill>
                          <a:srgbClr val="00B050"/>
                        </a:solidFill>
                      </a:rPr>
                      <a:t>累積降雨量</a:t>
                    </a:r>
                    <a:r>
                      <a:rPr lang="en-US" altLang="zh-TW" sz="1400" dirty="0">
                        <a:solidFill>
                          <a:srgbClr val="00B050"/>
                        </a:solidFill>
                      </a:rPr>
                      <a:t>112</a:t>
                    </a:r>
                    <a:r>
                      <a:rPr lang="zh-TW" altLang="en-US" sz="1400" dirty="0">
                        <a:solidFill>
                          <a:srgbClr val="00B050"/>
                        </a:solidFill>
                      </a:rPr>
                      <a:t>ｍｍ</a:t>
                    </a:r>
                  </a:p>
                </c:rich>
              </c:tx>
              <c:spPr/>
              <c:dLblPos val="r"/>
              <c:showLegendKey val="0"/>
              <c:showVal val="1"/>
              <c:showCatName val="0"/>
              <c:showSerName val="0"/>
              <c:showPercent val="0"/>
              <c:showBubbleSize val="0"/>
              <c:extLst>
                <c:ext xmlns:c15="http://schemas.microsoft.com/office/drawing/2012/chart" uri="{CE6537A1-D6FC-4f65-9D91-7224C49458BB}">
                  <c15:layout>
                    <c:manualLayout>
                      <c:w val="0.23937480409911843"/>
                      <c:h val="0.28613384197991321"/>
                    </c:manualLayout>
                  </c15:layout>
                </c:ext>
                <c:ext xmlns:c16="http://schemas.microsoft.com/office/drawing/2014/chart" uri="{C3380CC4-5D6E-409C-BE32-E72D297353CC}">
                  <c16:uniqueId val="{00000001-1E68-4473-A933-762AD8B3BE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'2014.7.5-9 (2)'!$D$5:$D$100</c:f>
              <c:numCache>
                <c:formatCode>General</c:formatCode>
                <c:ptCount val="96"/>
                <c:pt idx="0">
                  <c:v>0.5</c:v>
                </c:pt>
                <c:pt idx="1">
                  <c:v>2</c:v>
                </c:pt>
                <c:pt idx="2">
                  <c:v>2.5</c:v>
                </c:pt>
                <c:pt idx="3">
                  <c:v>2.5</c:v>
                </c:pt>
                <c:pt idx="4">
                  <c:v>3</c:v>
                </c:pt>
                <c:pt idx="5">
                  <c:v>8.5</c:v>
                </c:pt>
                <c:pt idx="6">
                  <c:v>12</c:v>
                </c:pt>
                <c:pt idx="7">
                  <c:v>22</c:v>
                </c:pt>
                <c:pt idx="8">
                  <c:v>34</c:v>
                </c:pt>
                <c:pt idx="9">
                  <c:v>77</c:v>
                </c:pt>
                <c:pt idx="10">
                  <c:v>95</c:v>
                </c:pt>
                <c:pt idx="11">
                  <c:v>108</c:v>
                </c:pt>
                <c:pt idx="12">
                  <c:v>111</c:v>
                </c:pt>
                <c:pt idx="13">
                  <c:v>111.5</c:v>
                </c:pt>
                <c:pt idx="14">
                  <c:v>112</c:v>
                </c:pt>
                <c:pt idx="15">
                  <c:v>112</c:v>
                </c:pt>
                <c:pt idx="16">
                  <c:v>112</c:v>
                </c:pt>
                <c:pt idx="17">
                  <c:v>112</c:v>
                </c:pt>
                <c:pt idx="18">
                  <c:v>112</c:v>
                </c:pt>
                <c:pt idx="19">
                  <c:v>112</c:v>
                </c:pt>
                <c:pt idx="20">
                  <c:v>112</c:v>
                </c:pt>
                <c:pt idx="21">
                  <c:v>112</c:v>
                </c:pt>
                <c:pt idx="22">
                  <c:v>112</c:v>
                </c:pt>
                <c:pt idx="23">
                  <c:v>112</c:v>
                </c:pt>
                <c:pt idx="24">
                  <c:v>112</c:v>
                </c:pt>
                <c:pt idx="25">
                  <c:v>112</c:v>
                </c:pt>
                <c:pt idx="26">
                  <c:v>112</c:v>
                </c:pt>
                <c:pt idx="27">
                  <c:v>112</c:v>
                </c:pt>
                <c:pt idx="28">
                  <c:v>112</c:v>
                </c:pt>
                <c:pt idx="29">
                  <c:v>112</c:v>
                </c:pt>
                <c:pt idx="30">
                  <c:v>112</c:v>
                </c:pt>
                <c:pt idx="31">
                  <c:v>112</c:v>
                </c:pt>
                <c:pt idx="32">
                  <c:v>112</c:v>
                </c:pt>
                <c:pt idx="33">
                  <c:v>112</c:v>
                </c:pt>
                <c:pt idx="34">
                  <c:v>112</c:v>
                </c:pt>
                <c:pt idx="35">
                  <c:v>112</c:v>
                </c:pt>
                <c:pt idx="36">
                  <c:v>112</c:v>
                </c:pt>
                <c:pt idx="37">
                  <c:v>112</c:v>
                </c:pt>
                <c:pt idx="38">
                  <c:v>112</c:v>
                </c:pt>
                <c:pt idx="39">
                  <c:v>112</c:v>
                </c:pt>
                <c:pt idx="40">
                  <c:v>112</c:v>
                </c:pt>
                <c:pt idx="41">
                  <c:v>112</c:v>
                </c:pt>
                <c:pt idx="42">
                  <c:v>112</c:v>
                </c:pt>
                <c:pt idx="43">
                  <c:v>112</c:v>
                </c:pt>
                <c:pt idx="44">
                  <c:v>112</c:v>
                </c:pt>
                <c:pt idx="45">
                  <c:v>112</c:v>
                </c:pt>
                <c:pt idx="46">
                  <c:v>112</c:v>
                </c:pt>
                <c:pt idx="47">
                  <c:v>112</c:v>
                </c:pt>
                <c:pt idx="48">
                  <c:v>112</c:v>
                </c:pt>
                <c:pt idx="49">
                  <c:v>112</c:v>
                </c:pt>
                <c:pt idx="50">
                  <c:v>112</c:v>
                </c:pt>
                <c:pt idx="51">
                  <c:v>112</c:v>
                </c:pt>
                <c:pt idx="52">
                  <c:v>112</c:v>
                </c:pt>
                <c:pt idx="53">
                  <c:v>112</c:v>
                </c:pt>
                <c:pt idx="54">
                  <c:v>112</c:v>
                </c:pt>
                <c:pt idx="55">
                  <c:v>112</c:v>
                </c:pt>
                <c:pt idx="56">
                  <c:v>112</c:v>
                </c:pt>
                <c:pt idx="57">
                  <c:v>112</c:v>
                </c:pt>
                <c:pt idx="58">
                  <c:v>112</c:v>
                </c:pt>
                <c:pt idx="59">
                  <c:v>112</c:v>
                </c:pt>
                <c:pt idx="60">
                  <c:v>112</c:v>
                </c:pt>
                <c:pt idx="61">
                  <c:v>112</c:v>
                </c:pt>
                <c:pt idx="62">
                  <c:v>112</c:v>
                </c:pt>
                <c:pt idx="63">
                  <c:v>112</c:v>
                </c:pt>
                <c:pt idx="64">
                  <c:v>112</c:v>
                </c:pt>
                <c:pt idx="65">
                  <c:v>112</c:v>
                </c:pt>
                <c:pt idx="66">
                  <c:v>112</c:v>
                </c:pt>
                <c:pt idx="67">
                  <c:v>112</c:v>
                </c:pt>
                <c:pt idx="68">
                  <c:v>112</c:v>
                </c:pt>
                <c:pt idx="69">
                  <c:v>112</c:v>
                </c:pt>
                <c:pt idx="70">
                  <c:v>112</c:v>
                </c:pt>
                <c:pt idx="71">
                  <c:v>112</c:v>
                </c:pt>
                <c:pt idx="72">
                  <c:v>112</c:v>
                </c:pt>
                <c:pt idx="73">
                  <c:v>112</c:v>
                </c:pt>
                <c:pt idx="74">
                  <c:v>112</c:v>
                </c:pt>
                <c:pt idx="75">
                  <c:v>112</c:v>
                </c:pt>
                <c:pt idx="76">
                  <c:v>112</c:v>
                </c:pt>
                <c:pt idx="77">
                  <c:v>112</c:v>
                </c:pt>
                <c:pt idx="78">
                  <c:v>112</c:v>
                </c:pt>
                <c:pt idx="79">
                  <c:v>112</c:v>
                </c:pt>
                <c:pt idx="80">
                  <c:v>112</c:v>
                </c:pt>
                <c:pt idx="81">
                  <c:v>112</c:v>
                </c:pt>
                <c:pt idx="82">
                  <c:v>112</c:v>
                </c:pt>
                <c:pt idx="83">
                  <c:v>112</c:v>
                </c:pt>
                <c:pt idx="84">
                  <c:v>112</c:v>
                </c:pt>
                <c:pt idx="85">
                  <c:v>112</c:v>
                </c:pt>
                <c:pt idx="86">
                  <c:v>112</c:v>
                </c:pt>
                <c:pt idx="87">
                  <c:v>112</c:v>
                </c:pt>
                <c:pt idx="88">
                  <c:v>112</c:v>
                </c:pt>
                <c:pt idx="89">
                  <c:v>112</c:v>
                </c:pt>
                <c:pt idx="90">
                  <c:v>112</c:v>
                </c:pt>
                <c:pt idx="91">
                  <c:v>112</c:v>
                </c:pt>
                <c:pt idx="92">
                  <c:v>112</c:v>
                </c:pt>
                <c:pt idx="93">
                  <c:v>112</c:v>
                </c:pt>
                <c:pt idx="94">
                  <c:v>112</c:v>
                </c:pt>
                <c:pt idx="95">
                  <c:v>112</c:v>
                </c:pt>
              </c:numCache>
            </c:numRef>
          </c:val>
          <c:smooth val="0"/>
          <c:extLst>
            <c:ext xmlns:c16="http://schemas.microsoft.com/office/drawing/2014/chart" uri="{C3380CC4-5D6E-409C-BE32-E72D297353CC}">
              <c16:uniqueId val="{00000002-1E68-4473-A933-762AD8B3BE10}"/>
            </c:ext>
          </c:extLst>
        </c:ser>
        <c:ser>
          <c:idx val="3"/>
          <c:order val="2"/>
          <c:spPr>
            <a:ln w="38100">
              <a:solidFill>
                <a:srgbClr val="FF0000"/>
              </a:solidFill>
            </a:ln>
          </c:spPr>
          <c:marker>
            <c:symbol val="none"/>
          </c:marker>
          <c:val>
            <c:numRef>
              <c:f>'2014.7.5-9 (2)'!$F$5:$F$100</c:f>
              <c:numCache>
                <c:formatCode>#,##0.0;[Red]\-#,##0.0</c:formatCode>
                <c:ptCount val="96"/>
                <c:pt idx="0">
                  <c:v>0</c:v>
                </c:pt>
                <c:pt idx="1">
                  <c:v>0</c:v>
                </c:pt>
                <c:pt idx="2">
                  <c:v>0</c:v>
                </c:pt>
                <c:pt idx="3">
                  <c:v>0</c:v>
                </c:pt>
                <c:pt idx="4">
                  <c:v>0</c:v>
                </c:pt>
                <c:pt idx="5">
                  <c:v>0</c:v>
                </c:pt>
                <c:pt idx="6">
                  <c:v>0</c:v>
                </c:pt>
                <c:pt idx="7">
                  <c:v>10.304692480535191</c:v>
                </c:pt>
                <c:pt idx="8">
                  <c:v>26.991299576736324</c:v>
                </c:pt>
                <c:pt idx="9">
                  <c:v>101.30790615038964</c:v>
                </c:pt>
                <c:pt idx="10">
                  <c:v>129.14870669383959</c:v>
                </c:pt>
                <c:pt idx="11">
                  <c:v>147.69434603124887</c:v>
                </c:pt>
                <c:pt idx="12">
                  <c:v>147.64966295657678</c:v>
                </c:pt>
                <c:pt idx="13">
                  <c:v>142.95739927888434</c:v>
                </c:pt>
                <c:pt idx="14">
                  <c:v>138.26513560119193</c:v>
                </c:pt>
                <c:pt idx="15">
                  <c:v>132.64335580289543</c:v>
                </c:pt>
                <c:pt idx="16">
                  <c:v>127.02157600459896</c:v>
                </c:pt>
                <c:pt idx="17">
                  <c:v>121.39979620630247</c:v>
                </c:pt>
                <c:pt idx="18">
                  <c:v>115.77801640800598</c:v>
                </c:pt>
                <c:pt idx="19">
                  <c:v>110.1562366097095</c:v>
                </c:pt>
                <c:pt idx="20">
                  <c:v>104.53445681141301</c:v>
                </c:pt>
                <c:pt idx="21">
                  <c:v>98.912677013116522</c:v>
                </c:pt>
                <c:pt idx="22">
                  <c:v>93.290897214820035</c:v>
                </c:pt>
                <c:pt idx="23">
                  <c:v>87.669117416523548</c:v>
                </c:pt>
                <c:pt idx="24">
                  <c:v>82.047337618227047</c:v>
                </c:pt>
                <c:pt idx="25">
                  <c:v>76.425557819930575</c:v>
                </c:pt>
                <c:pt idx="26">
                  <c:v>70.803778021634088</c:v>
                </c:pt>
                <c:pt idx="27">
                  <c:v>65.181998223337587</c:v>
                </c:pt>
                <c:pt idx="28">
                  <c:v>59.560218425041107</c:v>
                </c:pt>
                <c:pt idx="29">
                  <c:v>53.93843862674462</c:v>
                </c:pt>
                <c:pt idx="30">
                  <c:v>48.316658828448126</c:v>
                </c:pt>
                <c:pt idx="31">
                  <c:v>42.69487903015164</c:v>
                </c:pt>
                <c:pt idx="32">
                  <c:v>37.073099231855153</c:v>
                </c:pt>
                <c:pt idx="33">
                  <c:v>31.451319433558666</c:v>
                </c:pt>
                <c:pt idx="34">
                  <c:v>25.829539635262179</c:v>
                </c:pt>
                <c:pt idx="35">
                  <c:v>20.207759836965689</c:v>
                </c:pt>
                <c:pt idx="36">
                  <c:v>14.585980038669204</c:v>
                </c:pt>
                <c:pt idx="37">
                  <c:v>8.9642002403727155</c:v>
                </c:pt>
                <c:pt idx="38">
                  <c:v>3.3424204420762282</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smooth val="0"/>
          <c:extLst>
            <c:ext xmlns:c16="http://schemas.microsoft.com/office/drawing/2014/chart" uri="{C3380CC4-5D6E-409C-BE32-E72D297353CC}">
              <c16:uniqueId val="{00000003-1E68-4473-A933-762AD8B3BE10}"/>
            </c:ext>
          </c:extLst>
        </c:ser>
        <c:dLbls>
          <c:showLegendKey val="0"/>
          <c:showVal val="0"/>
          <c:showCatName val="0"/>
          <c:showSerName val="0"/>
          <c:showPercent val="0"/>
          <c:showBubbleSize val="0"/>
        </c:dLbls>
        <c:marker val="1"/>
        <c:smooth val="0"/>
        <c:axId val="316163584"/>
        <c:axId val="316162048"/>
      </c:lineChart>
      <c:catAx>
        <c:axId val="290180096"/>
        <c:scaling>
          <c:orientation val="minMax"/>
        </c:scaling>
        <c:delete val="0"/>
        <c:axPos val="b"/>
        <c:numFmt formatCode="General" sourceLinked="1"/>
        <c:majorTickMark val="out"/>
        <c:minorTickMark val="none"/>
        <c:tickLblPos val="nextTo"/>
        <c:crossAx val="295524224"/>
        <c:crosses val="autoZero"/>
        <c:auto val="1"/>
        <c:lblAlgn val="ctr"/>
        <c:lblOffset val="100"/>
        <c:tickLblSkip val="3"/>
        <c:noMultiLvlLbl val="0"/>
      </c:catAx>
      <c:valAx>
        <c:axId val="295524224"/>
        <c:scaling>
          <c:orientation val="minMax"/>
          <c:max val="45"/>
          <c:min val="0"/>
        </c:scaling>
        <c:delete val="0"/>
        <c:axPos val="l"/>
        <c:majorGridlines/>
        <c:title>
          <c:tx>
            <c:rich>
              <a:bodyPr rot="-5400000" vert="horz"/>
              <a:lstStyle/>
              <a:p>
                <a:pPr>
                  <a:defRPr sz="1200">
                    <a:latin typeface="メイリオ" panose="020B0604030504040204" pitchFamily="50" charset="-128"/>
                    <a:ea typeface="メイリオ" panose="020B0604030504040204" pitchFamily="50" charset="-128"/>
                    <a:cs typeface="メイリオ" panose="020B0604030504040204" pitchFamily="50" charset="-128"/>
                  </a:defRPr>
                </a:pPr>
                <a:r>
                  <a:rPr lang="ja-JP" sz="1200" dirty="0">
                    <a:latin typeface="メイリオ" panose="020B0604030504040204" pitchFamily="50" charset="-128"/>
                    <a:ea typeface="メイリオ" panose="020B0604030504040204" pitchFamily="50" charset="-128"/>
                    <a:cs typeface="メイリオ" panose="020B0604030504040204" pitchFamily="50" charset="-128"/>
                  </a:rPr>
                  <a:t>降水量（</a:t>
                </a:r>
                <a:r>
                  <a:rPr lang="en-US" sz="1200" dirty="0">
                    <a:latin typeface="メイリオ" panose="020B0604030504040204" pitchFamily="50" charset="-128"/>
                    <a:ea typeface="メイリオ" panose="020B0604030504040204" pitchFamily="50" charset="-128"/>
                    <a:cs typeface="メイリオ" panose="020B0604030504040204" pitchFamily="50" charset="-128"/>
                  </a:rPr>
                  <a:t>mm/h</a:t>
                </a:r>
                <a:r>
                  <a:rPr lang="ja-JP" sz="12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c:rich>
          </c:tx>
          <c:layout>
            <c:manualLayout>
              <c:xMode val="edge"/>
              <c:yMode val="edge"/>
              <c:x val="0"/>
              <c:y val="0.10967106813534326"/>
            </c:manualLayout>
          </c:layout>
          <c:overlay val="0"/>
        </c:title>
        <c:numFmt formatCode="0_ ;[Red]\-0\ " sourceLinked="0"/>
        <c:majorTickMark val="out"/>
        <c:minorTickMark val="none"/>
        <c:tickLblPos val="nextTo"/>
        <c:crossAx val="290180096"/>
        <c:crosses val="autoZero"/>
        <c:crossBetween val="between"/>
      </c:valAx>
      <c:valAx>
        <c:axId val="316162048"/>
        <c:scaling>
          <c:orientation val="minMax"/>
          <c:max val="400"/>
        </c:scaling>
        <c:delete val="0"/>
        <c:axPos val="r"/>
        <c:numFmt formatCode="General" sourceLinked="1"/>
        <c:majorTickMark val="out"/>
        <c:minorTickMark val="none"/>
        <c:tickLblPos val="nextTo"/>
        <c:crossAx val="316163584"/>
        <c:crosses val="max"/>
        <c:crossBetween val="between"/>
        <c:majorUnit val="50"/>
      </c:valAx>
      <c:catAx>
        <c:axId val="316163584"/>
        <c:scaling>
          <c:orientation val="minMax"/>
        </c:scaling>
        <c:delete val="1"/>
        <c:axPos val="b"/>
        <c:majorTickMark val="out"/>
        <c:minorTickMark val="none"/>
        <c:tickLblPos val="nextTo"/>
        <c:crossAx val="316162048"/>
        <c:crosses val="autoZero"/>
        <c:auto val="1"/>
        <c:lblAlgn val="ctr"/>
        <c:lblOffset val="100"/>
        <c:noMultiLvlLbl val="0"/>
      </c:catAx>
    </c:plotArea>
    <c:plotVisOnly val="1"/>
    <c:dispBlanksAs val="gap"/>
    <c:showDLblsOverMax val="0"/>
  </c:chart>
  <c:txPr>
    <a:bodyPr/>
    <a:lstStyle/>
    <a:p>
      <a:pPr>
        <a:defRPr b="0">
          <a:latin typeface="Meiryo UI" panose="020B0604030504040204" pitchFamily="50" charset="-128"/>
          <a:ea typeface="Meiryo UI" panose="020B0604030504040204" pitchFamily="50" charset="-128"/>
          <a:cs typeface="Meiryo UI" panose="020B0604030504040204" pitchFamily="50" charset="-128"/>
        </a:defRPr>
      </a:pPr>
      <a:endParaRPr lang="ja-JP"/>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0289653786541442E-2"/>
          <c:y val="0.12058919233004067"/>
          <c:w val="0.84245931934172524"/>
          <c:h val="0.69424338785845907"/>
        </c:manualLayout>
      </c:layout>
      <c:barChart>
        <c:barDir val="col"/>
        <c:grouping val="clustered"/>
        <c:varyColors val="0"/>
        <c:ser>
          <c:idx val="0"/>
          <c:order val="0"/>
          <c:tx>
            <c:strRef>
              <c:f>'2018.7.5-9(7線　棒鋼エリア）'!$C$2</c:f>
              <c:strCache>
                <c:ptCount val="1"/>
                <c:pt idx="0">
                  <c:v>降雨量</c:v>
                </c:pt>
              </c:strCache>
            </c:strRef>
          </c:tx>
          <c:invertIfNegative val="0"/>
          <c:cat>
            <c:numRef>
              <c:f>'2018.7.5-9(7線　棒鋼エリア）'!$B$5:$B$100</c:f>
              <c:numCache>
                <c:formatCode>General</c:formatCode>
                <c:ptCount val="9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1</c:v>
                </c:pt>
                <c:pt idx="25">
                  <c:v>2</c:v>
                </c:pt>
                <c:pt idx="26">
                  <c:v>3</c:v>
                </c:pt>
                <c:pt idx="27">
                  <c:v>4</c:v>
                </c:pt>
                <c:pt idx="28">
                  <c:v>5</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24</c:v>
                </c:pt>
                <c:pt idx="48">
                  <c:v>1</c:v>
                </c:pt>
                <c:pt idx="49">
                  <c:v>2</c:v>
                </c:pt>
                <c:pt idx="50">
                  <c:v>3</c:v>
                </c:pt>
                <c:pt idx="51">
                  <c:v>4</c:v>
                </c:pt>
                <c:pt idx="52">
                  <c:v>5</c:v>
                </c:pt>
                <c:pt idx="53">
                  <c:v>6</c:v>
                </c:pt>
                <c:pt idx="54">
                  <c:v>7</c:v>
                </c:pt>
                <c:pt idx="55">
                  <c:v>8</c:v>
                </c:pt>
                <c:pt idx="56">
                  <c:v>9</c:v>
                </c:pt>
                <c:pt idx="57">
                  <c:v>10</c:v>
                </c:pt>
                <c:pt idx="58">
                  <c:v>11</c:v>
                </c:pt>
                <c:pt idx="59">
                  <c:v>12</c:v>
                </c:pt>
                <c:pt idx="60">
                  <c:v>13</c:v>
                </c:pt>
                <c:pt idx="61">
                  <c:v>14</c:v>
                </c:pt>
                <c:pt idx="62">
                  <c:v>15</c:v>
                </c:pt>
                <c:pt idx="63">
                  <c:v>16</c:v>
                </c:pt>
                <c:pt idx="64">
                  <c:v>17</c:v>
                </c:pt>
                <c:pt idx="65">
                  <c:v>18</c:v>
                </c:pt>
                <c:pt idx="66">
                  <c:v>19</c:v>
                </c:pt>
                <c:pt idx="67">
                  <c:v>20</c:v>
                </c:pt>
                <c:pt idx="68">
                  <c:v>21</c:v>
                </c:pt>
                <c:pt idx="69">
                  <c:v>22</c:v>
                </c:pt>
                <c:pt idx="70">
                  <c:v>23</c:v>
                </c:pt>
                <c:pt idx="71">
                  <c:v>24</c:v>
                </c:pt>
                <c:pt idx="72">
                  <c:v>1</c:v>
                </c:pt>
                <c:pt idx="73">
                  <c:v>2</c:v>
                </c:pt>
                <c:pt idx="74">
                  <c:v>3</c:v>
                </c:pt>
                <c:pt idx="75">
                  <c:v>4</c:v>
                </c:pt>
                <c:pt idx="76">
                  <c:v>5</c:v>
                </c:pt>
                <c:pt idx="77">
                  <c:v>6</c:v>
                </c:pt>
                <c:pt idx="78">
                  <c:v>7</c:v>
                </c:pt>
                <c:pt idx="79">
                  <c:v>8</c:v>
                </c:pt>
                <c:pt idx="80">
                  <c:v>9</c:v>
                </c:pt>
                <c:pt idx="81">
                  <c:v>10</c:v>
                </c:pt>
                <c:pt idx="82">
                  <c:v>11</c:v>
                </c:pt>
                <c:pt idx="83">
                  <c:v>12</c:v>
                </c:pt>
                <c:pt idx="84">
                  <c:v>13</c:v>
                </c:pt>
                <c:pt idx="85">
                  <c:v>14</c:v>
                </c:pt>
                <c:pt idx="86">
                  <c:v>15</c:v>
                </c:pt>
                <c:pt idx="87">
                  <c:v>16</c:v>
                </c:pt>
                <c:pt idx="88">
                  <c:v>17</c:v>
                </c:pt>
                <c:pt idx="89">
                  <c:v>18</c:v>
                </c:pt>
                <c:pt idx="90">
                  <c:v>19</c:v>
                </c:pt>
                <c:pt idx="91">
                  <c:v>20</c:v>
                </c:pt>
                <c:pt idx="92">
                  <c:v>21</c:v>
                </c:pt>
                <c:pt idx="93">
                  <c:v>22</c:v>
                </c:pt>
                <c:pt idx="94">
                  <c:v>23</c:v>
                </c:pt>
                <c:pt idx="95">
                  <c:v>24</c:v>
                </c:pt>
              </c:numCache>
            </c:numRef>
          </c:cat>
          <c:val>
            <c:numRef>
              <c:f>'2018.7.5-9(7線　棒鋼エリア）'!$C$5:$C$100</c:f>
              <c:numCache>
                <c:formatCode>General</c:formatCode>
                <c:ptCount val="96"/>
                <c:pt idx="0">
                  <c:v>1.5</c:v>
                </c:pt>
                <c:pt idx="1">
                  <c:v>6.5</c:v>
                </c:pt>
                <c:pt idx="2">
                  <c:v>5</c:v>
                </c:pt>
                <c:pt idx="3">
                  <c:v>6</c:v>
                </c:pt>
                <c:pt idx="4">
                  <c:v>8.5</c:v>
                </c:pt>
                <c:pt idx="5">
                  <c:v>7</c:v>
                </c:pt>
                <c:pt idx="6">
                  <c:v>8.5</c:v>
                </c:pt>
                <c:pt idx="7">
                  <c:v>14.5</c:v>
                </c:pt>
                <c:pt idx="8">
                  <c:v>20</c:v>
                </c:pt>
                <c:pt idx="9">
                  <c:v>15.5</c:v>
                </c:pt>
                <c:pt idx="10">
                  <c:v>9</c:v>
                </c:pt>
                <c:pt idx="11">
                  <c:v>8</c:v>
                </c:pt>
                <c:pt idx="12">
                  <c:v>4</c:v>
                </c:pt>
                <c:pt idx="13">
                  <c:v>6.5</c:v>
                </c:pt>
                <c:pt idx="14">
                  <c:v>1.5</c:v>
                </c:pt>
                <c:pt idx="15">
                  <c:v>4.5</c:v>
                </c:pt>
                <c:pt idx="16">
                  <c:v>7</c:v>
                </c:pt>
                <c:pt idx="17">
                  <c:v>7</c:v>
                </c:pt>
                <c:pt idx="18">
                  <c:v>9.5</c:v>
                </c:pt>
                <c:pt idx="19">
                  <c:v>3.5</c:v>
                </c:pt>
                <c:pt idx="20">
                  <c:v>2</c:v>
                </c:pt>
                <c:pt idx="21">
                  <c:v>10</c:v>
                </c:pt>
                <c:pt idx="22">
                  <c:v>6.5</c:v>
                </c:pt>
                <c:pt idx="23">
                  <c:v>6.5</c:v>
                </c:pt>
                <c:pt idx="24">
                  <c:v>12</c:v>
                </c:pt>
                <c:pt idx="25">
                  <c:v>5.5</c:v>
                </c:pt>
                <c:pt idx="26">
                  <c:v>2.5</c:v>
                </c:pt>
                <c:pt idx="27">
                  <c:v>8</c:v>
                </c:pt>
                <c:pt idx="28">
                  <c:v>7</c:v>
                </c:pt>
                <c:pt idx="29">
                  <c:v>9</c:v>
                </c:pt>
                <c:pt idx="30">
                  <c:v>6</c:v>
                </c:pt>
                <c:pt idx="31">
                  <c:v>5.5</c:v>
                </c:pt>
                <c:pt idx="32">
                  <c:v>1.5</c:v>
                </c:pt>
                <c:pt idx="33">
                  <c:v>3.5</c:v>
                </c:pt>
                <c:pt idx="34">
                  <c:v>17</c:v>
                </c:pt>
                <c:pt idx="35">
                  <c:v>16.5</c:v>
                </c:pt>
                <c:pt idx="36">
                  <c:v>4</c:v>
                </c:pt>
                <c:pt idx="37">
                  <c:v>28</c:v>
                </c:pt>
                <c:pt idx="38">
                  <c:v>3</c:v>
                </c:pt>
                <c:pt idx="39">
                  <c:v>2.5</c:v>
                </c:pt>
                <c:pt idx="40">
                  <c:v>1.5</c:v>
                </c:pt>
                <c:pt idx="41">
                  <c:v>0.5</c:v>
                </c:pt>
                <c:pt idx="42">
                  <c:v>1.5</c:v>
                </c:pt>
                <c:pt idx="43">
                  <c:v>1</c:v>
                </c:pt>
                <c:pt idx="44">
                  <c:v>0.5</c:v>
                </c:pt>
                <c:pt idx="45">
                  <c:v>0.5</c:v>
                </c:pt>
                <c:pt idx="46">
                  <c:v>1.5</c:v>
                </c:pt>
                <c:pt idx="47">
                  <c:v>3</c:v>
                </c:pt>
                <c:pt idx="48">
                  <c:v>1</c:v>
                </c:pt>
                <c:pt idx="49">
                  <c:v>1</c:v>
                </c:pt>
                <c:pt idx="50">
                  <c:v>0.5</c:v>
                </c:pt>
                <c:pt idx="51">
                  <c:v>2</c:v>
                </c:pt>
                <c:pt idx="52">
                  <c:v>2.5</c:v>
                </c:pt>
                <c:pt idx="53">
                  <c:v>2.5</c:v>
                </c:pt>
                <c:pt idx="54">
                  <c:v>3</c:v>
                </c:pt>
                <c:pt idx="55">
                  <c:v>1.5</c:v>
                </c:pt>
                <c:pt idx="56">
                  <c:v>6.5</c:v>
                </c:pt>
                <c:pt idx="57">
                  <c:v>4.5</c:v>
                </c:pt>
                <c:pt idx="58">
                  <c:v>3.5</c:v>
                </c:pt>
                <c:pt idx="59">
                  <c:v>1</c:v>
                </c:pt>
                <c:pt idx="60">
                  <c:v>0</c:v>
                </c:pt>
                <c:pt idx="61">
                  <c:v>2</c:v>
                </c:pt>
                <c:pt idx="62">
                  <c:v>5</c:v>
                </c:pt>
                <c:pt idx="63">
                  <c:v>9</c:v>
                </c:pt>
                <c:pt idx="64">
                  <c:v>2.5</c:v>
                </c:pt>
                <c:pt idx="65">
                  <c:v>2</c:v>
                </c:pt>
                <c:pt idx="66">
                  <c:v>0</c:v>
                </c:pt>
                <c:pt idx="67">
                  <c:v>1</c:v>
                </c:pt>
                <c:pt idx="68">
                  <c:v>2</c:v>
                </c:pt>
                <c:pt idx="69">
                  <c:v>2</c:v>
                </c:pt>
                <c:pt idx="70">
                  <c:v>0</c:v>
                </c:pt>
                <c:pt idx="71">
                  <c:v>1</c:v>
                </c:pt>
                <c:pt idx="72">
                  <c:v>1</c:v>
                </c:pt>
                <c:pt idx="73">
                  <c:v>1</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0-C021-4ACF-AF7F-6614100C10F4}"/>
            </c:ext>
          </c:extLst>
        </c:ser>
        <c:dLbls>
          <c:showLegendKey val="0"/>
          <c:showVal val="0"/>
          <c:showCatName val="0"/>
          <c:showSerName val="0"/>
          <c:showPercent val="0"/>
          <c:showBubbleSize val="0"/>
        </c:dLbls>
        <c:gapWidth val="20"/>
        <c:axId val="1678720"/>
        <c:axId val="1692800"/>
      </c:barChart>
      <c:lineChart>
        <c:grouping val="standard"/>
        <c:varyColors val="0"/>
        <c:ser>
          <c:idx val="1"/>
          <c:order val="1"/>
          <c:spPr>
            <a:ln w="38100">
              <a:solidFill>
                <a:srgbClr val="00B050"/>
              </a:solidFill>
            </a:ln>
          </c:spPr>
          <c:marker>
            <c:symbol val="none"/>
          </c:marker>
          <c:val>
            <c:numRef>
              <c:f>'2018.7.5-9(7線　棒鋼エリア）'!$D$5:$D$100</c:f>
              <c:numCache>
                <c:formatCode>General</c:formatCode>
                <c:ptCount val="96"/>
                <c:pt idx="0">
                  <c:v>1.5</c:v>
                </c:pt>
                <c:pt idx="1">
                  <c:v>8</c:v>
                </c:pt>
                <c:pt idx="2">
                  <c:v>13</c:v>
                </c:pt>
                <c:pt idx="3">
                  <c:v>19</c:v>
                </c:pt>
                <c:pt idx="4">
                  <c:v>27.5</c:v>
                </c:pt>
                <c:pt idx="5">
                  <c:v>34.5</c:v>
                </c:pt>
                <c:pt idx="6">
                  <c:v>43</c:v>
                </c:pt>
                <c:pt idx="7">
                  <c:v>57.5</c:v>
                </c:pt>
                <c:pt idx="8">
                  <c:v>77.5</c:v>
                </c:pt>
                <c:pt idx="9">
                  <c:v>93</c:v>
                </c:pt>
                <c:pt idx="10">
                  <c:v>102</c:v>
                </c:pt>
                <c:pt idx="11">
                  <c:v>110</c:v>
                </c:pt>
                <c:pt idx="12">
                  <c:v>114</c:v>
                </c:pt>
                <c:pt idx="13">
                  <c:v>120.5</c:v>
                </c:pt>
                <c:pt idx="14">
                  <c:v>122</c:v>
                </c:pt>
                <c:pt idx="15">
                  <c:v>126.5</c:v>
                </c:pt>
                <c:pt idx="16">
                  <c:v>133.5</c:v>
                </c:pt>
                <c:pt idx="17">
                  <c:v>140.5</c:v>
                </c:pt>
                <c:pt idx="18">
                  <c:v>150</c:v>
                </c:pt>
                <c:pt idx="19">
                  <c:v>153.5</c:v>
                </c:pt>
                <c:pt idx="20">
                  <c:v>155.5</c:v>
                </c:pt>
                <c:pt idx="21">
                  <c:v>165.5</c:v>
                </c:pt>
                <c:pt idx="22">
                  <c:v>172</c:v>
                </c:pt>
                <c:pt idx="23">
                  <c:v>178.5</c:v>
                </c:pt>
                <c:pt idx="24">
                  <c:v>190.5</c:v>
                </c:pt>
                <c:pt idx="25">
                  <c:v>196</c:v>
                </c:pt>
                <c:pt idx="26">
                  <c:v>198.5</c:v>
                </c:pt>
                <c:pt idx="27">
                  <c:v>206.5</c:v>
                </c:pt>
                <c:pt idx="28">
                  <c:v>213.5</c:v>
                </c:pt>
                <c:pt idx="29">
                  <c:v>222.5</c:v>
                </c:pt>
                <c:pt idx="30">
                  <c:v>228.5</c:v>
                </c:pt>
                <c:pt idx="31">
                  <c:v>234</c:v>
                </c:pt>
                <c:pt idx="32">
                  <c:v>235.5</c:v>
                </c:pt>
                <c:pt idx="33">
                  <c:v>239</c:v>
                </c:pt>
                <c:pt idx="34">
                  <c:v>256</c:v>
                </c:pt>
                <c:pt idx="35">
                  <c:v>272.5</c:v>
                </c:pt>
                <c:pt idx="36">
                  <c:v>276.5</c:v>
                </c:pt>
                <c:pt idx="37">
                  <c:v>304.5</c:v>
                </c:pt>
                <c:pt idx="38">
                  <c:v>307.5</c:v>
                </c:pt>
                <c:pt idx="39">
                  <c:v>310</c:v>
                </c:pt>
                <c:pt idx="40">
                  <c:v>311.5</c:v>
                </c:pt>
                <c:pt idx="41">
                  <c:v>312</c:v>
                </c:pt>
                <c:pt idx="42">
                  <c:v>313.5</c:v>
                </c:pt>
                <c:pt idx="43">
                  <c:v>314.5</c:v>
                </c:pt>
                <c:pt idx="44">
                  <c:v>315</c:v>
                </c:pt>
                <c:pt idx="45">
                  <c:v>315.5</c:v>
                </c:pt>
                <c:pt idx="46">
                  <c:v>317</c:v>
                </c:pt>
                <c:pt idx="47">
                  <c:v>320</c:v>
                </c:pt>
                <c:pt idx="48">
                  <c:v>321</c:v>
                </c:pt>
                <c:pt idx="49">
                  <c:v>322</c:v>
                </c:pt>
                <c:pt idx="50">
                  <c:v>322.5</c:v>
                </c:pt>
                <c:pt idx="51">
                  <c:v>324.5</c:v>
                </c:pt>
                <c:pt idx="52">
                  <c:v>327</c:v>
                </c:pt>
                <c:pt idx="53">
                  <c:v>329.5</c:v>
                </c:pt>
                <c:pt idx="54">
                  <c:v>332.5</c:v>
                </c:pt>
                <c:pt idx="55">
                  <c:v>334</c:v>
                </c:pt>
                <c:pt idx="56">
                  <c:v>340.5</c:v>
                </c:pt>
                <c:pt idx="57">
                  <c:v>345</c:v>
                </c:pt>
                <c:pt idx="58">
                  <c:v>348.5</c:v>
                </c:pt>
                <c:pt idx="59">
                  <c:v>349.5</c:v>
                </c:pt>
                <c:pt idx="60">
                  <c:v>349.5</c:v>
                </c:pt>
                <c:pt idx="61">
                  <c:v>351.5</c:v>
                </c:pt>
                <c:pt idx="62">
                  <c:v>356.5</c:v>
                </c:pt>
                <c:pt idx="63">
                  <c:v>365.5</c:v>
                </c:pt>
                <c:pt idx="64">
                  <c:v>368</c:v>
                </c:pt>
                <c:pt idx="65">
                  <c:v>370</c:v>
                </c:pt>
                <c:pt idx="66">
                  <c:v>370</c:v>
                </c:pt>
                <c:pt idx="67">
                  <c:v>371</c:v>
                </c:pt>
                <c:pt idx="68">
                  <c:v>373</c:v>
                </c:pt>
                <c:pt idx="69">
                  <c:v>375</c:v>
                </c:pt>
                <c:pt idx="70">
                  <c:v>375</c:v>
                </c:pt>
                <c:pt idx="71">
                  <c:v>376</c:v>
                </c:pt>
                <c:pt idx="72">
                  <c:v>377</c:v>
                </c:pt>
                <c:pt idx="73">
                  <c:v>378</c:v>
                </c:pt>
                <c:pt idx="74">
                  <c:v>379</c:v>
                </c:pt>
                <c:pt idx="75">
                  <c:v>379</c:v>
                </c:pt>
                <c:pt idx="76">
                  <c:v>379</c:v>
                </c:pt>
                <c:pt idx="77">
                  <c:v>379</c:v>
                </c:pt>
                <c:pt idx="78">
                  <c:v>379</c:v>
                </c:pt>
                <c:pt idx="79">
                  <c:v>379</c:v>
                </c:pt>
                <c:pt idx="80">
                  <c:v>379</c:v>
                </c:pt>
                <c:pt idx="81">
                  <c:v>379</c:v>
                </c:pt>
                <c:pt idx="82">
                  <c:v>379</c:v>
                </c:pt>
                <c:pt idx="83">
                  <c:v>379</c:v>
                </c:pt>
                <c:pt idx="84">
                  <c:v>379</c:v>
                </c:pt>
                <c:pt idx="85">
                  <c:v>379</c:v>
                </c:pt>
                <c:pt idx="86">
                  <c:v>379</c:v>
                </c:pt>
                <c:pt idx="87">
                  <c:v>379</c:v>
                </c:pt>
                <c:pt idx="88">
                  <c:v>379</c:v>
                </c:pt>
                <c:pt idx="89">
                  <c:v>379</c:v>
                </c:pt>
                <c:pt idx="90">
                  <c:v>379</c:v>
                </c:pt>
                <c:pt idx="91">
                  <c:v>379</c:v>
                </c:pt>
                <c:pt idx="92">
                  <c:v>379</c:v>
                </c:pt>
                <c:pt idx="93">
                  <c:v>379</c:v>
                </c:pt>
                <c:pt idx="94">
                  <c:v>379</c:v>
                </c:pt>
                <c:pt idx="95">
                  <c:v>379</c:v>
                </c:pt>
              </c:numCache>
            </c:numRef>
          </c:val>
          <c:smooth val="0"/>
          <c:extLst>
            <c:ext xmlns:c16="http://schemas.microsoft.com/office/drawing/2014/chart" uri="{C3380CC4-5D6E-409C-BE32-E72D297353CC}">
              <c16:uniqueId val="{00000001-C021-4ACF-AF7F-6614100C10F4}"/>
            </c:ext>
          </c:extLst>
        </c:ser>
        <c:ser>
          <c:idx val="2"/>
          <c:order val="2"/>
          <c:spPr>
            <a:ln w="34925">
              <a:solidFill>
                <a:srgbClr val="FF0000"/>
              </a:solidFill>
            </a:ln>
          </c:spPr>
          <c:marker>
            <c:symbol val="none"/>
          </c:marker>
          <c:val>
            <c:numRef>
              <c:f>'2018.7.5-9(7線　棒鋼エリア）'!$O$5:$O$100</c:f>
              <c:numCache>
                <c:formatCode>#,##0.0;[Red]\-#,##0.0</c:formatCode>
                <c:ptCount val="96"/>
                <c:pt idx="0">
                  <c:v>0</c:v>
                </c:pt>
                <c:pt idx="1">
                  <c:v>-153.73645154036427</c:v>
                </c:pt>
                <c:pt idx="2">
                  <c:v>-146.88857656847313</c:v>
                </c:pt>
                <c:pt idx="3">
                  <c:v>-137.54677310546435</c:v>
                </c:pt>
                <c:pt idx="4">
                  <c:v>-121.97014841466154</c:v>
                </c:pt>
                <c:pt idx="5">
                  <c:v>-110.13441646053519</c:v>
                </c:pt>
                <c:pt idx="6">
                  <c:v>-94.557791769732404</c:v>
                </c:pt>
                <c:pt idx="7">
                  <c:v>-64.017596132223957</c:v>
                </c:pt>
                <c:pt idx="8">
                  <c:v>-19.760793793568691</c:v>
                </c:pt>
                <c:pt idx="9">
                  <c:v>13.273330335057356</c:v>
                </c:pt>
                <c:pt idx="10">
                  <c:v>30.096919271418951</c:v>
                </c:pt>
                <c:pt idx="11">
                  <c:v>44.426579716662928</c:v>
                </c:pt>
                <c:pt idx="12">
                  <c:v>48.78052619743648</c:v>
                </c:pt>
                <c:pt idx="13">
                  <c:v>59.369293906004053</c:v>
                </c:pt>
                <c:pt idx="14">
                  <c:v>57.488419158983604</c:v>
                </c:pt>
                <c:pt idx="15">
                  <c:v>63.089329885315962</c:v>
                </c:pt>
                <c:pt idx="16">
                  <c:v>74.925061839442336</c:v>
                </c:pt>
                <c:pt idx="17">
                  <c:v>86.760793793568709</c:v>
                </c:pt>
                <c:pt idx="18">
                  <c:v>104.83134697548911</c:v>
                </c:pt>
                <c:pt idx="19">
                  <c:v>107.93832921070384</c:v>
                </c:pt>
                <c:pt idx="20">
                  <c:v>107.30441870924219</c:v>
                </c:pt>
                <c:pt idx="21">
                  <c:v>126.62193613672143</c:v>
                </c:pt>
                <c:pt idx="22">
                  <c:v>137.210703845289</c:v>
                </c:pt>
                <c:pt idx="23">
                  <c:v>147.79947155385656</c:v>
                </c:pt>
                <c:pt idx="24">
                  <c:v>172.10484596357097</c:v>
                </c:pt>
                <c:pt idx="25">
                  <c:v>180.19968518102095</c:v>
                </c:pt>
                <c:pt idx="26">
                  <c:v>180.81273892511808</c:v>
                </c:pt>
                <c:pt idx="27">
                  <c:v>195.14239937036203</c:v>
                </c:pt>
                <c:pt idx="28">
                  <c:v>206.97813132448843</c:v>
                </c:pt>
                <c:pt idx="29">
                  <c:v>223.80172026085</c:v>
                </c:pt>
                <c:pt idx="30">
                  <c:v>233.14352372385875</c:v>
                </c:pt>
                <c:pt idx="31">
                  <c:v>241.23836294130871</c:v>
                </c:pt>
                <c:pt idx="32">
                  <c:v>239.35748819428824</c:v>
                </c:pt>
                <c:pt idx="33">
                  <c:v>242.46447042950297</c:v>
                </c:pt>
                <c:pt idx="34">
                  <c:v>279.23948729480549</c:v>
                </c:pt>
                <c:pt idx="35">
                  <c:v>314.7675399145491</c:v>
                </c:pt>
                <c:pt idx="36">
                  <c:v>319.12148639532268</c:v>
                </c:pt>
                <c:pt idx="37">
                  <c:v>383.32971666291883</c:v>
                </c:pt>
                <c:pt idx="38">
                  <c:v>385.18973465257471</c:v>
                </c:pt>
                <c:pt idx="39">
                  <c:v>385.80278839667193</c:v>
                </c:pt>
                <c:pt idx="40">
                  <c:v>383.92191364965146</c:v>
                </c:pt>
                <c:pt idx="41">
                  <c:v>379.54711041151342</c:v>
                </c:pt>
                <c:pt idx="42">
                  <c:v>377.66623566449294</c:v>
                </c:pt>
                <c:pt idx="43">
                  <c:v>374.53839667191357</c:v>
                </c:pt>
                <c:pt idx="44">
                  <c:v>370.16359343377553</c:v>
                </c:pt>
                <c:pt idx="45">
                  <c:v>365.78879019563749</c:v>
                </c:pt>
                <c:pt idx="46">
                  <c:v>363.90791544861702</c:v>
                </c:pt>
                <c:pt idx="47">
                  <c:v>365.76793343827291</c:v>
                </c:pt>
                <c:pt idx="48">
                  <c:v>362.64009444569359</c:v>
                </c:pt>
                <c:pt idx="49">
                  <c:v>359.51225545311434</c:v>
                </c:pt>
                <c:pt idx="50">
                  <c:v>355.13745221497629</c:v>
                </c:pt>
                <c:pt idx="51">
                  <c:v>354.50354171351461</c:v>
                </c:pt>
                <c:pt idx="52">
                  <c:v>355.11659545761177</c:v>
                </c:pt>
                <c:pt idx="53">
                  <c:v>355.72964920170898</c:v>
                </c:pt>
                <c:pt idx="54">
                  <c:v>357.58966719136487</c:v>
                </c:pt>
                <c:pt idx="55">
                  <c:v>355.7087924443444</c:v>
                </c:pt>
                <c:pt idx="56">
                  <c:v>366.29756015291196</c:v>
                </c:pt>
                <c:pt idx="57">
                  <c:v>371.89847087924431</c:v>
                </c:pt>
                <c:pt idx="58">
                  <c:v>375.0054531144591</c:v>
                </c:pt>
                <c:pt idx="59">
                  <c:v>371.87761412187973</c:v>
                </c:pt>
                <c:pt idx="60">
                  <c:v>366.2558466381829</c:v>
                </c:pt>
                <c:pt idx="61">
                  <c:v>365.62193613672122</c:v>
                </c:pt>
                <c:pt idx="62">
                  <c:v>372.46981110861236</c:v>
                </c:pt>
                <c:pt idx="63">
                  <c:v>389.29340004497391</c:v>
                </c:pt>
                <c:pt idx="64">
                  <c:v>389.90645378907112</c:v>
                </c:pt>
                <c:pt idx="65">
                  <c:v>389.27254328760944</c:v>
                </c:pt>
                <c:pt idx="66">
                  <c:v>383.65077580391261</c:v>
                </c:pt>
                <c:pt idx="67">
                  <c:v>380.5229368113333</c:v>
                </c:pt>
                <c:pt idx="68">
                  <c:v>379.88902630987167</c:v>
                </c:pt>
                <c:pt idx="69">
                  <c:v>379.25511580840998</c:v>
                </c:pt>
                <c:pt idx="70">
                  <c:v>373.6333483247131</c:v>
                </c:pt>
                <c:pt idx="71">
                  <c:v>370.50550933213378</c:v>
                </c:pt>
                <c:pt idx="72">
                  <c:v>367.37767033955447</c:v>
                </c:pt>
                <c:pt idx="73">
                  <c:v>364.24983134697521</c:v>
                </c:pt>
                <c:pt idx="74">
                  <c:v>361.12199235439584</c:v>
                </c:pt>
                <c:pt idx="75">
                  <c:v>355.50022487069901</c:v>
                </c:pt>
                <c:pt idx="76">
                  <c:v>349.87845738700213</c:v>
                </c:pt>
                <c:pt idx="77">
                  <c:v>344.25668990330519</c:v>
                </c:pt>
                <c:pt idx="78">
                  <c:v>338.63492241960836</c:v>
                </c:pt>
                <c:pt idx="79">
                  <c:v>333.01315493591147</c:v>
                </c:pt>
                <c:pt idx="80">
                  <c:v>327.39138745221464</c:v>
                </c:pt>
                <c:pt idx="81">
                  <c:v>321.7696199685177</c:v>
                </c:pt>
                <c:pt idx="82">
                  <c:v>316.14785248482087</c:v>
                </c:pt>
                <c:pt idx="83">
                  <c:v>310.52608500112399</c:v>
                </c:pt>
                <c:pt idx="84">
                  <c:v>304.90431751742716</c:v>
                </c:pt>
                <c:pt idx="85">
                  <c:v>299.28255003373022</c:v>
                </c:pt>
                <c:pt idx="86">
                  <c:v>293.66078255003339</c:v>
                </c:pt>
                <c:pt idx="87">
                  <c:v>288.0390150663365</c:v>
                </c:pt>
                <c:pt idx="88">
                  <c:v>282.41724758263962</c:v>
                </c:pt>
                <c:pt idx="89">
                  <c:v>276.79548009894273</c:v>
                </c:pt>
                <c:pt idx="90">
                  <c:v>271.17371261524585</c:v>
                </c:pt>
                <c:pt idx="91">
                  <c:v>265.55194513154902</c:v>
                </c:pt>
                <c:pt idx="92">
                  <c:v>259.93017764785213</c:v>
                </c:pt>
                <c:pt idx="93">
                  <c:v>254.30841016415522</c:v>
                </c:pt>
                <c:pt idx="94">
                  <c:v>248.68664268045836</c:v>
                </c:pt>
                <c:pt idx="95">
                  <c:v>243.06487519676151</c:v>
                </c:pt>
              </c:numCache>
            </c:numRef>
          </c:val>
          <c:smooth val="0"/>
          <c:extLst>
            <c:ext xmlns:c16="http://schemas.microsoft.com/office/drawing/2014/chart" uri="{C3380CC4-5D6E-409C-BE32-E72D297353CC}">
              <c16:uniqueId val="{00000002-C021-4ACF-AF7F-6614100C10F4}"/>
            </c:ext>
          </c:extLst>
        </c:ser>
        <c:dLbls>
          <c:showLegendKey val="0"/>
          <c:showVal val="0"/>
          <c:showCatName val="0"/>
          <c:showSerName val="0"/>
          <c:showPercent val="0"/>
          <c:showBubbleSize val="0"/>
        </c:dLbls>
        <c:marker val="1"/>
        <c:smooth val="0"/>
        <c:axId val="37491456"/>
        <c:axId val="1694720"/>
      </c:lineChart>
      <c:catAx>
        <c:axId val="1678720"/>
        <c:scaling>
          <c:orientation val="minMax"/>
        </c:scaling>
        <c:delete val="0"/>
        <c:axPos val="b"/>
        <c:numFmt formatCode="General" sourceLinked="1"/>
        <c:majorTickMark val="out"/>
        <c:minorTickMark val="none"/>
        <c:tickLblPos val="nextTo"/>
        <c:crossAx val="1692800"/>
        <c:crosses val="autoZero"/>
        <c:auto val="1"/>
        <c:lblAlgn val="ctr"/>
        <c:lblOffset val="100"/>
        <c:tickLblSkip val="3"/>
        <c:noMultiLvlLbl val="0"/>
      </c:catAx>
      <c:valAx>
        <c:axId val="1692800"/>
        <c:scaling>
          <c:orientation val="minMax"/>
          <c:max val="45"/>
          <c:min val="0"/>
        </c:scaling>
        <c:delete val="0"/>
        <c:axPos val="l"/>
        <c:majorGridlines/>
        <c:title>
          <c:tx>
            <c:rich>
              <a:bodyPr rot="-5400000" vert="horz"/>
              <a:lstStyle/>
              <a:p>
                <a:pPr>
                  <a:defRPr sz="1200"/>
                </a:pPr>
                <a:r>
                  <a:rPr lang="ja-JP" altLang="en-US" sz="1200"/>
                  <a:t>降水量（</a:t>
                </a:r>
                <a:r>
                  <a:rPr lang="en-US" altLang="en-US" sz="1200"/>
                  <a:t>mm/h</a:t>
                </a:r>
                <a:r>
                  <a:rPr lang="ja-JP" altLang="en-US" sz="1200"/>
                  <a:t>）</a:t>
                </a:r>
                <a:endParaRPr lang="en-US" altLang="en-US" sz="1200"/>
              </a:p>
            </c:rich>
          </c:tx>
          <c:overlay val="0"/>
        </c:title>
        <c:numFmt formatCode="General" sourceLinked="1"/>
        <c:majorTickMark val="out"/>
        <c:minorTickMark val="none"/>
        <c:tickLblPos val="nextTo"/>
        <c:crossAx val="1678720"/>
        <c:crosses val="autoZero"/>
        <c:crossBetween val="between"/>
      </c:valAx>
      <c:valAx>
        <c:axId val="1694720"/>
        <c:scaling>
          <c:orientation val="minMax"/>
          <c:max val="400"/>
          <c:min val="0"/>
        </c:scaling>
        <c:delete val="0"/>
        <c:axPos val="r"/>
        <c:numFmt formatCode="General" sourceLinked="1"/>
        <c:majorTickMark val="out"/>
        <c:minorTickMark val="none"/>
        <c:tickLblPos val="nextTo"/>
        <c:crossAx val="37491456"/>
        <c:crosses val="max"/>
        <c:crossBetween val="between"/>
      </c:valAx>
      <c:catAx>
        <c:axId val="37491456"/>
        <c:scaling>
          <c:orientation val="minMax"/>
        </c:scaling>
        <c:delete val="1"/>
        <c:axPos val="b"/>
        <c:majorTickMark val="out"/>
        <c:minorTickMark val="none"/>
        <c:tickLblPos val="nextTo"/>
        <c:crossAx val="1694720"/>
        <c:crosses val="autoZero"/>
        <c:auto val="1"/>
        <c:lblAlgn val="ctr"/>
        <c:lblOffset val="100"/>
        <c:noMultiLvlLbl val="0"/>
      </c:catAx>
      <c:spPr>
        <a:noFill/>
        <a:ln w="25400">
          <a:noFill/>
        </a:ln>
      </c:spPr>
    </c:plotArea>
    <c:plotVisOnly val="1"/>
    <c:dispBlanksAs val="gap"/>
    <c:showDLblsOverMax val="0"/>
  </c:chart>
  <c:txPr>
    <a:bodyPr/>
    <a:lstStyle/>
    <a:p>
      <a:pPr>
        <a:defRPr>
          <a:latin typeface="Meiryo UI" panose="020B0604030504040204" pitchFamily="50" charset="-128"/>
          <a:ea typeface="Meiryo UI" panose="020B0604030504040204" pitchFamily="50" charset="-128"/>
          <a:cs typeface="Meiryo UI" panose="020B0604030504040204" pitchFamily="50" charset="-128"/>
        </a:defRPr>
      </a:pPr>
      <a:endParaRPr lang="ja-JP"/>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792143936433169E-2"/>
          <c:y val="0.12058910515603428"/>
          <c:w val="0.85009119781169107"/>
          <c:h val="0.74343957525059901"/>
        </c:manualLayout>
      </c:layout>
      <c:barChart>
        <c:barDir val="col"/>
        <c:grouping val="clustered"/>
        <c:varyColors val="0"/>
        <c:ser>
          <c:idx val="0"/>
          <c:order val="0"/>
          <c:tx>
            <c:strRef>
              <c:f>'2018.7.5-9(7線　棒鋼エリア）'!$C$2</c:f>
              <c:strCache>
                <c:ptCount val="1"/>
                <c:pt idx="0">
                  <c:v>降雨量</c:v>
                </c:pt>
              </c:strCache>
            </c:strRef>
          </c:tx>
          <c:invertIfNegative val="0"/>
          <c:cat>
            <c:numRef>
              <c:f>'2018.7.5-9(7線　棒鋼エリア）'!$B$5:$B$100</c:f>
              <c:numCache>
                <c:formatCode>General</c:formatCode>
                <c:ptCount val="9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1</c:v>
                </c:pt>
                <c:pt idx="25">
                  <c:v>2</c:v>
                </c:pt>
                <c:pt idx="26">
                  <c:v>3</c:v>
                </c:pt>
                <c:pt idx="27">
                  <c:v>4</c:v>
                </c:pt>
                <c:pt idx="28">
                  <c:v>5</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24</c:v>
                </c:pt>
                <c:pt idx="48">
                  <c:v>1</c:v>
                </c:pt>
                <c:pt idx="49">
                  <c:v>2</c:v>
                </c:pt>
                <c:pt idx="50">
                  <c:v>3</c:v>
                </c:pt>
                <c:pt idx="51">
                  <c:v>4</c:v>
                </c:pt>
                <c:pt idx="52">
                  <c:v>5</c:v>
                </c:pt>
                <c:pt idx="53">
                  <c:v>6</c:v>
                </c:pt>
                <c:pt idx="54">
                  <c:v>7</c:v>
                </c:pt>
                <c:pt idx="55">
                  <c:v>8</c:v>
                </c:pt>
                <c:pt idx="56">
                  <c:v>9</c:v>
                </c:pt>
                <c:pt idx="57">
                  <c:v>10</c:v>
                </c:pt>
                <c:pt idx="58">
                  <c:v>11</c:v>
                </c:pt>
                <c:pt idx="59">
                  <c:v>12</c:v>
                </c:pt>
                <c:pt idx="60">
                  <c:v>13</c:v>
                </c:pt>
                <c:pt idx="61">
                  <c:v>14</c:v>
                </c:pt>
                <c:pt idx="62">
                  <c:v>15</c:v>
                </c:pt>
                <c:pt idx="63">
                  <c:v>16</c:v>
                </c:pt>
                <c:pt idx="64">
                  <c:v>17</c:v>
                </c:pt>
                <c:pt idx="65">
                  <c:v>18</c:v>
                </c:pt>
                <c:pt idx="66">
                  <c:v>19</c:v>
                </c:pt>
                <c:pt idx="67">
                  <c:v>20</c:v>
                </c:pt>
                <c:pt idx="68">
                  <c:v>21</c:v>
                </c:pt>
                <c:pt idx="69">
                  <c:v>22</c:v>
                </c:pt>
                <c:pt idx="70">
                  <c:v>23</c:v>
                </c:pt>
                <c:pt idx="71">
                  <c:v>24</c:v>
                </c:pt>
                <c:pt idx="72">
                  <c:v>1</c:v>
                </c:pt>
                <c:pt idx="73">
                  <c:v>2</c:v>
                </c:pt>
                <c:pt idx="74">
                  <c:v>3</c:v>
                </c:pt>
                <c:pt idx="75">
                  <c:v>4</c:v>
                </c:pt>
                <c:pt idx="76">
                  <c:v>5</c:v>
                </c:pt>
                <c:pt idx="77">
                  <c:v>6</c:v>
                </c:pt>
                <c:pt idx="78">
                  <c:v>7</c:v>
                </c:pt>
                <c:pt idx="79">
                  <c:v>8</c:v>
                </c:pt>
                <c:pt idx="80">
                  <c:v>9</c:v>
                </c:pt>
                <c:pt idx="81">
                  <c:v>10</c:v>
                </c:pt>
                <c:pt idx="82">
                  <c:v>11</c:v>
                </c:pt>
                <c:pt idx="83">
                  <c:v>12</c:v>
                </c:pt>
                <c:pt idx="84">
                  <c:v>13</c:v>
                </c:pt>
                <c:pt idx="85">
                  <c:v>14</c:v>
                </c:pt>
                <c:pt idx="86">
                  <c:v>15</c:v>
                </c:pt>
                <c:pt idx="87">
                  <c:v>16</c:v>
                </c:pt>
                <c:pt idx="88">
                  <c:v>17</c:v>
                </c:pt>
                <c:pt idx="89">
                  <c:v>18</c:v>
                </c:pt>
                <c:pt idx="90">
                  <c:v>19</c:v>
                </c:pt>
                <c:pt idx="91">
                  <c:v>20</c:v>
                </c:pt>
                <c:pt idx="92">
                  <c:v>21</c:v>
                </c:pt>
                <c:pt idx="93">
                  <c:v>22</c:v>
                </c:pt>
                <c:pt idx="94">
                  <c:v>23</c:v>
                </c:pt>
                <c:pt idx="95">
                  <c:v>24</c:v>
                </c:pt>
              </c:numCache>
            </c:numRef>
          </c:cat>
          <c:val>
            <c:numRef>
              <c:f>'2018.7.5-9(7線　棒鋼エリア）'!$C$5:$C$100</c:f>
              <c:numCache>
                <c:formatCode>General</c:formatCode>
                <c:ptCount val="96"/>
                <c:pt idx="0">
                  <c:v>1.5</c:v>
                </c:pt>
                <c:pt idx="1">
                  <c:v>6.5</c:v>
                </c:pt>
                <c:pt idx="2">
                  <c:v>5</c:v>
                </c:pt>
                <c:pt idx="3">
                  <c:v>6</c:v>
                </c:pt>
                <c:pt idx="4">
                  <c:v>8.5</c:v>
                </c:pt>
                <c:pt idx="5">
                  <c:v>7</c:v>
                </c:pt>
                <c:pt idx="6">
                  <c:v>8.5</c:v>
                </c:pt>
                <c:pt idx="7">
                  <c:v>14.5</c:v>
                </c:pt>
                <c:pt idx="8">
                  <c:v>20</c:v>
                </c:pt>
                <c:pt idx="9">
                  <c:v>15.5</c:v>
                </c:pt>
                <c:pt idx="10">
                  <c:v>9</c:v>
                </c:pt>
                <c:pt idx="11">
                  <c:v>8</c:v>
                </c:pt>
                <c:pt idx="12">
                  <c:v>4</c:v>
                </c:pt>
                <c:pt idx="13">
                  <c:v>6.5</c:v>
                </c:pt>
                <c:pt idx="14">
                  <c:v>1.5</c:v>
                </c:pt>
                <c:pt idx="15">
                  <c:v>4.5</c:v>
                </c:pt>
                <c:pt idx="16">
                  <c:v>7</c:v>
                </c:pt>
                <c:pt idx="17">
                  <c:v>7</c:v>
                </c:pt>
                <c:pt idx="18">
                  <c:v>9.5</c:v>
                </c:pt>
                <c:pt idx="19">
                  <c:v>3.5</c:v>
                </c:pt>
                <c:pt idx="20">
                  <c:v>2</c:v>
                </c:pt>
                <c:pt idx="21">
                  <c:v>10</c:v>
                </c:pt>
                <c:pt idx="22">
                  <c:v>6.5</c:v>
                </c:pt>
                <c:pt idx="23">
                  <c:v>6.5</c:v>
                </c:pt>
                <c:pt idx="24">
                  <c:v>12</c:v>
                </c:pt>
                <c:pt idx="25">
                  <c:v>5.5</c:v>
                </c:pt>
                <c:pt idx="26">
                  <c:v>2.5</c:v>
                </c:pt>
                <c:pt idx="27">
                  <c:v>8</c:v>
                </c:pt>
                <c:pt idx="28">
                  <c:v>7</c:v>
                </c:pt>
                <c:pt idx="29">
                  <c:v>9</c:v>
                </c:pt>
                <c:pt idx="30">
                  <c:v>6</c:v>
                </c:pt>
                <c:pt idx="31">
                  <c:v>5.5</c:v>
                </c:pt>
                <c:pt idx="32">
                  <c:v>1.5</c:v>
                </c:pt>
                <c:pt idx="33">
                  <c:v>3.5</c:v>
                </c:pt>
                <c:pt idx="34">
                  <c:v>17</c:v>
                </c:pt>
                <c:pt idx="35">
                  <c:v>16.5</c:v>
                </c:pt>
                <c:pt idx="36">
                  <c:v>4</c:v>
                </c:pt>
                <c:pt idx="37">
                  <c:v>28</c:v>
                </c:pt>
                <c:pt idx="38">
                  <c:v>3</c:v>
                </c:pt>
                <c:pt idx="39">
                  <c:v>2.5</c:v>
                </c:pt>
                <c:pt idx="40">
                  <c:v>1.5</c:v>
                </c:pt>
                <c:pt idx="41">
                  <c:v>0.5</c:v>
                </c:pt>
                <c:pt idx="42">
                  <c:v>1.5</c:v>
                </c:pt>
                <c:pt idx="43">
                  <c:v>1</c:v>
                </c:pt>
                <c:pt idx="44">
                  <c:v>0.5</c:v>
                </c:pt>
                <c:pt idx="45">
                  <c:v>0.5</c:v>
                </c:pt>
                <c:pt idx="46">
                  <c:v>1.5</c:v>
                </c:pt>
                <c:pt idx="47">
                  <c:v>3</c:v>
                </c:pt>
                <c:pt idx="48">
                  <c:v>1</c:v>
                </c:pt>
                <c:pt idx="49">
                  <c:v>1</c:v>
                </c:pt>
                <c:pt idx="50">
                  <c:v>0.5</c:v>
                </c:pt>
                <c:pt idx="51">
                  <c:v>2</c:v>
                </c:pt>
                <c:pt idx="52">
                  <c:v>2.5</c:v>
                </c:pt>
                <c:pt idx="53">
                  <c:v>2.5</c:v>
                </c:pt>
                <c:pt idx="54">
                  <c:v>3</c:v>
                </c:pt>
                <c:pt idx="55">
                  <c:v>1.5</c:v>
                </c:pt>
                <c:pt idx="56">
                  <c:v>6.5</c:v>
                </c:pt>
                <c:pt idx="57">
                  <c:v>4.5</c:v>
                </c:pt>
                <c:pt idx="58">
                  <c:v>3.5</c:v>
                </c:pt>
                <c:pt idx="59">
                  <c:v>1</c:v>
                </c:pt>
                <c:pt idx="60">
                  <c:v>0</c:v>
                </c:pt>
                <c:pt idx="61">
                  <c:v>2</c:v>
                </c:pt>
                <c:pt idx="62">
                  <c:v>5</c:v>
                </c:pt>
                <c:pt idx="63">
                  <c:v>9</c:v>
                </c:pt>
                <c:pt idx="64">
                  <c:v>2.5</c:v>
                </c:pt>
                <c:pt idx="65">
                  <c:v>2</c:v>
                </c:pt>
                <c:pt idx="66">
                  <c:v>0</c:v>
                </c:pt>
                <c:pt idx="67">
                  <c:v>1</c:v>
                </c:pt>
                <c:pt idx="68">
                  <c:v>2</c:v>
                </c:pt>
                <c:pt idx="69">
                  <c:v>2</c:v>
                </c:pt>
                <c:pt idx="70">
                  <c:v>0</c:v>
                </c:pt>
                <c:pt idx="71">
                  <c:v>1</c:v>
                </c:pt>
                <c:pt idx="72">
                  <c:v>1</c:v>
                </c:pt>
                <c:pt idx="73">
                  <c:v>1</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0-6537-464F-AB72-62D9BD4BE160}"/>
            </c:ext>
          </c:extLst>
        </c:ser>
        <c:dLbls>
          <c:showLegendKey val="0"/>
          <c:showVal val="0"/>
          <c:showCatName val="0"/>
          <c:showSerName val="0"/>
          <c:showPercent val="0"/>
          <c:showBubbleSize val="0"/>
        </c:dLbls>
        <c:gapWidth val="20"/>
        <c:axId val="204863744"/>
        <c:axId val="245542912"/>
      </c:barChart>
      <c:lineChart>
        <c:grouping val="standard"/>
        <c:varyColors val="0"/>
        <c:ser>
          <c:idx val="1"/>
          <c:order val="1"/>
          <c:spPr>
            <a:ln>
              <a:solidFill>
                <a:srgbClr val="00B050"/>
              </a:solidFill>
            </a:ln>
          </c:spPr>
          <c:marker>
            <c:symbol val="none"/>
          </c:marker>
          <c:dLbls>
            <c:dLbl>
              <c:idx val="71"/>
              <c:layout>
                <c:manualLayout>
                  <c:x val="2.0406210248879619E-2"/>
                  <c:y val="-5.3025352304725056E-2"/>
                </c:manualLayout>
              </c:layout>
              <c:tx>
                <c:rich>
                  <a:bodyPr/>
                  <a:lstStyle/>
                  <a:p>
                    <a:pPr>
                      <a:defRPr sz="1200" b="1">
                        <a:solidFill>
                          <a:srgbClr val="00B050"/>
                        </a:solidFill>
                      </a:defRPr>
                    </a:pPr>
                    <a:r>
                      <a:rPr lang="zh-TW" altLang="en-US" sz="1200" b="1" dirty="0">
                        <a:solidFill>
                          <a:srgbClr val="00B050"/>
                        </a:solidFill>
                      </a:rPr>
                      <a:t>降雨累積</a:t>
                    </a:r>
                    <a:r>
                      <a:rPr lang="en-US" altLang="zh-TW" sz="1200" b="1" dirty="0">
                        <a:solidFill>
                          <a:srgbClr val="00B050"/>
                        </a:solidFill>
                      </a:rPr>
                      <a:t>379</a:t>
                    </a:r>
                    <a:r>
                      <a:rPr lang="zh-TW" altLang="en-US" sz="1200" b="1" dirty="0">
                        <a:solidFill>
                          <a:srgbClr val="00B050"/>
                        </a:solidFill>
                      </a:rPr>
                      <a:t>ｍｍ</a:t>
                    </a:r>
                  </a:p>
                </c:rich>
              </c:tx>
              <c:sp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7-464F-AB72-62D9BD4BE16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'2018.7.5-9(7線　棒鋼エリア）'!$D$5:$D$100</c:f>
              <c:numCache>
                <c:formatCode>General</c:formatCode>
                <c:ptCount val="96"/>
                <c:pt idx="0">
                  <c:v>1.5</c:v>
                </c:pt>
                <c:pt idx="1">
                  <c:v>8</c:v>
                </c:pt>
                <c:pt idx="2">
                  <c:v>13</c:v>
                </c:pt>
                <c:pt idx="3">
                  <c:v>19</c:v>
                </c:pt>
                <c:pt idx="4">
                  <c:v>27.5</c:v>
                </c:pt>
                <c:pt idx="5">
                  <c:v>34.5</c:v>
                </c:pt>
                <c:pt idx="6">
                  <c:v>43</c:v>
                </c:pt>
                <c:pt idx="7">
                  <c:v>57.5</c:v>
                </c:pt>
                <c:pt idx="8">
                  <c:v>77.5</c:v>
                </c:pt>
                <c:pt idx="9">
                  <c:v>93</c:v>
                </c:pt>
                <c:pt idx="10">
                  <c:v>102</c:v>
                </c:pt>
                <c:pt idx="11">
                  <c:v>110</c:v>
                </c:pt>
                <c:pt idx="12">
                  <c:v>114</c:v>
                </c:pt>
                <c:pt idx="13">
                  <c:v>120.5</c:v>
                </c:pt>
                <c:pt idx="14">
                  <c:v>122</c:v>
                </c:pt>
                <c:pt idx="15">
                  <c:v>126.5</c:v>
                </c:pt>
                <c:pt idx="16">
                  <c:v>133.5</c:v>
                </c:pt>
                <c:pt idx="17">
                  <c:v>140.5</c:v>
                </c:pt>
                <c:pt idx="18">
                  <c:v>150</c:v>
                </c:pt>
                <c:pt idx="19">
                  <c:v>153.5</c:v>
                </c:pt>
                <c:pt idx="20">
                  <c:v>155.5</c:v>
                </c:pt>
                <c:pt idx="21">
                  <c:v>165.5</c:v>
                </c:pt>
                <c:pt idx="22">
                  <c:v>172</c:v>
                </c:pt>
                <c:pt idx="23">
                  <c:v>178.5</c:v>
                </c:pt>
                <c:pt idx="24">
                  <c:v>190.5</c:v>
                </c:pt>
                <c:pt idx="25">
                  <c:v>196</c:v>
                </c:pt>
                <c:pt idx="26">
                  <c:v>198.5</c:v>
                </c:pt>
                <c:pt idx="27">
                  <c:v>206.5</c:v>
                </c:pt>
                <c:pt idx="28">
                  <c:v>213.5</c:v>
                </c:pt>
                <c:pt idx="29">
                  <c:v>222.5</c:v>
                </c:pt>
                <c:pt idx="30">
                  <c:v>228.5</c:v>
                </c:pt>
                <c:pt idx="31">
                  <c:v>234</c:v>
                </c:pt>
                <c:pt idx="32">
                  <c:v>235.5</c:v>
                </c:pt>
                <c:pt idx="33">
                  <c:v>239</c:v>
                </c:pt>
                <c:pt idx="34">
                  <c:v>256</c:v>
                </c:pt>
                <c:pt idx="35">
                  <c:v>272.5</c:v>
                </c:pt>
                <c:pt idx="36">
                  <c:v>276.5</c:v>
                </c:pt>
                <c:pt idx="37">
                  <c:v>304.5</c:v>
                </c:pt>
                <c:pt idx="38">
                  <c:v>307.5</c:v>
                </c:pt>
                <c:pt idx="39">
                  <c:v>310</c:v>
                </c:pt>
                <c:pt idx="40">
                  <c:v>311.5</c:v>
                </c:pt>
                <c:pt idx="41">
                  <c:v>312</c:v>
                </c:pt>
                <c:pt idx="42">
                  <c:v>313.5</c:v>
                </c:pt>
                <c:pt idx="43">
                  <c:v>314.5</c:v>
                </c:pt>
                <c:pt idx="44">
                  <c:v>315</c:v>
                </c:pt>
                <c:pt idx="45">
                  <c:v>315.5</c:v>
                </c:pt>
                <c:pt idx="46">
                  <c:v>317</c:v>
                </c:pt>
                <c:pt idx="47">
                  <c:v>320</c:v>
                </c:pt>
                <c:pt idx="48">
                  <c:v>321</c:v>
                </c:pt>
                <c:pt idx="49">
                  <c:v>322</c:v>
                </c:pt>
                <c:pt idx="50">
                  <c:v>322.5</c:v>
                </c:pt>
                <c:pt idx="51">
                  <c:v>324.5</c:v>
                </c:pt>
                <c:pt idx="52">
                  <c:v>327</c:v>
                </c:pt>
                <c:pt idx="53">
                  <c:v>329.5</c:v>
                </c:pt>
                <c:pt idx="54">
                  <c:v>332.5</c:v>
                </c:pt>
                <c:pt idx="55">
                  <c:v>334</c:v>
                </c:pt>
                <c:pt idx="56">
                  <c:v>340.5</c:v>
                </c:pt>
                <c:pt idx="57">
                  <c:v>345</c:v>
                </c:pt>
                <c:pt idx="58">
                  <c:v>348.5</c:v>
                </c:pt>
                <c:pt idx="59">
                  <c:v>349.5</c:v>
                </c:pt>
                <c:pt idx="60">
                  <c:v>349.5</c:v>
                </c:pt>
                <c:pt idx="61">
                  <c:v>351.5</c:v>
                </c:pt>
                <c:pt idx="62">
                  <c:v>356.5</c:v>
                </c:pt>
                <c:pt idx="63">
                  <c:v>365.5</c:v>
                </c:pt>
                <c:pt idx="64">
                  <c:v>368</c:v>
                </c:pt>
                <c:pt idx="65">
                  <c:v>370</c:v>
                </c:pt>
                <c:pt idx="66">
                  <c:v>370</c:v>
                </c:pt>
                <c:pt idx="67">
                  <c:v>371</c:v>
                </c:pt>
                <c:pt idx="68">
                  <c:v>373</c:v>
                </c:pt>
                <c:pt idx="69">
                  <c:v>375</c:v>
                </c:pt>
                <c:pt idx="70">
                  <c:v>375</c:v>
                </c:pt>
                <c:pt idx="71">
                  <c:v>376</c:v>
                </c:pt>
                <c:pt idx="72">
                  <c:v>377</c:v>
                </c:pt>
                <c:pt idx="73">
                  <c:v>378</c:v>
                </c:pt>
                <c:pt idx="74">
                  <c:v>379</c:v>
                </c:pt>
                <c:pt idx="75">
                  <c:v>379</c:v>
                </c:pt>
                <c:pt idx="76">
                  <c:v>379</c:v>
                </c:pt>
                <c:pt idx="77">
                  <c:v>379</c:v>
                </c:pt>
                <c:pt idx="78">
                  <c:v>379</c:v>
                </c:pt>
                <c:pt idx="79">
                  <c:v>379</c:v>
                </c:pt>
                <c:pt idx="80">
                  <c:v>379</c:v>
                </c:pt>
                <c:pt idx="81">
                  <c:v>379</c:v>
                </c:pt>
                <c:pt idx="82">
                  <c:v>379</c:v>
                </c:pt>
                <c:pt idx="83">
                  <c:v>379</c:v>
                </c:pt>
                <c:pt idx="84">
                  <c:v>379</c:v>
                </c:pt>
                <c:pt idx="85">
                  <c:v>379</c:v>
                </c:pt>
                <c:pt idx="86">
                  <c:v>379</c:v>
                </c:pt>
                <c:pt idx="87">
                  <c:v>379</c:v>
                </c:pt>
                <c:pt idx="88">
                  <c:v>379</c:v>
                </c:pt>
                <c:pt idx="89">
                  <c:v>379</c:v>
                </c:pt>
                <c:pt idx="90">
                  <c:v>379</c:v>
                </c:pt>
                <c:pt idx="91">
                  <c:v>379</c:v>
                </c:pt>
                <c:pt idx="92">
                  <c:v>379</c:v>
                </c:pt>
                <c:pt idx="93">
                  <c:v>379</c:v>
                </c:pt>
                <c:pt idx="94">
                  <c:v>379</c:v>
                </c:pt>
                <c:pt idx="95">
                  <c:v>379</c:v>
                </c:pt>
              </c:numCache>
            </c:numRef>
          </c:val>
          <c:smooth val="0"/>
          <c:extLst>
            <c:ext xmlns:c16="http://schemas.microsoft.com/office/drawing/2014/chart" uri="{C3380CC4-5D6E-409C-BE32-E72D297353CC}">
              <c16:uniqueId val="{00000002-6537-464F-AB72-62D9BD4BE160}"/>
            </c:ext>
          </c:extLst>
        </c:ser>
        <c:ser>
          <c:idx val="2"/>
          <c:order val="2"/>
          <c:spPr>
            <a:ln w="50800">
              <a:solidFill>
                <a:srgbClr val="FF0000"/>
              </a:solidFill>
            </a:ln>
          </c:spPr>
          <c:marker>
            <c:symbol val="none"/>
          </c:marker>
          <c:val>
            <c:numRef>
              <c:f>'2018.7.5-9(7線　棒鋼エリア）'!$O$5:$O$100</c:f>
              <c:numCache>
                <c:formatCode>#,##0.0;[Red]\-#,##0.0</c:formatCode>
                <c:ptCount val="96"/>
                <c:pt idx="0">
                  <c:v>0</c:v>
                </c:pt>
                <c:pt idx="1">
                  <c:v>-153.73645154036427</c:v>
                </c:pt>
                <c:pt idx="2">
                  <c:v>-146.88857656847313</c:v>
                </c:pt>
                <c:pt idx="3">
                  <c:v>-137.54677310546435</c:v>
                </c:pt>
                <c:pt idx="4">
                  <c:v>-121.97014841466154</c:v>
                </c:pt>
                <c:pt idx="5">
                  <c:v>-110.13441646053519</c:v>
                </c:pt>
                <c:pt idx="6">
                  <c:v>-94.557791769732404</c:v>
                </c:pt>
                <c:pt idx="7">
                  <c:v>-64.017596132223957</c:v>
                </c:pt>
                <c:pt idx="8">
                  <c:v>-19.760793793568691</c:v>
                </c:pt>
                <c:pt idx="9">
                  <c:v>13.273330335057356</c:v>
                </c:pt>
                <c:pt idx="10">
                  <c:v>30.096919271418951</c:v>
                </c:pt>
                <c:pt idx="11">
                  <c:v>44.426579716662928</c:v>
                </c:pt>
                <c:pt idx="12">
                  <c:v>48.78052619743648</c:v>
                </c:pt>
                <c:pt idx="13">
                  <c:v>59.369293906004053</c:v>
                </c:pt>
                <c:pt idx="14">
                  <c:v>57.488419158983604</c:v>
                </c:pt>
                <c:pt idx="15">
                  <c:v>63.089329885315962</c:v>
                </c:pt>
                <c:pt idx="16">
                  <c:v>74.925061839442336</c:v>
                </c:pt>
                <c:pt idx="17">
                  <c:v>86.760793793568709</c:v>
                </c:pt>
                <c:pt idx="18">
                  <c:v>104.83134697548911</c:v>
                </c:pt>
                <c:pt idx="19">
                  <c:v>107.93832921070384</c:v>
                </c:pt>
                <c:pt idx="20">
                  <c:v>107.30441870924219</c:v>
                </c:pt>
                <c:pt idx="21">
                  <c:v>126.62193613672143</c:v>
                </c:pt>
                <c:pt idx="22">
                  <c:v>137.210703845289</c:v>
                </c:pt>
                <c:pt idx="23">
                  <c:v>147.79947155385656</c:v>
                </c:pt>
                <c:pt idx="24">
                  <c:v>172.10484596357097</c:v>
                </c:pt>
                <c:pt idx="25">
                  <c:v>180.19968518102095</c:v>
                </c:pt>
                <c:pt idx="26">
                  <c:v>180.81273892511808</c:v>
                </c:pt>
                <c:pt idx="27">
                  <c:v>195.14239937036203</c:v>
                </c:pt>
                <c:pt idx="28">
                  <c:v>206.97813132448843</c:v>
                </c:pt>
                <c:pt idx="29">
                  <c:v>223.80172026085</c:v>
                </c:pt>
                <c:pt idx="30">
                  <c:v>233.14352372385875</c:v>
                </c:pt>
                <c:pt idx="31">
                  <c:v>241.23836294130871</c:v>
                </c:pt>
                <c:pt idx="32">
                  <c:v>239.35748819428824</c:v>
                </c:pt>
                <c:pt idx="33">
                  <c:v>242.46447042950297</c:v>
                </c:pt>
                <c:pt idx="34">
                  <c:v>279.23948729480549</c:v>
                </c:pt>
                <c:pt idx="35">
                  <c:v>314.7675399145491</c:v>
                </c:pt>
                <c:pt idx="36">
                  <c:v>319.12148639532268</c:v>
                </c:pt>
                <c:pt idx="37">
                  <c:v>383.32971666291883</c:v>
                </c:pt>
                <c:pt idx="38">
                  <c:v>385.18973465257471</c:v>
                </c:pt>
                <c:pt idx="39">
                  <c:v>385.80278839667193</c:v>
                </c:pt>
                <c:pt idx="40">
                  <c:v>383.92191364965146</c:v>
                </c:pt>
                <c:pt idx="41">
                  <c:v>379.54711041151342</c:v>
                </c:pt>
                <c:pt idx="42">
                  <c:v>377.66623566449294</c:v>
                </c:pt>
                <c:pt idx="43">
                  <c:v>374.53839667191357</c:v>
                </c:pt>
                <c:pt idx="44">
                  <c:v>370.16359343377553</c:v>
                </c:pt>
                <c:pt idx="45">
                  <c:v>365.78879019563749</c:v>
                </c:pt>
                <c:pt idx="46">
                  <c:v>363.90791544861702</c:v>
                </c:pt>
                <c:pt idx="47">
                  <c:v>365.76793343827291</c:v>
                </c:pt>
                <c:pt idx="48">
                  <c:v>362.64009444569359</c:v>
                </c:pt>
                <c:pt idx="49">
                  <c:v>359.51225545311434</c:v>
                </c:pt>
                <c:pt idx="50">
                  <c:v>355.13745221497629</c:v>
                </c:pt>
                <c:pt idx="51">
                  <c:v>354.50354171351461</c:v>
                </c:pt>
                <c:pt idx="52">
                  <c:v>355.11659545761177</c:v>
                </c:pt>
                <c:pt idx="53">
                  <c:v>355.72964920170898</c:v>
                </c:pt>
                <c:pt idx="54">
                  <c:v>357.58966719136487</c:v>
                </c:pt>
                <c:pt idx="55">
                  <c:v>355.7087924443444</c:v>
                </c:pt>
                <c:pt idx="56">
                  <c:v>366.29756015291196</c:v>
                </c:pt>
                <c:pt idx="57">
                  <c:v>371.89847087924431</c:v>
                </c:pt>
                <c:pt idx="58">
                  <c:v>375.0054531144591</c:v>
                </c:pt>
                <c:pt idx="59">
                  <c:v>371.87761412187973</c:v>
                </c:pt>
                <c:pt idx="60">
                  <c:v>366.2558466381829</c:v>
                </c:pt>
                <c:pt idx="61">
                  <c:v>365.62193613672122</c:v>
                </c:pt>
                <c:pt idx="62">
                  <c:v>372.46981110861236</c:v>
                </c:pt>
                <c:pt idx="63">
                  <c:v>389.29340004497391</c:v>
                </c:pt>
                <c:pt idx="64">
                  <c:v>389.90645378907112</c:v>
                </c:pt>
                <c:pt idx="65">
                  <c:v>389.27254328760944</c:v>
                </c:pt>
                <c:pt idx="66">
                  <c:v>383.65077580391261</c:v>
                </c:pt>
                <c:pt idx="67">
                  <c:v>380.5229368113333</c:v>
                </c:pt>
                <c:pt idx="68">
                  <c:v>379.88902630987167</c:v>
                </c:pt>
                <c:pt idx="69">
                  <c:v>379.25511580840998</c:v>
                </c:pt>
                <c:pt idx="70">
                  <c:v>373.6333483247131</c:v>
                </c:pt>
                <c:pt idx="71">
                  <c:v>370.50550933213378</c:v>
                </c:pt>
                <c:pt idx="72">
                  <c:v>367.37767033955447</c:v>
                </c:pt>
                <c:pt idx="73">
                  <c:v>364.24983134697521</c:v>
                </c:pt>
                <c:pt idx="74">
                  <c:v>361.12199235439584</c:v>
                </c:pt>
                <c:pt idx="75">
                  <c:v>355.50022487069901</c:v>
                </c:pt>
                <c:pt idx="76">
                  <c:v>349.87845738700213</c:v>
                </c:pt>
                <c:pt idx="77">
                  <c:v>344.25668990330519</c:v>
                </c:pt>
                <c:pt idx="78">
                  <c:v>338.63492241960836</c:v>
                </c:pt>
                <c:pt idx="79">
                  <c:v>333.01315493591147</c:v>
                </c:pt>
                <c:pt idx="80">
                  <c:v>327.39138745221464</c:v>
                </c:pt>
                <c:pt idx="81">
                  <c:v>321.7696199685177</c:v>
                </c:pt>
                <c:pt idx="82">
                  <c:v>316.14785248482087</c:v>
                </c:pt>
                <c:pt idx="83">
                  <c:v>310.52608500112399</c:v>
                </c:pt>
                <c:pt idx="84">
                  <c:v>304.90431751742716</c:v>
                </c:pt>
                <c:pt idx="85">
                  <c:v>299.28255003373022</c:v>
                </c:pt>
                <c:pt idx="86">
                  <c:v>293.66078255003339</c:v>
                </c:pt>
                <c:pt idx="87">
                  <c:v>288.0390150663365</c:v>
                </c:pt>
                <c:pt idx="88">
                  <c:v>282.41724758263962</c:v>
                </c:pt>
                <c:pt idx="89">
                  <c:v>276.79548009894273</c:v>
                </c:pt>
                <c:pt idx="90">
                  <c:v>271.17371261524585</c:v>
                </c:pt>
                <c:pt idx="91">
                  <c:v>265.55194513154902</c:v>
                </c:pt>
                <c:pt idx="92">
                  <c:v>259.93017764785213</c:v>
                </c:pt>
                <c:pt idx="93">
                  <c:v>254.30841016415522</c:v>
                </c:pt>
                <c:pt idx="94">
                  <c:v>248.68664268045836</c:v>
                </c:pt>
                <c:pt idx="95">
                  <c:v>243.06487519676151</c:v>
                </c:pt>
              </c:numCache>
            </c:numRef>
          </c:val>
          <c:smooth val="0"/>
          <c:extLst>
            <c:ext xmlns:c16="http://schemas.microsoft.com/office/drawing/2014/chart" uri="{C3380CC4-5D6E-409C-BE32-E72D297353CC}">
              <c16:uniqueId val="{00000003-6537-464F-AB72-62D9BD4BE160}"/>
            </c:ext>
          </c:extLst>
        </c:ser>
        <c:ser>
          <c:idx val="3"/>
          <c:order val="3"/>
          <c:spPr>
            <a:ln w="88900">
              <a:solidFill>
                <a:srgbClr val="7030A0"/>
              </a:solidFill>
              <a:prstDash val="solid"/>
            </a:ln>
          </c:spPr>
          <c:marker>
            <c:symbol val="none"/>
          </c:marker>
          <c:val>
            <c:numRef>
              <c:f>'2018.7.5-9(7線　棒鋼エリア）'!$P$5:$P$100</c:f>
              <c:numCache>
                <c:formatCode>#,##0.0;[Red]\-#,##0.0</c:formatCode>
                <c:ptCount val="96"/>
                <c:pt idx="0">
                  <c:v>0</c:v>
                </c:pt>
                <c:pt idx="1">
                  <c:v>-160.06093995952324</c:v>
                </c:pt>
                <c:pt idx="2">
                  <c:v>-159.53755340679106</c:v>
                </c:pt>
                <c:pt idx="3">
                  <c:v>-156.52023836294129</c:v>
                </c:pt>
                <c:pt idx="4">
                  <c:v>-147.26810209129749</c:v>
                </c:pt>
                <c:pt idx="5">
                  <c:v>-141.75685855633012</c:v>
                </c:pt>
                <c:pt idx="6">
                  <c:v>-132.5047222846863</c:v>
                </c:pt>
                <c:pt idx="7">
                  <c:v>-108.28901506633686</c:v>
                </c:pt>
                <c:pt idx="8">
                  <c:v>-70.356701146840564</c:v>
                </c:pt>
                <c:pt idx="9">
                  <c:v>-43.647065437373499</c:v>
                </c:pt>
                <c:pt idx="10">
                  <c:v>-33.147964920170885</c:v>
                </c:pt>
                <c:pt idx="11">
                  <c:v>-25.14279289408589</c:v>
                </c:pt>
                <c:pt idx="12">
                  <c:v>-27.113334832471324</c:v>
                </c:pt>
                <c:pt idx="13">
                  <c:v>-22.849055543062729</c:v>
                </c:pt>
                <c:pt idx="14">
                  <c:v>-31.054418709242171</c:v>
                </c:pt>
                <c:pt idx="15">
                  <c:v>-31.777996402068798</c:v>
                </c:pt>
                <c:pt idx="16">
                  <c:v>-26.266752867101403</c:v>
                </c:pt>
                <c:pt idx="17">
                  <c:v>-20.755509332134004</c:v>
                </c:pt>
                <c:pt idx="18">
                  <c:v>-9.0094445693725973</c:v>
                </c:pt>
                <c:pt idx="19">
                  <c:v>-12.22695075331684</c:v>
                </c:pt>
                <c:pt idx="20">
                  <c:v>-19.185349673937473</c:v>
                </c:pt>
                <c:pt idx="21">
                  <c:v>-6.1923206656172383</c:v>
                </c:pt>
                <c:pt idx="22">
                  <c:v>-1.9280413762086444</c:v>
                </c:pt>
                <c:pt idx="23">
                  <c:v>2.3362379131999496</c:v>
                </c:pt>
                <c:pt idx="24">
                  <c:v>20.317123903755384</c:v>
                </c:pt>
                <c:pt idx="25">
                  <c:v>22.087474702046364</c:v>
                </c:pt>
                <c:pt idx="26">
                  <c:v>16.376040026984509</c:v>
                </c:pt>
                <c:pt idx="27">
                  <c:v>24.381212053069497</c:v>
                </c:pt>
                <c:pt idx="28">
                  <c:v>29.892455588036871</c:v>
                </c:pt>
                <c:pt idx="29">
                  <c:v>40.391556105239474</c:v>
                </c:pt>
                <c:pt idx="30">
                  <c:v>43.408871149089229</c:v>
                </c:pt>
                <c:pt idx="31">
                  <c:v>45.179221947380213</c:v>
                </c:pt>
                <c:pt idx="32">
                  <c:v>36.973858781200747</c:v>
                </c:pt>
                <c:pt idx="33">
                  <c:v>33.756352597256502</c:v>
                </c:pt>
                <c:pt idx="34">
                  <c:v>64.206881043400003</c:v>
                </c:pt>
                <c:pt idx="35">
                  <c:v>93.410445243984654</c:v>
                </c:pt>
                <c:pt idx="36">
                  <c:v>91.439903305599245</c:v>
                </c:pt>
                <c:pt idx="37">
                  <c:v>149.32364515403643</c:v>
                </c:pt>
                <c:pt idx="38">
                  <c:v>144.85917472453335</c:v>
                </c:pt>
                <c:pt idx="39">
                  <c:v>139.14774004947157</c:v>
                </c:pt>
                <c:pt idx="40">
                  <c:v>130.94237688329207</c:v>
                </c:pt>
                <c:pt idx="41">
                  <c:v>120.24308522599506</c:v>
                </c:pt>
                <c:pt idx="42">
                  <c:v>112.03772205981559</c:v>
                </c:pt>
                <c:pt idx="43">
                  <c:v>102.5853946480773</c:v>
                </c:pt>
                <c:pt idx="44">
                  <c:v>91.886102990780259</c:v>
                </c:pt>
                <c:pt idx="45">
                  <c:v>81.186811333483234</c:v>
                </c:pt>
                <c:pt idx="46">
                  <c:v>72.981448167303768</c:v>
                </c:pt>
                <c:pt idx="47">
                  <c:v>68.516977737800701</c:v>
                </c:pt>
                <c:pt idx="48">
                  <c:v>59.064650326062406</c:v>
                </c:pt>
                <c:pt idx="49">
                  <c:v>49.612322914324103</c:v>
                </c:pt>
                <c:pt idx="50">
                  <c:v>38.913031257027079</c:v>
                </c:pt>
                <c:pt idx="51">
                  <c:v>31.954632336406441</c:v>
                </c:pt>
                <c:pt idx="52">
                  <c:v>26.243197661344642</c:v>
                </c:pt>
                <c:pt idx="53">
                  <c:v>20.531762986282839</c:v>
                </c:pt>
                <c:pt idx="54">
                  <c:v>16.067292556779766</c:v>
                </c:pt>
                <c:pt idx="55">
                  <c:v>7.8619293906003005</c:v>
                </c:pt>
                <c:pt idx="56">
                  <c:v>12.126208680008842</c:v>
                </c:pt>
                <c:pt idx="57">
                  <c:v>11.402630987182263</c:v>
                </c:pt>
                <c:pt idx="58">
                  <c:v>8.1851248032380219</c:v>
                </c:pt>
                <c:pt idx="59">
                  <c:v>-1.2672026085002752</c:v>
                </c:pt>
                <c:pt idx="60">
                  <c:v>-13.213458511356134</c:v>
                </c:pt>
                <c:pt idx="61">
                  <c:v>-20.171857431976768</c:v>
                </c:pt>
                <c:pt idx="62">
                  <c:v>-19.648470879244616</c:v>
                </c:pt>
                <c:pt idx="63">
                  <c:v>-9.1493703620420188</c:v>
                </c:pt>
                <c:pt idx="64">
                  <c:v>-14.860805037103821</c:v>
                </c:pt>
                <c:pt idx="65">
                  <c:v>-21.819203957724454</c:v>
                </c:pt>
                <c:pt idx="66">
                  <c:v>-33.765459860580314</c:v>
                </c:pt>
                <c:pt idx="67">
                  <c:v>-43.21778727231861</c:v>
                </c:pt>
                <c:pt idx="68">
                  <c:v>-50.176186192939248</c:v>
                </c:pt>
                <c:pt idx="69">
                  <c:v>-57.134585113559879</c:v>
                </c:pt>
                <c:pt idx="70">
                  <c:v>-69.080841016415732</c:v>
                </c:pt>
                <c:pt idx="71">
                  <c:v>-78.533168428154042</c:v>
                </c:pt>
                <c:pt idx="72">
                  <c:v>-87.985495839892337</c:v>
                </c:pt>
                <c:pt idx="73">
                  <c:v>-97.437823251630633</c:v>
                </c:pt>
                <c:pt idx="74">
                  <c:v>-106.89015066336891</c:v>
                </c:pt>
                <c:pt idx="75">
                  <c:v>-118.83640656622478</c:v>
                </c:pt>
                <c:pt idx="76">
                  <c:v>-130.78266246908063</c:v>
                </c:pt>
                <c:pt idx="77">
                  <c:v>-142.72891837193649</c:v>
                </c:pt>
                <c:pt idx="78">
                  <c:v>-154.67517427479234</c:v>
                </c:pt>
                <c:pt idx="79">
                  <c:v>-166.62143017764822</c:v>
                </c:pt>
                <c:pt idx="80">
                  <c:v>-178.56768608050407</c:v>
                </c:pt>
                <c:pt idx="81">
                  <c:v>-190.51394198335993</c:v>
                </c:pt>
                <c:pt idx="82">
                  <c:v>-202.46019788621578</c:v>
                </c:pt>
                <c:pt idx="83">
                  <c:v>-214.40645378907163</c:v>
                </c:pt>
                <c:pt idx="84">
                  <c:v>-226.35270969192749</c:v>
                </c:pt>
                <c:pt idx="85">
                  <c:v>-238.29896559478337</c:v>
                </c:pt>
                <c:pt idx="86">
                  <c:v>-250.24522149763922</c:v>
                </c:pt>
                <c:pt idx="87">
                  <c:v>-262.1914774004951</c:v>
                </c:pt>
                <c:pt idx="88">
                  <c:v>-274.13773330335096</c:v>
                </c:pt>
                <c:pt idx="89">
                  <c:v>-286.08398920620681</c:v>
                </c:pt>
                <c:pt idx="90">
                  <c:v>-298.03024510906266</c:v>
                </c:pt>
                <c:pt idx="91">
                  <c:v>-309.97650101191851</c:v>
                </c:pt>
                <c:pt idx="92">
                  <c:v>-321.92275691477437</c:v>
                </c:pt>
                <c:pt idx="93">
                  <c:v>-333.86901281763022</c:v>
                </c:pt>
                <c:pt idx="94">
                  <c:v>-345.81526872048607</c:v>
                </c:pt>
                <c:pt idx="95">
                  <c:v>-357.76152462334193</c:v>
                </c:pt>
              </c:numCache>
            </c:numRef>
          </c:val>
          <c:smooth val="0"/>
          <c:extLst>
            <c:ext xmlns:c16="http://schemas.microsoft.com/office/drawing/2014/chart" uri="{C3380CC4-5D6E-409C-BE32-E72D297353CC}">
              <c16:uniqueId val="{00000004-6537-464F-AB72-62D9BD4BE160}"/>
            </c:ext>
          </c:extLst>
        </c:ser>
        <c:dLbls>
          <c:showLegendKey val="0"/>
          <c:showVal val="0"/>
          <c:showCatName val="0"/>
          <c:showSerName val="0"/>
          <c:showPercent val="0"/>
          <c:showBubbleSize val="0"/>
        </c:dLbls>
        <c:marker val="1"/>
        <c:smooth val="0"/>
        <c:axId val="245546368"/>
        <c:axId val="245544832"/>
      </c:lineChart>
      <c:catAx>
        <c:axId val="204863744"/>
        <c:scaling>
          <c:orientation val="minMax"/>
        </c:scaling>
        <c:delete val="0"/>
        <c:axPos val="b"/>
        <c:numFmt formatCode="General" sourceLinked="1"/>
        <c:majorTickMark val="out"/>
        <c:minorTickMark val="none"/>
        <c:tickLblPos val="nextTo"/>
        <c:crossAx val="245542912"/>
        <c:crosses val="autoZero"/>
        <c:auto val="1"/>
        <c:lblAlgn val="ctr"/>
        <c:lblOffset val="100"/>
        <c:tickLblSkip val="2"/>
        <c:noMultiLvlLbl val="0"/>
      </c:catAx>
      <c:valAx>
        <c:axId val="245542912"/>
        <c:scaling>
          <c:orientation val="minMax"/>
          <c:max val="45"/>
          <c:min val="0"/>
        </c:scaling>
        <c:delete val="0"/>
        <c:axPos val="l"/>
        <c:majorGridlines/>
        <c:title>
          <c:tx>
            <c:rich>
              <a:bodyPr rot="-5400000" vert="horz"/>
              <a:lstStyle/>
              <a:p>
                <a:pPr>
                  <a:defRPr sz="1200"/>
                </a:pPr>
                <a:r>
                  <a:rPr lang="ja-JP" altLang="en-US" sz="1200"/>
                  <a:t>降水量（</a:t>
                </a:r>
                <a:r>
                  <a:rPr lang="en-US" altLang="en-US" sz="1200"/>
                  <a:t>mm/h</a:t>
                </a:r>
                <a:r>
                  <a:rPr lang="ja-JP" altLang="en-US" sz="1200"/>
                  <a:t>）</a:t>
                </a:r>
                <a:endParaRPr lang="en-US" altLang="en-US" sz="1200"/>
              </a:p>
            </c:rich>
          </c:tx>
          <c:overlay val="0"/>
        </c:title>
        <c:numFmt formatCode="General" sourceLinked="1"/>
        <c:majorTickMark val="out"/>
        <c:minorTickMark val="none"/>
        <c:tickLblPos val="nextTo"/>
        <c:crossAx val="204863744"/>
        <c:crosses val="autoZero"/>
        <c:crossBetween val="between"/>
      </c:valAx>
      <c:valAx>
        <c:axId val="245544832"/>
        <c:scaling>
          <c:orientation val="minMax"/>
          <c:max val="400"/>
          <c:min val="0"/>
        </c:scaling>
        <c:delete val="0"/>
        <c:axPos val="r"/>
        <c:numFmt formatCode="General" sourceLinked="1"/>
        <c:majorTickMark val="out"/>
        <c:minorTickMark val="none"/>
        <c:tickLblPos val="nextTo"/>
        <c:crossAx val="245546368"/>
        <c:crosses val="max"/>
        <c:crossBetween val="between"/>
      </c:valAx>
      <c:catAx>
        <c:axId val="245546368"/>
        <c:scaling>
          <c:orientation val="minMax"/>
        </c:scaling>
        <c:delete val="1"/>
        <c:axPos val="b"/>
        <c:majorTickMark val="out"/>
        <c:minorTickMark val="none"/>
        <c:tickLblPos val="nextTo"/>
        <c:crossAx val="245544832"/>
        <c:crosses val="autoZero"/>
        <c:auto val="1"/>
        <c:lblAlgn val="ctr"/>
        <c:lblOffset val="100"/>
        <c:noMultiLvlLbl val="0"/>
      </c:catAx>
      <c:spPr>
        <a:noFill/>
        <a:ln w="25400">
          <a:noFill/>
        </a:ln>
      </c:spPr>
    </c:plotArea>
    <c:plotVisOnly val="1"/>
    <c:dispBlanksAs val="gap"/>
    <c:showDLblsOverMax val="0"/>
  </c:chart>
  <c:txPr>
    <a:bodyPr/>
    <a:lstStyle/>
    <a:p>
      <a:pPr>
        <a:defRPr>
          <a:latin typeface="Meiryo UI" panose="020B0604030504040204" pitchFamily="50" charset="-128"/>
          <a:ea typeface="Meiryo UI" panose="020B0604030504040204" pitchFamily="50" charset="-128"/>
          <a:cs typeface="Meiryo UI" panose="020B0604030504040204" pitchFamily="50" charset="-128"/>
        </a:defRPr>
      </a:pPr>
      <a:endParaRPr lang="ja-JP"/>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792143936433169E-2"/>
          <c:y val="0.12058910515603428"/>
          <c:w val="0.85009119781169107"/>
          <c:h val="0.74343957525059901"/>
        </c:manualLayout>
      </c:layout>
      <c:barChart>
        <c:barDir val="col"/>
        <c:grouping val="clustered"/>
        <c:varyColors val="0"/>
        <c:ser>
          <c:idx val="0"/>
          <c:order val="0"/>
          <c:tx>
            <c:strRef>
              <c:f>'2018.7.5-9(3ビレットヤード）'!$C$2</c:f>
              <c:strCache>
                <c:ptCount val="1"/>
                <c:pt idx="0">
                  <c:v>降雨量</c:v>
                </c:pt>
              </c:strCache>
            </c:strRef>
          </c:tx>
          <c:invertIfNegative val="0"/>
          <c:cat>
            <c:numRef>
              <c:f>'2018.7.5-9(3ビレットヤード）'!$B$5:$B$100</c:f>
              <c:numCache>
                <c:formatCode>General</c:formatCode>
                <c:ptCount val="9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1</c:v>
                </c:pt>
                <c:pt idx="25">
                  <c:v>2</c:v>
                </c:pt>
                <c:pt idx="26">
                  <c:v>3</c:v>
                </c:pt>
                <c:pt idx="27">
                  <c:v>4</c:v>
                </c:pt>
                <c:pt idx="28">
                  <c:v>5</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24</c:v>
                </c:pt>
                <c:pt idx="48">
                  <c:v>1</c:v>
                </c:pt>
                <c:pt idx="49">
                  <c:v>2</c:v>
                </c:pt>
                <c:pt idx="50">
                  <c:v>3</c:v>
                </c:pt>
                <c:pt idx="51">
                  <c:v>4</c:v>
                </c:pt>
                <c:pt idx="52">
                  <c:v>5</c:v>
                </c:pt>
                <c:pt idx="53">
                  <c:v>6</c:v>
                </c:pt>
                <c:pt idx="54">
                  <c:v>7</c:v>
                </c:pt>
                <c:pt idx="55">
                  <c:v>8</c:v>
                </c:pt>
                <c:pt idx="56">
                  <c:v>9</c:v>
                </c:pt>
                <c:pt idx="57">
                  <c:v>10</c:v>
                </c:pt>
                <c:pt idx="58">
                  <c:v>11</c:v>
                </c:pt>
                <c:pt idx="59">
                  <c:v>12</c:v>
                </c:pt>
                <c:pt idx="60">
                  <c:v>13</c:v>
                </c:pt>
                <c:pt idx="61">
                  <c:v>14</c:v>
                </c:pt>
                <c:pt idx="62">
                  <c:v>15</c:v>
                </c:pt>
                <c:pt idx="63">
                  <c:v>16</c:v>
                </c:pt>
                <c:pt idx="64">
                  <c:v>17</c:v>
                </c:pt>
                <c:pt idx="65">
                  <c:v>18</c:v>
                </c:pt>
                <c:pt idx="66">
                  <c:v>19</c:v>
                </c:pt>
                <c:pt idx="67">
                  <c:v>20</c:v>
                </c:pt>
                <c:pt idx="68">
                  <c:v>21</c:v>
                </c:pt>
                <c:pt idx="69">
                  <c:v>22</c:v>
                </c:pt>
                <c:pt idx="70">
                  <c:v>23</c:v>
                </c:pt>
                <c:pt idx="71">
                  <c:v>24</c:v>
                </c:pt>
                <c:pt idx="72">
                  <c:v>1</c:v>
                </c:pt>
                <c:pt idx="73">
                  <c:v>2</c:v>
                </c:pt>
                <c:pt idx="74">
                  <c:v>3</c:v>
                </c:pt>
                <c:pt idx="75">
                  <c:v>4</c:v>
                </c:pt>
                <c:pt idx="76">
                  <c:v>5</c:v>
                </c:pt>
                <c:pt idx="77">
                  <c:v>6</c:v>
                </c:pt>
                <c:pt idx="78">
                  <c:v>7</c:v>
                </c:pt>
                <c:pt idx="79">
                  <c:v>8</c:v>
                </c:pt>
                <c:pt idx="80">
                  <c:v>9</c:v>
                </c:pt>
                <c:pt idx="81">
                  <c:v>10</c:v>
                </c:pt>
                <c:pt idx="82">
                  <c:v>11</c:v>
                </c:pt>
                <c:pt idx="83">
                  <c:v>12</c:v>
                </c:pt>
                <c:pt idx="84">
                  <c:v>13</c:v>
                </c:pt>
                <c:pt idx="85">
                  <c:v>14</c:v>
                </c:pt>
                <c:pt idx="86">
                  <c:v>15</c:v>
                </c:pt>
                <c:pt idx="87">
                  <c:v>16</c:v>
                </c:pt>
                <c:pt idx="88">
                  <c:v>17</c:v>
                </c:pt>
                <c:pt idx="89">
                  <c:v>18</c:v>
                </c:pt>
                <c:pt idx="90">
                  <c:v>19</c:v>
                </c:pt>
                <c:pt idx="91">
                  <c:v>20</c:v>
                </c:pt>
                <c:pt idx="92">
                  <c:v>21</c:v>
                </c:pt>
                <c:pt idx="93">
                  <c:v>22</c:v>
                </c:pt>
                <c:pt idx="94">
                  <c:v>23</c:v>
                </c:pt>
                <c:pt idx="95">
                  <c:v>24</c:v>
                </c:pt>
              </c:numCache>
            </c:numRef>
          </c:cat>
          <c:val>
            <c:numRef>
              <c:f>'2018.7.5-9(3ビレットヤード）'!$C$5:$C$100</c:f>
              <c:numCache>
                <c:formatCode>General</c:formatCode>
                <c:ptCount val="96"/>
                <c:pt idx="0">
                  <c:v>1.5</c:v>
                </c:pt>
                <c:pt idx="1">
                  <c:v>6.5</c:v>
                </c:pt>
                <c:pt idx="2">
                  <c:v>5</c:v>
                </c:pt>
                <c:pt idx="3">
                  <c:v>6</c:v>
                </c:pt>
                <c:pt idx="4">
                  <c:v>8.5</c:v>
                </c:pt>
                <c:pt idx="5">
                  <c:v>7</c:v>
                </c:pt>
                <c:pt idx="6">
                  <c:v>8.5</c:v>
                </c:pt>
                <c:pt idx="7">
                  <c:v>14.5</c:v>
                </c:pt>
                <c:pt idx="8">
                  <c:v>20</c:v>
                </c:pt>
                <c:pt idx="9">
                  <c:v>15.5</c:v>
                </c:pt>
                <c:pt idx="10">
                  <c:v>9</c:v>
                </c:pt>
                <c:pt idx="11">
                  <c:v>8</c:v>
                </c:pt>
                <c:pt idx="12">
                  <c:v>4</c:v>
                </c:pt>
                <c:pt idx="13">
                  <c:v>6.5</c:v>
                </c:pt>
                <c:pt idx="14">
                  <c:v>1.5</c:v>
                </c:pt>
                <c:pt idx="15">
                  <c:v>4.5</c:v>
                </c:pt>
                <c:pt idx="16">
                  <c:v>7</c:v>
                </c:pt>
                <c:pt idx="17">
                  <c:v>7</c:v>
                </c:pt>
                <c:pt idx="18">
                  <c:v>9.5</c:v>
                </c:pt>
                <c:pt idx="19">
                  <c:v>3.5</c:v>
                </c:pt>
                <c:pt idx="20">
                  <c:v>2</c:v>
                </c:pt>
                <c:pt idx="21">
                  <c:v>10</c:v>
                </c:pt>
                <c:pt idx="22">
                  <c:v>6.5</c:v>
                </c:pt>
                <c:pt idx="23">
                  <c:v>6.5</c:v>
                </c:pt>
                <c:pt idx="24">
                  <c:v>12</c:v>
                </c:pt>
                <c:pt idx="25">
                  <c:v>5.5</c:v>
                </c:pt>
                <c:pt idx="26">
                  <c:v>2.5</c:v>
                </c:pt>
                <c:pt idx="27">
                  <c:v>8</c:v>
                </c:pt>
                <c:pt idx="28">
                  <c:v>7</c:v>
                </c:pt>
                <c:pt idx="29">
                  <c:v>9</c:v>
                </c:pt>
                <c:pt idx="30">
                  <c:v>6</c:v>
                </c:pt>
                <c:pt idx="31">
                  <c:v>5.5</c:v>
                </c:pt>
                <c:pt idx="32">
                  <c:v>1.5</c:v>
                </c:pt>
                <c:pt idx="33">
                  <c:v>3.5</c:v>
                </c:pt>
                <c:pt idx="34">
                  <c:v>17</c:v>
                </c:pt>
                <c:pt idx="35">
                  <c:v>16.5</c:v>
                </c:pt>
                <c:pt idx="36">
                  <c:v>4</c:v>
                </c:pt>
                <c:pt idx="37">
                  <c:v>28</c:v>
                </c:pt>
                <c:pt idx="38">
                  <c:v>3</c:v>
                </c:pt>
                <c:pt idx="39">
                  <c:v>2.5</c:v>
                </c:pt>
                <c:pt idx="40">
                  <c:v>1.5</c:v>
                </c:pt>
                <c:pt idx="41">
                  <c:v>0.5</c:v>
                </c:pt>
                <c:pt idx="42">
                  <c:v>1.5</c:v>
                </c:pt>
                <c:pt idx="43">
                  <c:v>1</c:v>
                </c:pt>
                <c:pt idx="44">
                  <c:v>0.5</c:v>
                </c:pt>
                <c:pt idx="45">
                  <c:v>0.5</c:v>
                </c:pt>
                <c:pt idx="46">
                  <c:v>1.5</c:v>
                </c:pt>
                <c:pt idx="47">
                  <c:v>3</c:v>
                </c:pt>
                <c:pt idx="48">
                  <c:v>1</c:v>
                </c:pt>
                <c:pt idx="49">
                  <c:v>1</c:v>
                </c:pt>
                <c:pt idx="50">
                  <c:v>0.5</c:v>
                </c:pt>
                <c:pt idx="51">
                  <c:v>2</c:v>
                </c:pt>
                <c:pt idx="52">
                  <c:v>2.5</c:v>
                </c:pt>
                <c:pt idx="53">
                  <c:v>2.5</c:v>
                </c:pt>
                <c:pt idx="54">
                  <c:v>3</c:v>
                </c:pt>
                <c:pt idx="55">
                  <c:v>1.5</c:v>
                </c:pt>
                <c:pt idx="56">
                  <c:v>6.5</c:v>
                </c:pt>
                <c:pt idx="57">
                  <c:v>4.5</c:v>
                </c:pt>
                <c:pt idx="58">
                  <c:v>3.5</c:v>
                </c:pt>
                <c:pt idx="59">
                  <c:v>1</c:v>
                </c:pt>
                <c:pt idx="60">
                  <c:v>0</c:v>
                </c:pt>
                <c:pt idx="61">
                  <c:v>2</c:v>
                </c:pt>
                <c:pt idx="62">
                  <c:v>5</c:v>
                </c:pt>
                <c:pt idx="63">
                  <c:v>9</c:v>
                </c:pt>
                <c:pt idx="64">
                  <c:v>2.5</c:v>
                </c:pt>
                <c:pt idx="65">
                  <c:v>2</c:v>
                </c:pt>
                <c:pt idx="66">
                  <c:v>0</c:v>
                </c:pt>
                <c:pt idx="67">
                  <c:v>1</c:v>
                </c:pt>
                <c:pt idx="68">
                  <c:v>2</c:v>
                </c:pt>
                <c:pt idx="69">
                  <c:v>2</c:v>
                </c:pt>
                <c:pt idx="70">
                  <c:v>0</c:v>
                </c:pt>
                <c:pt idx="71">
                  <c:v>1</c:v>
                </c:pt>
                <c:pt idx="72">
                  <c:v>1</c:v>
                </c:pt>
                <c:pt idx="73">
                  <c:v>1</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0-0A89-4E33-8FBB-0D640D63E32B}"/>
            </c:ext>
          </c:extLst>
        </c:ser>
        <c:dLbls>
          <c:showLegendKey val="0"/>
          <c:showVal val="0"/>
          <c:showCatName val="0"/>
          <c:showSerName val="0"/>
          <c:showPercent val="0"/>
          <c:showBubbleSize val="0"/>
        </c:dLbls>
        <c:gapWidth val="20"/>
        <c:axId val="225377280"/>
        <c:axId val="225190656"/>
      </c:barChart>
      <c:lineChart>
        <c:grouping val="standard"/>
        <c:varyColors val="0"/>
        <c:ser>
          <c:idx val="1"/>
          <c:order val="1"/>
          <c:spPr>
            <a:ln>
              <a:solidFill>
                <a:srgbClr val="00B050"/>
              </a:solidFill>
            </a:ln>
          </c:spPr>
          <c:marker>
            <c:symbol val="none"/>
          </c:marker>
          <c:dLbls>
            <c:dLbl>
              <c:idx val="71"/>
              <c:layout>
                <c:manualLayout>
                  <c:x val="-4.7875478865312387E-3"/>
                  <c:y val="8.6713464520624839E-2"/>
                </c:manualLayout>
              </c:layout>
              <c:tx>
                <c:rich>
                  <a:bodyPr wrap="square" lIns="38100" tIns="19050" rIns="38100" bIns="19050" anchor="ctr">
                    <a:noAutofit/>
                  </a:bodyPr>
                  <a:lstStyle/>
                  <a:p>
                    <a:pPr>
                      <a:defRPr sz="1200">
                        <a:solidFill>
                          <a:srgbClr val="00B050"/>
                        </a:solidFill>
                      </a:defRPr>
                    </a:pPr>
                    <a:r>
                      <a:rPr lang="ja-JP" altLang="en-US" sz="1200" dirty="0"/>
                      <a:t>降雨累積</a:t>
                    </a:r>
                    <a:r>
                      <a:rPr lang="en-US" altLang="ja-JP" sz="1200" dirty="0"/>
                      <a:t>379mm</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0.20965512628894756"/>
                      <c:h val="0.1125757075620403"/>
                    </c:manualLayout>
                  </c15:layout>
                </c:ext>
                <c:ext xmlns:c16="http://schemas.microsoft.com/office/drawing/2014/chart" uri="{C3380CC4-5D6E-409C-BE32-E72D297353CC}">
                  <c16:uniqueId val="{00000001-0A89-4E33-8FBB-0D640D63E32B}"/>
                </c:ext>
              </c:extLst>
            </c:dLbl>
            <c:spPr>
              <a:noFill/>
              <a:ln>
                <a:noFill/>
              </a:ln>
              <a:effectLst/>
            </c:spPr>
            <c:txPr>
              <a:bodyPr wrap="square" lIns="38100" tIns="19050" rIns="38100" bIns="19050" anchor="ctr">
                <a:spAutoFit/>
              </a:bodyPr>
              <a:lstStyle/>
              <a:p>
                <a:pPr>
                  <a:defRPr>
                    <a:solidFill>
                      <a:srgbClr val="00B050"/>
                    </a:solidFill>
                  </a:defRPr>
                </a:pPr>
                <a:endParaRPr lang="ja-JP"/>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'2018.7.5-9(3ビレットヤード）'!$D$5:$D$100</c:f>
              <c:numCache>
                <c:formatCode>General</c:formatCode>
                <c:ptCount val="96"/>
                <c:pt idx="0">
                  <c:v>1.5</c:v>
                </c:pt>
                <c:pt idx="1">
                  <c:v>8</c:v>
                </c:pt>
                <c:pt idx="2">
                  <c:v>13</c:v>
                </c:pt>
                <c:pt idx="3">
                  <c:v>19</c:v>
                </c:pt>
                <c:pt idx="4">
                  <c:v>27.5</c:v>
                </c:pt>
                <c:pt idx="5">
                  <c:v>34.5</c:v>
                </c:pt>
                <c:pt idx="6">
                  <c:v>43</c:v>
                </c:pt>
                <c:pt idx="7">
                  <c:v>57.5</c:v>
                </c:pt>
                <c:pt idx="8">
                  <c:v>77.5</c:v>
                </c:pt>
                <c:pt idx="9">
                  <c:v>93</c:v>
                </c:pt>
                <c:pt idx="10">
                  <c:v>102</c:v>
                </c:pt>
                <c:pt idx="11">
                  <c:v>110</c:v>
                </c:pt>
                <c:pt idx="12">
                  <c:v>114</c:v>
                </c:pt>
                <c:pt idx="13">
                  <c:v>120.5</c:v>
                </c:pt>
                <c:pt idx="14">
                  <c:v>122</c:v>
                </c:pt>
                <c:pt idx="15">
                  <c:v>126.5</c:v>
                </c:pt>
                <c:pt idx="16">
                  <c:v>133.5</c:v>
                </c:pt>
                <c:pt idx="17">
                  <c:v>140.5</c:v>
                </c:pt>
                <c:pt idx="18">
                  <c:v>150</c:v>
                </c:pt>
                <c:pt idx="19">
                  <c:v>153.5</c:v>
                </c:pt>
                <c:pt idx="20">
                  <c:v>155.5</c:v>
                </c:pt>
                <c:pt idx="21">
                  <c:v>165.5</c:v>
                </c:pt>
                <c:pt idx="22">
                  <c:v>172</c:v>
                </c:pt>
                <c:pt idx="23">
                  <c:v>178.5</c:v>
                </c:pt>
                <c:pt idx="24">
                  <c:v>190.5</c:v>
                </c:pt>
                <c:pt idx="25">
                  <c:v>196</c:v>
                </c:pt>
                <c:pt idx="26">
                  <c:v>198.5</c:v>
                </c:pt>
                <c:pt idx="27">
                  <c:v>206.5</c:v>
                </c:pt>
                <c:pt idx="28">
                  <c:v>213.5</c:v>
                </c:pt>
                <c:pt idx="29">
                  <c:v>222.5</c:v>
                </c:pt>
                <c:pt idx="30">
                  <c:v>228.5</c:v>
                </c:pt>
                <c:pt idx="31">
                  <c:v>234</c:v>
                </c:pt>
                <c:pt idx="32">
                  <c:v>235.5</c:v>
                </c:pt>
                <c:pt idx="33">
                  <c:v>239</c:v>
                </c:pt>
                <c:pt idx="34">
                  <c:v>256</c:v>
                </c:pt>
                <c:pt idx="35">
                  <c:v>272.5</c:v>
                </c:pt>
                <c:pt idx="36">
                  <c:v>276.5</c:v>
                </c:pt>
                <c:pt idx="37">
                  <c:v>304.5</c:v>
                </c:pt>
                <c:pt idx="38">
                  <c:v>307.5</c:v>
                </c:pt>
                <c:pt idx="39">
                  <c:v>310</c:v>
                </c:pt>
                <c:pt idx="40">
                  <c:v>311.5</c:v>
                </c:pt>
                <c:pt idx="41">
                  <c:v>312</c:v>
                </c:pt>
                <c:pt idx="42">
                  <c:v>313.5</c:v>
                </c:pt>
                <c:pt idx="43">
                  <c:v>314.5</c:v>
                </c:pt>
                <c:pt idx="44">
                  <c:v>315</c:v>
                </c:pt>
                <c:pt idx="45">
                  <c:v>315.5</c:v>
                </c:pt>
                <c:pt idx="46">
                  <c:v>317</c:v>
                </c:pt>
                <c:pt idx="47">
                  <c:v>320</c:v>
                </c:pt>
                <c:pt idx="48">
                  <c:v>321</c:v>
                </c:pt>
                <c:pt idx="49">
                  <c:v>322</c:v>
                </c:pt>
                <c:pt idx="50">
                  <c:v>322.5</c:v>
                </c:pt>
                <c:pt idx="51">
                  <c:v>324.5</c:v>
                </c:pt>
                <c:pt idx="52">
                  <c:v>327</c:v>
                </c:pt>
                <c:pt idx="53">
                  <c:v>329.5</c:v>
                </c:pt>
                <c:pt idx="54">
                  <c:v>332.5</c:v>
                </c:pt>
                <c:pt idx="55">
                  <c:v>334</c:v>
                </c:pt>
                <c:pt idx="56">
                  <c:v>340.5</c:v>
                </c:pt>
                <c:pt idx="57">
                  <c:v>345</c:v>
                </c:pt>
                <c:pt idx="58">
                  <c:v>348.5</c:v>
                </c:pt>
                <c:pt idx="59">
                  <c:v>349.5</c:v>
                </c:pt>
                <c:pt idx="60">
                  <c:v>349.5</c:v>
                </c:pt>
                <c:pt idx="61">
                  <c:v>351.5</c:v>
                </c:pt>
                <c:pt idx="62">
                  <c:v>356.5</c:v>
                </c:pt>
                <c:pt idx="63">
                  <c:v>365.5</c:v>
                </c:pt>
                <c:pt idx="64">
                  <c:v>368</c:v>
                </c:pt>
                <c:pt idx="65">
                  <c:v>370</c:v>
                </c:pt>
                <c:pt idx="66">
                  <c:v>370</c:v>
                </c:pt>
                <c:pt idx="67">
                  <c:v>371</c:v>
                </c:pt>
                <c:pt idx="68">
                  <c:v>373</c:v>
                </c:pt>
                <c:pt idx="69">
                  <c:v>375</c:v>
                </c:pt>
                <c:pt idx="70">
                  <c:v>375</c:v>
                </c:pt>
                <c:pt idx="71">
                  <c:v>376</c:v>
                </c:pt>
                <c:pt idx="72">
                  <c:v>377</c:v>
                </c:pt>
                <c:pt idx="73">
                  <c:v>378</c:v>
                </c:pt>
                <c:pt idx="74">
                  <c:v>379</c:v>
                </c:pt>
                <c:pt idx="75">
                  <c:v>379</c:v>
                </c:pt>
                <c:pt idx="76">
                  <c:v>379</c:v>
                </c:pt>
                <c:pt idx="77">
                  <c:v>379</c:v>
                </c:pt>
                <c:pt idx="78">
                  <c:v>379</c:v>
                </c:pt>
                <c:pt idx="79">
                  <c:v>379</c:v>
                </c:pt>
                <c:pt idx="80">
                  <c:v>379</c:v>
                </c:pt>
                <c:pt idx="81">
                  <c:v>379</c:v>
                </c:pt>
                <c:pt idx="82">
                  <c:v>379</c:v>
                </c:pt>
                <c:pt idx="83">
                  <c:v>379</c:v>
                </c:pt>
                <c:pt idx="84">
                  <c:v>379</c:v>
                </c:pt>
                <c:pt idx="85">
                  <c:v>379</c:v>
                </c:pt>
                <c:pt idx="86">
                  <c:v>379</c:v>
                </c:pt>
                <c:pt idx="87">
                  <c:v>379</c:v>
                </c:pt>
                <c:pt idx="88">
                  <c:v>379</c:v>
                </c:pt>
                <c:pt idx="89">
                  <c:v>379</c:v>
                </c:pt>
                <c:pt idx="90">
                  <c:v>379</c:v>
                </c:pt>
                <c:pt idx="91">
                  <c:v>379</c:v>
                </c:pt>
                <c:pt idx="92">
                  <c:v>379</c:v>
                </c:pt>
                <c:pt idx="93">
                  <c:v>379</c:v>
                </c:pt>
                <c:pt idx="94">
                  <c:v>379</c:v>
                </c:pt>
                <c:pt idx="95">
                  <c:v>379</c:v>
                </c:pt>
              </c:numCache>
            </c:numRef>
          </c:val>
          <c:smooth val="0"/>
          <c:extLst>
            <c:ext xmlns:c16="http://schemas.microsoft.com/office/drawing/2014/chart" uri="{C3380CC4-5D6E-409C-BE32-E72D297353CC}">
              <c16:uniqueId val="{00000002-0A89-4E33-8FBB-0D640D63E32B}"/>
            </c:ext>
          </c:extLst>
        </c:ser>
        <c:ser>
          <c:idx val="2"/>
          <c:order val="2"/>
          <c:spPr>
            <a:ln w="57150">
              <a:solidFill>
                <a:srgbClr val="FF0000"/>
              </a:solidFill>
            </a:ln>
          </c:spPr>
          <c:marker>
            <c:symbol val="none"/>
          </c:marker>
          <c:val>
            <c:numRef>
              <c:f>'2018.7.5-9(3ビレットヤード）'!$O$5:$O$100</c:f>
              <c:numCache>
                <c:formatCode>#,##0.0;[Red]\-#,##0.0</c:formatCode>
                <c:ptCount val="96"/>
                <c:pt idx="0">
                  <c:v>0</c:v>
                </c:pt>
                <c:pt idx="1">
                  <c:v>10</c:v>
                </c:pt>
                <c:pt idx="2">
                  <c:v>16.25</c:v>
                </c:pt>
                <c:pt idx="3">
                  <c:v>23.750000000000004</c:v>
                </c:pt>
                <c:pt idx="4">
                  <c:v>34.375</c:v>
                </c:pt>
                <c:pt idx="5">
                  <c:v>43.125000000000007</c:v>
                </c:pt>
                <c:pt idx="6">
                  <c:v>53.750000000000007</c:v>
                </c:pt>
                <c:pt idx="7">
                  <c:v>71.875000000000014</c:v>
                </c:pt>
                <c:pt idx="8">
                  <c:v>96.875</c:v>
                </c:pt>
                <c:pt idx="9">
                  <c:v>116.25</c:v>
                </c:pt>
                <c:pt idx="10">
                  <c:v>127.5</c:v>
                </c:pt>
                <c:pt idx="11">
                  <c:v>137.49999999999997</c:v>
                </c:pt>
                <c:pt idx="12">
                  <c:v>142.5</c:v>
                </c:pt>
                <c:pt idx="13">
                  <c:v>150.625</c:v>
                </c:pt>
                <c:pt idx="14">
                  <c:v>152.50000000000003</c:v>
                </c:pt>
                <c:pt idx="15">
                  <c:v>158.12500000000003</c:v>
                </c:pt>
                <c:pt idx="16">
                  <c:v>166.87500000000003</c:v>
                </c:pt>
                <c:pt idx="17">
                  <c:v>175.625</c:v>
                </c:pt>
                <c:pt idx="18">
                  <c:v>187.5</c:v>
                </c:pt>
                <c:pt idx="19">
                  <c:v>191.87500000000003</c:v>
                </c:pt>
                <c:pt idx="20">
                  <c:v>194.37500000000003</c:v>
                </c:pt>
                <c:pt idx="21">
                  <c:v>206.87500000000003</c:v>
                </c:pt>
                <c:pt idx="22">
                  <c:v>215.00000000000003</c:v>
                </c:pt>
                <c:pt idx="23">
                  <c:v>223.12500000000006</c:v>
                </c:pt>
                <c:pt idx="24">
                  <c:v>238.12500000000003</c:v>
                </c:pt>
                <c:pt idx="25">
                  <c:v>245.00000000000006</c:v>
                </c:pt>
                <c:pt idx="26">
                  <c:v>248.12500000000003</c:v>
                </c:pt>
                <c:pt idx="27">
                  <c:v>258.12500000000006</c:v>
                </c:pt>
                <c:pt idx="28">
                  <c:v>266.87500000000006</c:v>
                </c:pt>
                <c:pt idx="29">
                  <c:v>278.125</c:v>
                </c:pt>
                <c:pt idx="30">
                  <c:v>285.625</c:v>
                </c:pt>
                <c:pt idx="31">
                  <c:v>292.50000000000006</c:v>
                </c:pt>
                <c:pt idx="32">
                  <c:v>294.37500000000006</c:v>
                </c:pt>
                <c:pt idx="33">
                  <c:v>298.75</c:v>
                </c:pt>
                <c:pt idx="34">
                  <c:v>320.00000000000006</c:v>
                </c:pt>
                <c:pt idx="35">
                  <c:v>340.62500000000006</c:v>
                </c:pt>
                <c:pt idx="36">
                  <c:v>345.62500000000006</c:v>
                </c:pt>
                <c:pt idx="37">
                  <c:v>380.62500000000006</c:v>
                </c:pt>
                <c:pt idx="38">
                  <c:v>384.37500000000006</c:v>
                </c:pt>
                <c:pt idx="39">
                  <c:v>387.50000000000006</c:v>
                </c:pt>
                <c:pt idx="40">
                  <c:v>389.37500000000006</c:v>
                </c:pt>
                <c:pt idx="41">
                  <c:v>390.00000000000011</c:v>
                </c:pt>
                <c:pt idx="42">
                  <c:v>391.87500000000006</c:v>
                </c:pt>
                <c:pt idx="43">
                  <c:v>393.12500000000011</c:v>
                </c:pt>
                <c:pt idx="44">
                  <c:v>393.75000000000011</c:v>
                </c:pt>
                <c:pt idx="45">
                  <c:v>394.37500000000011</c:v>
                </c:pt>
                <c:pt idx="46">
                  <c:v>396.25000000000017</c:v>
                </c:pt>
                <c:pt idx="47">
                  <c:v>400.00000000000017</c:v>
                </c:pt>
                <c:pt idx="48">
                  <c:v>401.25000000000017</c:v>
                </c:pt>
                <c:pt idx="49">
                  <c:v>402.50000000000011</c:v>
                </c:pt>
                <c:pt idx="50">
                  <c:v>403.12500000000017</c:v>
                </c:pt>
                <c:pt idx="51">
                  <c:v>405.62500000000011</c:v>
                </c:pt>
                <c:pt idx="52">
                  <c:v>408.75000000000011</c:v>
                </c:pt>
                <c:pt idx="53">
                  <c:v>411.87500000000017</c:v>
                </c:pt>
                <c:pt idx="54">
                  <c:v>415.62500000000011</c:v>
                </c:pt>
                <c:pt idx="55">
                  <c:v>417.50000000000017</c:v>
                </c:pt>
                <c:pt idx="56">
                  <c:v>425.62500000000011</c:v>
                </c:pt>
                <c:pt idx="57">
                  <c:v>431.25000000000011</c:v>
                </c:pt>
                <c:pt idx="58">
                  <c:v>435.62500000000017</c:v>
                </c:pt>
                <c:pt idx="59">
                  <c:v>436.87500000000011</c:v>
                </c:pt>
                <c:pt idx="60">
                  <c:v>436.87500000000011</c:v>
                </c:pt>
                <c:pt idx="61">
                  <c:v>439.37500000000011</c:v>
                </c:pt>
                <c:pt idx="62">
                  <c:v>445.62500000000011</c:v>
                </c:pt>
                <c:pt idx="63">
                  <c:v>456.87500000000011</c:v>
                </c:pt>
                <c:pt idx="64">
                  <c:v>460.00000000000006</c:v>
                </c:pt>
                <c:pt idx="65">
                  <c:v>462.50000000000006</c:v>
                </c:pt>
                <c:pt idx="66">
                  <c:v>462.50000000000006</c:v>
                </c:pt>
                <c:pt idx="67">
                  <c:v>463.75000000000006</c:v>
                </c:pt>
                <c:pt idx="68">
                  <c:v>466.25000000000006</c:v>
                </c:pt>
                <c:pt idx="69">
                  <c:v>468.75</c:v>
                </c:pt>
                <c:pt idx="70">
                  <c:v>468.75</c:v>
                </c:pt>
                <c:pt idx="71">
                  <c:v>470.00000000000006</c:v>
                </c:pt>
                <c:pt idx="72">
                  <c:v>471.25000000000011</c:v>
                </c:pt>
                <c:pt idx="73">
                  <c:v>472.50000000000011</c:v>
                </c:pt>
                <c:pt idx="74">
                  <c:v>473.75000000000017</c:v>
                </c:pt>
                <c:pt idx="75">
                  <c:v>473.75000000000017</c:v>
                </c:pt>
                <c:pt idx="76">
                  <c:v>473.75000000000017</c:v>
                </c:pt>
                <c:pt idx="77">
                  <c:v>473.75000000000017</c:v>
                </c:pt>
                <c:pt idx="78">
                  <c:v>473.75000000000017</c:v>
                </c:pt>
                <c:pt idx="79">
                  <c:v>473.75000000000017</c:v>
                </c:pt>
                <c:pt idx="80">
                  <c:v>473.75000000000017</c:v>
                </c:pt>
                <c:pt idx="81">
                  <c:v>473.75000000000017</c:v>
                </c:pt>
                <c:pt idx="82">
                  <c:v>473.75000000000017</c:v>
                </c:pt>
                <c:pt idx="83">
                  <c:v>473.75000000000017</c:v>
                </c:pt>
                <c:pt idx="84">
                  <c:v>473.75000000000017</c:v>
                </c:pt>
                <c:pt idx="85">
                  <c:v>473.75000000000017</c:v>
                </c:pt>
                <c:pt idx="86">
                  <c:v>473.75000000000017</c:v>
                </c:pt>
                <c:pt idx="87">
                  <c:v>473.75000000000017</c:v>
                </c:pt>
                <c:pt idx="88">
                  <c:v>473.75000000000017</c:v>
                </c:pt>
                <c:pt idx="89">
                  <c:v>473.75000000000017</c:v>
                </c:pt>
                <c:pt idx="90">
                  <c:v>473.75000000000017</c:v>
                </c:pt>
                <c:pt idx="91">
                  <c:v>473.75000000000017</c:v>
                </c:pt>
                <c:pt idx="92">
                  <c:v>473.75000000000017</c:v>
                </c:pt>
                <c:pt idx="93">
                  <c:v>473.75000000000017</c:v>
                </c:pt>
                <c:pt idx="94">
                  <c:v>473.75000000000017</c:v>
                </c:pt>
                <c:pt idx="95">
                  <c:v>473.75000000000017</c:v>
                </c:pt>
              </c:numCache>
            </c:numRef>
          </c:val>
          <c:smooth val="0"/>
          <c:extLst>
            <c:ext xmlns:c16="http://schemas.microsoft.com/office/drawing/2014/chart" uri="{C3380CC4-5D6E-409C-BE32-E72D297353CC}">
              <c16:uniqueId val="{00000003-0A89-4E33-8FBB-0D640D63E32B}"/>
            </c:ext>
          </c:extLst>
        </c:ser>
        <c:ser>
          <c:idx val="3"/>
          <c:order val="3"/>
          <c:spPr>
            <a:ln w="73025">
              <a:solidFill>
                <a:srgbClr val="7030A0"/>
              </a:solidFill>
              <a:prstDash val="solid"/>
            </a:ln>
          </c:spPr>
          <c:marker>
            <c:symbol val="none"/>
          </c:marker>
          <c:val>
            <c:numRef>
              <c:f>'2018.7.5-9(3ビレットヤード）'!$P$5:$P$100</c:f>
              <c:numCache>
                <c:formatCode>#,##0.0;[Red]\-#,##0.0</c:formatCode>
                <c:ptCount val="96"/>
                <c:pt idx="0">
                  <c:v>0</c:v>
                </c:pt>
                <c:pt idx="1">
                  <c:v>3.7686939182452637</c:v>
                </c:pt>
                <c:pt idx="2">
                  <c:v>3.7873878364905287</c:v>
                </c:pt>
                <c:pt idx="3">
                  <c:v>5.0560817547357946</c:v>
                </c:pt>
                <c:pt idx="4">
                  <c:v>9.44977567298106</c:v>
                </c:pt>
                <c:pt idx="5">
                  <c:v>11.968469591226324</c:v>
                </c:pt>
                <c:pt idx="6">
                  <c:v>16.362163509471589</c:v>
                </c:pt>
                <c:pt idx="7">
                  <c:v>28.255857427716855</c:v>
                </c:pt>
                <c:pt idx="8">
                  <c:v>47.024551345962116</c:v>
                </c:pt>
                <c:pt idx="9">
                  <c:v>60.168245264207371</c:v>
                </c:pt>
                <c:pt idx="10">
                  <c:v>65.186939182452647</c:v>
                </c:pt>
                <c:pt idx="11">
                  <c:v>68.955633100697895</c:v>
                </c:pt>
                <c:pt idx="12">
                  <c:v>67.724327018943171</c:v>
                </c:pt>
                <c:pt idx="13">
                  <c:v>69.618020937188447</c:v>
                </c:pt>
                <c:pt idx="14">
                  <c:v>65.261714855433709</c:v>
                </c:pt>
                <c:pt idx="15">
                  <c:v>64.655408773678985</c:v>
                </c:pt>
                <c:pt idx="16">
                  <c:v>67.174102691924233</c:v>
                </c:pt>
                <c:pt idx="17">
                  <c:v>69.692796610169495</c:v>
                </c:pt>
                <c:pt idx="18">
                  <c:v>75.336490528414757</c:v>
                </c:pt>
                <c:pt idx="19">
                  <c:v>73.480184446660047</c:v>
                </c:pt>
                <c:pt idx="20">
                  <c:v>69.748878364905309</c:v>
                </c:pt>
                <c:pt idx="21">
                  <c:v>76.017572283150571</c:v>
                </c:pt>
                <c:pt idx="22">
                  <c:v>77.911266201395833</c:v>
                </c:pt>
                <c:pt idx="23">
                  <c:v>79.804960119641095</c:v>
                </c:pt>
                <c:pt idx="24">
                  <c:v>88.573654037886357</c:v>
                </c:pt>
                <c:pt idx="25">
                  <c:v>89.217347956131647</c:v>
                </c:pt>
                <c:pt idx="26">
                  <c:v>86.111041874376909</c:v>
                </c:pt>
                <c:pt idx="27">
                  <c:v>89.879735792622185</c:v>
                </c:pt>
                <c:pt idx="28">
                  <c:v>92.398429710867418</c:v>
                </c:pt>
                <c:pt idx="29">
                  <c:v>97.41712362911268</c:v>
                </c:pt>
                <c:pt idx="30">
                  <c:v>98.685817547357928</c:v>
                </c:pt>
                <c:pt idx="31">
                  <c:v>99.329511465603218</c:v>
                </c:pt>
                <c:pt idx="32">
                  <c:v>94.97320538384848</c:v>
                </c:pt>
                <c:pt idx="33">
                  <c:v>93.116899302093742</c:v>
                </c:pt>
                <c:pt idx="34">
                  <c:v>108.13559322033903</c:v>
                </c:pt>
                <c:pt idx="35">
                  <c:v>122.52928713858428</c:v>
                </c:pt>
                <c:pt idx="36">
                  <c:v>121.29798105682956</c:v>
                </c:pt>
                <c:pt idx="37">
                  <c:v>150.06667497507482</c:v>
                </c:pt>
                <c:pt idx="38">
                  <c:v>147.58536889332009</c:v>
                </c:pt>
                <c:pt idx="39">
                  <c:v>144.47906281156537</c:v>
                </c:pt>
                <c:pt idx="40">
                  <c:v>140.12275672981065</c:v>
                </c:pt>
                <c:pt idx="41">
                  <c:v>134.51645064805592</c:v>
                </c:pt>
                <c:pt idx="42">
                  <c:v>130.1601445663012</c:v>
                </c:pt>
                <c:pt idx="43">
                  <c:v>125.17883848454645</c:v>
                </c:pt>
                <c:pt idx="44">
                  <c:v>119.57253240279172</c:v>
                </c:pt>
                <c:pt idx="45">
                  <c:v>113.96622632103703</c:v>
                </c:pt>
                <c:pt idx="46">
                  <c:v>109.60992023928229</c:v>
                </c:pt>
                <c:pt idx="47">
                  <c:v>107.12861415752756</c:v>
                </c:pt>
                <c:pt idx="48">
                  <c:v>102.14730807577283</c:v>
                </c:pt>
                <c:pt idx="49">
                  <c:v>97.166001994018075</c:v>
                </c:pt>
                <c:pt idx="50">
                  <c:v>91.559695912263365</c:v>
                </c:pt>
                <c:pt idx="51">
                  <c:v>87.828389830508598</c:v>
                </c:pt>
                <c:pt idx="52">
                  <c:v>84.722083748753874</c:v>
                </c:pt>
                <c:pt idx="53">
                  <c:v>81.615777666999122</c:v>
                </c:pt>
                <c:pt idx="54">
                  <c:v>79.134471585244412</c:v>
                </c:pt>
                <c:pt idx="55">
                  <c:v>74.778165503489689</c:v>
                </c:pt>
                <c:pt idx="56">
                  <c:v>76.671859421734951</c:v>
                </c:pt>
                <c:pt idx="57">
                  <c:v>76.065553339980184</c:v>
                </c:pt>
                <c:pt idx="58">
                  <c:v>74.209247258225446</c:v>
                </c:pt>
                <c:pt idx="59">
                  <c:v>69.227941176470694</c:v>
                </c:pt>
                <c:pt idx="60">
                  <c:v>62.996635094715955</c:v>
                </c:pt>
                <c:pt idx="61">
                  <c:v>59.265329012961203</c:v>
                </c:pt>
                <c:pt idx="62">
                  <c:v>59.284022931206458</c:v>
                </c:pt>
                <c:pt idx="63">
                  <c:v>64.302716849451727</c:v>
                </c:pt>
                <c:pt idx="64">
                  <c:v>61.196410767696989</c:v>
                </c:pt>
                <c:pt idx="65">
                  <c:v>57.465104685942229</c:v>
                </c:pt>
                <c:pt idx="66">
                  <c:v>51.233798604187498</c:v>
                </c:pt>
                <c:pt idx="67">
                  <c:v>46.252492522432746</c:v>
                </c:pt>
                <c:pt idx="68">
                  <c:v>42.521186440677987</c:v>
                </c:pt>
                <c:pt idx="69">
                  <c:v>38.789880358923227</c:v>
                </c:pt>
                <c:pt idx="70">
                  <c:v>32.558574277168496</c:v>
                </c:pt>
                <c:pt idx="71">
                  <c:v>27.577268195413801</c:v>
                </c:pt>
                <c:pt idx="72">
                  <c:v>22.595962113659105</c:v>
                </c:pt>
                <c:pt idx="73">
                  <c:v>17.61465603190441</c:v>
                </c:pt>
                <c:pt idx="74">
                  <c:v>12.633349950149713</c:v>
                </c:pt>
                <c:pt idx="75">
                  <c:v>6.4020438683949772</c:v>
                </c:pt>
                <c:pt idx="76">
                  <c:v>0.17073778664024136</c:v>
                </c:pt>
                <c:pt idx="77">
                  <c:v>-6.0605682951144955</c:v>
                </c:pt>
                <c:pt idx="78">
                  <c:v>-12.291874376869231</c:v>
                </c:pt>
                <c:pt idx="79">
                  <c:v>-18.523180458623965</c:v>
                </c:pt>
                <c:pt idx="80">
                  <c:v>-24.754486540378704</c:v>
                </c:pt>
                <c:pt idx="81">
                  <c:v>-30.985792622133442</c:v>
                </c:pt>
                <c:pt idx="82">
                  <c:v>-37.217098703888176</c:v>
                </c:pt>
                <c:pt idx="83">
                  <c:v>-43.448404785642907</c:v>
                </c:pt>
                <c:pt idx="84">
                  <c:v>-49.679710867397645</c:v>
                </c:pt>
                <c:pt idx="85">
                  <c:v>-55.911016949152383</c:v>
                </c:pt>
                <c:pt idx="86">
                  <c:v>-62.142323030907114</c:v>
                </c:pt>
                <c:pt idx="87">
                  <c:v>-68.37362911266186</c:v>
                </c:pt>
                <c:pt idx="88">
                  <c:v>-74.604935194416598</c:v>
                </c:pt>
                <c:pt idx="89">
                  <c:v>-80.836241276171322</c:v>
                </c:pt>
                <c:pt idx="90">
                  <c:v>-87.06754735792606</c:v>
                </c:pt>
                <c:pt idx="91">
                  <c:v>-93.298853439680798</c:v>
                </c:pt>
                <c:pt idx="92">
                  <c:v>-99.530159521435536</c:v>
                </c:pt>
                <c:pt idx="93">
                  <c:v>-105.76146560319027</c:v>
                </c:pt>
                <c:pt idx="94">
                  <c:v>-111.99277168494501</c:v>
                </c:pt>
                <c:pt idx="95">
                  <c:v>-118.22407776669974</c:v>
                </c:pt>
              </c:numCache>
            </c:numRef>
          </c:val>
          <c:smooth val="0"/>
          <c:extLst>
            <c:ext xmlns:c16="http://schemas.microsoft.com/office/drawing/2014/chart" uri="{C3380CC4-5D6E-409C-BE32-E72D297353CC}">
              <c16:uniqueId val="{00000004-0A89-4E33-8FBB-0D640D63E32B}"/>
            </c:ext>
          </c:extLst>
        </c:ser>
        <c:dLbls>
          <c:showLegendKey val="0"/>
          <c:showVal val="0"/>
          <c:showCatName val="0"/>
          <c:showSerName val="0"/>
          <c:showPercent val="0"/>
          <c:showBubbleSize val="0"/>
        </c:dLbls>
        <c:marker val="1"/>
        <c:smooth val="0"/>
        <c:axId val="225194752"/>
        <c:axId val="225192576"/>
      </c:lineChart>
      <c:catAx>
        <c:axId val="225377280"/>
        <c:scaling>
          <c:orientation val="minMax"/>
        </c:scaling>
        <c:delete val="0"/>
        <c:axPos val="b"/>
        <c:numFmt formatCode="General" sourceLinked="1"/>
        <c:majorTickMark val="out"/>
        <c:minorTickMark val="none"/>
        <c:tickLblPos val="nextTo"/>
        <c:crossAx val="225190656"/>
        <c:crosses val="autoZero"/>
        <c:auto val="1"/>
        <c:lblAlgn val="ctr"/>
        <c:lblOffset val="100"/>
        <c:tickLblSkip val="2"/>
        <c:noMultiLvlLbl val="0"/>
      </c:catAx>
      <c:valAx>
        <c:axId val="225190656"/>
        <c:scaling>
          <c:orientation val="minMax"/>
          <c:max val="45"/>
          <c:min val="0"/>
        </c:scaling>
        <c:delete val="0"/>
        <c:axPos val="l"/>
        <c:majorGridlines/>
        <c:title>
          <c:tx>
            <c:rich>
              <a:bodyPr rot="-5400000" vert="horz"/>
              <a:lstStyle/>
              <a:p>
                <a:pPr>
                  <a:defRPr/>
                </a:pPr>
                <a:r>
                  <a:rPr lang="ja-JP" altLang="en-US"/>
                  <a:t>降水量（</a:t>
                </a:r>
                <a:r>
                  <a:rPr lang="en-US" altLang="en-US"/>
                  <a:t>mm/h</a:t>
                </a:r>
                <a:r>
                  <a:rPr lang="ja-JP" altLang="en-US"/>
                  <a:t>）</a:t>
                </a:r>
                <a:endParaRPr lang="en-US" altLang="en-US"/>
              </a:p>
            </c:rich>
          </c:tx>
          <c:overlay val="0"/>
        </c:title>
        <c:numFmt formatCode="General" sourceLinked="1"/>
        <c:majorTickMark val="out"/>
        <c:minorTickMark val="none"/>
        <c:tickLblPos val="nextTo"/>
        <c:crossAx val="225377280"/>
        <c:crosses val="autoZero"/>
        <c:crossBetween val="between"/>
      </c:valAx>
      <c:valAx>
        <c:axId val="225192576"/>
        <c:scaling>
          <c:orientation val="minMax"/>
          <c:max val="600"/>
          <c:min val="0"/>
        </c:scaling>
        <c:delete val="0"/>
        <c:axPos val="r"/>
        <c:title>
          <c:tx>
            <c:rich>
              <a:bodyPr rot="-5400000" vert="horz"/>
              <a:lstStyle/>
              <a:p>
                <a:pPr>
                  <a:defRPr/>
                </a:pPr>
                <a:r>
                  <a:rPr lang="ja-JP" altLang="en-US"/>
                  <a:t>累積降水量、冠水深さ（</a:t>
                </a:r>
                <a:r>
                  <a:rPr lang="en-US" altLang="ja-JP"/>
                  <a:t>mm</a:t>
                </a:r>
                <a:r>
                  <a:rPr lang="ja-JP" altLang="en-US"/>
                  <a:t>）</a:t>
                </a:r>
              </a:p>
            </c:rich>
          </c:tx>
          <c:overlay val="0"/>
        </c:title>
        <c:numFmt formatCode="General" sourceLinked="1"/>
        <c:majorTickMark val="out"/>
        <c:minorTickMark val="none"/>
        <c:tickLblPos val="nextTo"/>
        <c:crossAx val="225194752"/>
        <c:crosses val="max"/>
        <c:crossBetween val="between"/>
      </c:valAx>
      <c:catAx>
        <c:axId val="225194752"/>
        <c:scaling>
          <c:orientation val="minMax"/>
        </c:scaling>
        <c:delete val="1"/>
        <c:axPos val="b"/>
        <c:majorTickMark val="out"/>
        <c:minorTickMark val="none"/>
        <c:tickLblPos val="nextTo"/>
        <c:crossAx val="225192576"/>
        <c:crosses val="autoZero"/>
        <c:auto val="1"/>
        <c:lblAlgn val="ctr"/>
        <c:lblOffset val="100"/>
        <c:noMultiLvlLbl val="0"/>
      </c:catAx>
    </c:plotArea>
    <c:plotVisOnly val="1"/>
    <c:dispBlanksAs val="gap"/>
    <c:showDLblsOverMax val="0"/>
  </c:chart>
  <c:txPr>
    <a:bodyPr/>
    <a:lstStyle/>
    <a:p>
      <a:pPr>
        <a:defRPr>
          <a:latin typeface="Meiryo UI" panose="020B0604030504040204" pitchFamily="50" charset="-128"/>
          <a:ea typeface="Meiryo UI" panose="020B0604030504040204" pitchFamily="50" charset="-128"/>
          <a:cs typeface="Meiryo UI" panose="020B0604030504040204" pitchFamily="50" charset="-128"/>
        </a:defRPr>
      </a:pPr>
      <a:endParaRPr lang="ja-JP"/>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0.35622</cdr:x>
      <cdr:y>0.89215</cdr:y>
    </cdr:from>
    <cdr:to>
      <cdr:x>0.41418</cdr:x>
      <cdr:y>0.96244</cdr:y>
    </cdr:to>
    <cdr:sp macro="" textlink="">
      <cdr:nvSpPr>
        <cdr:cNvPr id="2" name="テキスト ボックス 5"/>
        <cdr:cNvSpPr txBox="1"/>
      </cdr:nvSpPr>
      <cdr:spPr>
        <a:xfrm xmlns:a="http://schemas.openxmlformats.org/drawingml/2006/main">
          <a:off x="3057089" y="2347185"/>
          <a:ext cx="497414" cy="184929"/>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8/11</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月</a:t>
          </a:r>
        </a:p>
      </cdr:txBody>
    </cdr:sp>
  </cdr:relSizeAnchor>
  <cdr:relSizeAnchor xmlns:cdr="http://schemas.openxmlformats.org/drawingml/2006/chartDrawing">
    <cdr:from>
      <cdr:x>0.5783</cdr:x>
      <cdr:y>0.88545</cdr:y>
    </cdr:from>
    <cdr:to>
      <cdr:x>0.63626</cdr:x>
      <cdr:y>0.95574</cdr:y>
    </cdr:to>
    <cdr:sp macro="" textlink="">
      <cdr:nvSpPr>
        <cdr:cNvPr id="3" name="テキスト ボックス 5"/>
        <cdr:cNvSpPr txBox="1"/>
      </cdr:nvSpPr>
      <cdr:spPr>
        <a:xfrm xmlns:a="http://schemas.openxmlformats.org/drawingml/2006/main">
          <a:off x="4963015" y="2329555"/>
          <a:ext cx="497414" cy="184929"/>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8/12</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火</a:t>
          </a:r>
        </a:p>
      </cdr:txBody>
    </cdr:sp>
  </cdr:relSizeAnchor>
  <cdr:relSizeAnchor xmlns:cdr="http://schemas.openxmlformats.org/drawingml/2006/chartDrawing">
    <cdr:from>
      <cdr:x>0.1418</cdr:x>
      <cdr:y>0.89535</cdr:y>
    </cdr:from>
    <cdr:to>
      <cdr:x>0.23273</cdr:x>
      <cdr:y>0.96421</cdr:y>
    </cdr:to>
    <cdr:sp macro="" textlink="">
      <cdr:nvSpPr>
        <cdr:cNvPr id="5" name="テキスト ボックス 5"/>
        <cdr:cNvSpPr txBox="1"/>
      </cdr:nvSpPr>
      <cdr:spPr>
        <a:xfrm xmlns:a="http://schemas.openxmlformats.org/drawingml/2006/main">
          <a:off x="1216931" y="2355603"/>
          <a:ext cx="780364" cy="18116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8/10</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日</a:t>
          </a:r>
        </a:p>
      </cdr:txBody>
    </cdr:sp>
  </cdr:relSizeAnchor>
  <cdr:relSizeAnchor xmlns:cdr="http://schemas.openxmlformats.org/drawingml/2006/chartDrawing">
    <cdr:from>
      <cdr:x>0.28857</cdr:x>
      <cdr:y>0.79837</cdr:y>
    </cdr:from>
    <cdr:to>
      <cdr:x>0.28867</cdr:x>
      <cdr:y>0.97104</cdr:y>
    </cdr:to>
    <cdr:cxnSp macro="">
      <cdr:nvCxnSpPr>
        <cdr:cNvPr id="12" name="直線コネクタ 7">
          <a:extLst xmlns:a="http://schemas.openxmlformats.org/drawingml/2006/main">
            <a:ext uri="{FF2B5EF4-FFF2-40B4-BE49-F238E27FC236}">
              <a16:creationId xmlns:a16="http://schemas.microsoft.com/office/drawing/2014/main" id="{B1B2F455-6BA7-47D5-9242-78DB77991727}"/>
            </a:ext>
          </a:extLst>
        </cdr:cNvPr>
        <cdr:cNvCxnSpPr/>
      </cdr:nvCxnSpPr>
      <cdr:spPr>
        <a:xfrm xmlns:a="http://schemas.openxmlformats.org/drawingml/2006/main" flipH="1">
          <a:off x="2476500" y="2100459"/>
          <a:ext cx="865" cy="454281"/>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0.48926</cdr:x>
      <cdr:y>0.78666</cdr:y>
    </cdr:from>
    <cdr:to>
      <cdr:x>0.48946</cdr:x>
      <cdr:y>0.9819</cdr:y>
    </cdr:to>
    <cdr:cxnSp macro="">
      <cdr:nvCxnSpPr>
        <cdr:cNvPr id="13" name="直線コネクタ 9">
          <a:extLst xmlns:a="http://schemas.openxmlformats.org/drawingml/2006/main">
            <a:ext uri="{FF2B5EF4-FFF2-40B4-BE49-F238E27FC236}">
              <a16:creationId xmlns:a16="http://schemas.microsoft.com/office/drawing/2014/main" id="{049A3DAA-8293-4C1C-8633-BC8AA6275AD8}"/>
            </a:ext>
          </a:extLst>
        </cdr:cNvPr>
        <cdr:cNvCxnSpPr/>
      </cdr:nvCxnSpPr>
      <cdr:spPr>
        <a:xfrm xmlns:a="http://schemas.openxmlformats.org/drawingml/2006/main">
          <a:off x="4198845" y="2069647"/>
          <a:ext cx="1680" cy="5136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0.69145</cdr:x>
      <cdr:y>0.78304</cdr:y>
    </cdr:from>
    <cdr:to>
      <cdr:x>0.69203</cdr:x>
      <cdr:y>0.97104</cdr:y>
    </cdr:to>
    <cdr:cxnSp macro="">
      <cdr:nvCxnSpPr>
        <cdr:cNvPr id="17" name="直線コネクタ 16">
          <a:extLst xmlns:a="http://schemas.openxmlformats.org/drawingml/2006/main">
            <a:ext uri="{FF2B5EF4-FFF2-40B4-BE49-F238E27FC236}">
              <a16:creationId xmlns:a16="http://schemas.microsoft.com/office/drawing/2014/main" id="{BBA3DC80-B247-4F02-ADF3-BFBD6451F35E}"/>
            </a:ext>
          </a:extLst>
        </cdr:cNvPr>
        <cdr:cNvCxnSpPr/>
      </cdr:nvCxnSpPr>
      <cdr:spPr>
        <a:xfrm xmlns:a="http://schemas.openxmlformats.org/drawingml/2006/main" flipH="1">
          <a:off x="5934075" y="2060122"/>
          <a:ext cx="4955" cy="49461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0.78159</cdr:x>
      <cdr:y>0.88866</cdr:y>
    </cdr:from>
    <cdr:to>
      <cdr:x>0.83955</cdr:x>
      <cdr:y>0.95895</cdr:y>
    </cdr:to>
    <cdr:sp macro="" textlink="">
      <cdr:nvSpPr>
        <cdr:cNvPr id="18" name="テキスト ボックス 5"/>
        <cdr:cNvSpPr txBox="1"/>
      </cdr:nvSpPr>
      <cdr:spPr>
        <a:xfrm xmlns:a="http://schemas.openxmlformats.org/drawingml/2006/main">
          <a:off x="6707625" y="2338001"/>
          <a:ext cx="497414" cy="184929"/>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8/13</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木</a:t>
          </a:r>
        </a:p>
      </cdr:txBody>
    </cdr:sp>
  </cdr:relSizeAnchor>
  <cdr:relSizeAnchor xmlns:cdr="http://schemas.openxmlformats.org/drawingml/2006/chartDrawing">
    <cdr:from>
      <cdr:x>0.18216</cdr:x>
      <cdr:y>0.40302</cdr:y>
    </cdr:from>
    <cdr:to>
      <cdr:x>0.36811</cdr:x>
      <cdr:y>0.51922</cdr:y>
    </cdr:to>
    <cdr:sp macro="" textlink="">
      <cdr:nvSpPr>
        <cdr:cNvPr id="9" name="テキスト ボックス 8"/>
        <cdr:cNvSpPr txBox="1"/>
      </cdr:nvSpPr>
      <cdr:spPr>
        <a:xfrm xmlns:a="http://schemas.openxmlformats.org/drawingml/2006/main">
          <a:off x="1563269" y="931096"/>
          <a:ext cx="1595886" cy="26847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冠水深さ</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148</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cdr:txBody>
    </cdr:sp>
  </cdr:relSizeAnchor>
</c:userShapes>
</file>

<file path=ppt/drawings/drawing2.xml><?xml version="1.0" encoding="utf-8"?>
<c:userShapes xmlns:c="http://schemas.openxmlformats.org/drawingml/2006/chart">
  <cdr:relSizeAnchor xmlns:cdr="http://schemas.openxmlformats.org/drawingml/2006/chartDrawing">
    <cdr:from>
      <cdr:x>0.35622</cdr:x>
      <cdr:y>0.92111</cdr:y>
    </cdr:from>
    <cdr:to>
      <cdr:x>0.42498</cdr:x>
      <cdr:y>0.99209</cdr:y>
    </cdr:to>
    <cdr:sp macro="" textlink="">
      <cdr:nvSpPr>
        <cdr:cNvPr id="2" name="テキスト ボックス 5"/>
        <cdr:cNvSpPr txBox="1"/>
      </cdr:nvSpPr>
      <cdr:spPr>
        <a:xfrm xmlns:a="http://schemas.openxmlformats.org/drawingml/2006/main">
          <a:off x="2923092" y="422010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7/6</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金</a:t>
          </a:r>
        </a:p>
      </cdr:txBody>
    </cdr:sp>
  </cdr:relSizeAnchor>
  <cdr:relSizeAnchor xmlns:cdr="http://schemas.openxmlformats.org/drawingml/2006/chartDrawing">
    <cdr:from>
      <cdr:x>0.57649</cdr:x>
      <cdr:y>0.92527</cdr:y>
    </cdr:from>
    <cdr:to>
      <cdr:x>0.64525</cdr:x>
      <cdr:y>0.99625</cdr:y>
    </cdr:to>
    <cdr:sp macro="" textlink="">
      <cdr:nvSpPr>
        <cdr:cNvPr id="3" name="テキスト ボックス 5"/>
        <cdr:cNvSpPr txBox="1"/>
      </cdr:nvSpPr>
      <cdr:spPr>
        <a:xfrm xmlns:a="http://schemas.openxmlformats.org/drawingml/2006/main">
          <a:off x="4730582" y="423915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7/7</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土</a:t>
          </a:r>
        </a:p>
      </cdr:txBody>
    </cdr:sp>
  </cdr:relSizeAnchor>
  <cdr:relSizeAnchor xmlns:cdr="http://schemas.openxmlformats.org/drawingml/2006/chartDrawing">
    <cdr:from>
      <cdr:x>0.1418</cdr:x>
      <cdr:y>0.92793</cdr:y>
    </cdr:from>
    <cdr:to>
      <cdr:x>0.2248</cdr:x>
      <cdr:y>0.99679</cdr:y>
    </cdr:to>
    <cdr:sp macro="" textlink="">
      <cdr:nvSpPr>
        <cdr:cNvPr id="5" name="テキスト ボックス 5"/>
        <cdr:cNvSpPr txBox="1"/>
      </cdr:nvSpPr>
      <cdr:spPr>
        <a:xfrm xmlns:a="http://schemas.openxmlformats.org/drawingml/2006/main">
          <a:off x="1566652" y="4382651"/>
          <a:ext cx="916982" cy="32521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'18</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7/5</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木</a:t>
          </a:r>
        </a:p>
      </cdr:txBody>
    </cdr:sp>
  </cdr:relSizeAnchor>
  <cdr:relSizeAnchor xmlns:cdr="http://schemas.openxmlformats.org/drawingml/2006/chartDrawing">
    <cdr:from>
      <cdr:x>0.27303</cdr:x>
      <cdr:y>0.90195</cdr:y>
    </cdr:from>
    <cdr:to>
      <cdr:x>0.27303</cdr:x>
      <cdr:y>0.9865</cdr:y>
    </cdr:to>
    <cdr:cxnSp macro="">
      <cdr:nvCxnSpPr>
        <cdr:cNvPr id="12" name="直線コネクタ 7">
          <a:extLst xmlns:a="http://schemas.openxmlformats.org/drawingml/2006/main">
            <a:ext uri="{FF2B5EF4-FFF2-40B4-BE49-F238E27FC236}">
              <a16:creationId xmlns:a16="http://schemas.microsoft.com/office/drawing/2014/main" id="{61D7EB9E-0A1A-4ABC-AA4D-58F79B7A981C}"/>
            </a:ext>
          </a:extLst>
        </cdr:cNvPr>
        <cdr:cNvCxnSpPr/>
      </cdr:nvCxnSpPr>
      <cdr:spPr>
        <a:xfrm xmlns:a="http://schemas.openxmlformats.org/drawingml/2006/main">
          <a:off x="2271698" y="2328377"/>
          <a:ext cx="0" cy="218266"/>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0.47737</cdr:x>
      <cdr:y>0.90195</cdr:y>
    </cdr:from>
    <cdr:to>
      <cdr:x>0.47737</cdr:x>
      <cdr:y>0.9865</cdr:y>
    </cdr:to>
    <cdr:cxnSp macro="">
      <cdr:nvCxnSpPr>
        <cdr:cNvPr id="13" name="直線コネクタ 9">
          <a:extLst xmlns:a="http://schemas.openxmlformats.org/drawingml/2006/main">
            <a:ext uri="{FF2B5EF4-FFF2-40B4-BE49-F238E27FC236}">
              <a16:creationId xmlns:a16="http://schemas.microsoft.com/office/drawing/2014/main" id="{8F52FA60-806F-428A-B72F-86146EBD46B9}"/>
            </a:ext>
          </a:extLst>
        </cdr:cNvPr>
        <cdr:cNvCxnSpPr/>
      </cdr:nvCxnSpPr>
      <cdr:spPr>
        <a:xfrm xmlns:a="http://schemas.openxmlformats.org/drawingml/2006/main">
          <a:off x="3971944" y="2328378"/>
          <a:ext cx="0" cy="218265"/>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0.6924</cdr:x>
      <cdr:y>0.90195</cdr:y>
    </cdr:from>
    <cdr:to>
      <cdr:x>0.6924</cdr:x>
      <cdr:y>0.9865</cdr:y>
    </cdr:to>
    <cdr:cxnSp macro="">
      <cdr:nvCxnSpPr>
        <cdr:cNvPr id="17" name="直線コネクタ 16">
          <a:extLst xmlns:a="http://schemas.openxmlformats.org/drawingml/2006/main">
            <a:ext uri="{FF2B5EF4-FFF2-40B4-BE49-F238E27FC236}">
              <a16:creationId xmlns:a16="http://schemas.microsoft.com/office/drawing/2014/main" id="{F7103AB8-C691-44B8-922B-802C59D14AF9}"/>
            </a:ext>
          </a:extLst>
        </cdr:cNvPr>
        <cdr:cNvCxnSpPr/>
      </cdr:nvCxnSpPr>
      <cdr:spPr>
        <a:xfrm xmlns:a="http://schemas.openxmlformats.org/drawingml/2006/main">
          <a:off x="5761096" y="2328378"/>
          <a:ext cx="0" cy="218265"/>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0.78159</cdr:x>
      <cdr:y>0.92486</cdr:y>
    </cdr:from>
    <cdr:to>
      <cdr:x>0.85035</cdr:x>
      <cdr:y>0.99584</cdr:y>
    </cdr:to>
    <cdr:sp macro="" textlink="">
      <cdr:nvSpPr>
        <cdr:cNvPr id="18" name="テキスト ボックス 5"/>
        <cdr:cNvSpPr txBox="1"/>
      </cdr:nvSpPr>
      <cdr:spPr>
        <a:xfrm xmlns:a="http://schemas.openxmlformats.org/drawingml/2006/main">
          <a:off x="6413526" y="4237278"/>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7/8</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日</a:t>
          </a:r>
        </a:p>
      </cdr:txBody>
    </cdr:sp>
  </cdr:relSizeAnchor>
  <cdr:relSizeAnchor xmlns:cdr="http://schemas.openxmlformats.org/drawingml/2006/chartDrawing">
    <cdr:from>
      <cdr:x>0.40246</cdr:x>
      <cdr:y>0.04439</cdr:y>
    </cdr:from>
    <cdr:to>
      <cdr:x>0.62173</cdr:x>
      <cdr:y>0.16539</cdr:y>
    </cdr:to>
    <cdr:sp macro="" textlink="">
      <cdr:nvSpPr>
        <cdr:cNvPr id="9" name="四角形吹き出し 8"/>
        <cdr:cNvSpPr/>
      </cdr:nvSpPr>
      <cdr:spPr>
        <a:xfrm xmlns:a="http://schemas.openxmlformats.org/drawingml/2006/main">
          <a:off x="3348660" y="114583"/>
          <a:ext cx="1824418" cy="312361"/>
        </a:xfrm>
        <a:prstGeom xmlns:a="http://schemas.openxmlformats.org/drawingml/2006/main" prst="wedgeRectCallout">
          <a:avLst>
            <a:gd name="adj1" fmla="val -46753"/>
            <a:gd name="adj2" fmla="val -25424"/>
          </a:avLst>
        </a:prstGeom>
        <a:noFill xmlns:a="http://schemas.openxmlformats.org/drawingml/2006/main"/>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r>
            <a:rPr kumimoji="1"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冠水深さ</a:t>
          </a:r>
          <a:r>
            <a:rPr kumimoji="1"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383</a:t>
          </a:r>
          <a:r>
            <a:rPr kumimoji="1"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ｍｍ</a:t>
          </a:r>
        </a:p>
      </cdr:txBody>
    </cdr:sp>
  </cdr:relSizeAnchor>
  <cdr:relSizeAnchor xmlns:cdr="http://schemas.openxmlformats.org/drawingml/2006/chartDrawing">
    <cdr:from>
      <cdr:x>0.69351</cdr:x>
      <cdr:y>0.04822</cdr:y>
    </cdr:from>
    <cdr:to>
      <cdr:x>0.91898</cdr:x>
      <cdr:y>0.16922</cdr:y>
    </cdr:to>
    <cdr:sp macro="" textlink="">
      <cdr:nvSpPr>
        <cdr:cNvPr id="11" name="四角形吹き出し 10"/>
        <cdr:cNvSpPr/>
      </cdr:nvSpPr>
      <cdr:spPr>
        <a:xfrm xmlns:a="http://schemas.openxmlformats.org/drawingml/2006/main">
          <a:off x="6051104" y="124478"/>
          <a:ext cx="1967360" cy="312361"/>
        </a:xfrm>
        <a:prstGeom xmlns:a="http://schemas.openxmlformats.org/drawingml/2006/main" prst="wedgeRectCallout">
          <a:avLst>
            <a:gd name="adj1" fmla="val -46753"/>
            <a:gd name="adj2" fmla="val -25424"/>
          </a:avLst>
        </a:prstGeom>
        <a:noFill xmlns:a="http://schemas.openxmlformats.org/drawingml/2006/main"/>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r>
            <a:rPr kumimoji="1" lang="ja-JP" altLang="en-US" sz="1400"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累積降雨量</a:t>
          </a:r>
          <a:r>
            <a:rPr kumimoji="1" lang="en-US" altLang="ja-JP" sz="1400"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379</a:t>
          </a:r>
          <a:r>
            <a:rPr kumimoji="1" lang="ja-JP" altLang="en-US" sz="1400"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ｍｍ</a:t>
          </a:r>
        </a:p>
      </cdr:txBody>
    </cdr:sp>
  </cdr:relSizeAnchor>
  <cdr:relSizeAnchor xmlns:cdr="http://schemas.openxmlformats.org/drawingml/2006/chartDrawing">
    <cdr:from>
      <cdr:x>0.96612</cdr:x>
      <cdr:y>0.0596</cdr:y>
    </cdr:from>
    <cdr:to>
      <cdr:x>1</cdr:x>
      <cdr:y>0.87822</cdr:y>
    </cdr:to>
    <cdr:sp macro="" textlink="">
      <cdr:nvSpPr>
        <cdr:cNvPr id="14" name="テキスト ボックス 8"/>
        <cdr:cNvSpPr txBox="1"/>
      </cdr:nvSpPr>
      <cdr:spPr>
        <a:xfrm xmlns:a="http://schemas.openxmlformats.org/drawingml/2006/main" rot="16200000">
          <a:off x="6980191" y="1071989"/>
          <a:ext cx="2113265" cy="277003"/>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ja-JP"/>
          </a:defPPr>
          <a:lvl1pPr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1pPr>
          <a:lvl2pPr marL="4572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2pPr>
          <a:lvl3pPr marL="9144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3pPr>
          <a:lvl4pPr marL="13716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4pPr>
          <a:lvl5pPr marL="1828800" algn="l" rtl="0" fontAlgn="base">
            <a:spcBef>
              <a:spcPct val="0"/>
            </a:spcBef>
            <a:spcAft>
              <a:spcPct val="0"/>
            </a:spcAft>
            <a:buFont typeface="Arial" charset="0"/>
            <a:defRPr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ern="1200">
              <a:solidFill>
                <a:schemeClr val="tx1"/>
              </a:solidFill>
              <a:latin typeface="Calibri" pitchFamily="34" charset="0"/>
              <a:ea typeface="ＭＳ Ｐゴシック" pitchFamily="50" charset="-128"/>
              <a:cs typeface="+mn-cs"/>
            </a:defRPr>
          </a:lvl6pPr>
          <a:lvl7pPr marL="2743200" algn="l" defTabSz="914400" rtl="0" eaLnBrk="1" latinLnBrk="0" hangingPunct="1">
            <a:defRPr kern="1200">
              <a:solidFill>
                <a:schemeClr val="tx1"/>
              </a:solidFill>
              <a:latin typeface="Calibri" pitchFamily="34" charset="0"/>
              <a:ea typeface="ＭＳ Ｐゴシック" pitchFamily="50" charset="-128"/>
              <a:cs typeface="+mn-cs"/>
            </a:defRPr>
          </a:lvl7pPr>
          <a:lvl8pPr marL="3200400" algn="l" defTabSz="914400" rtl="0" eaLnBrk="1" latinLnBrk="0" hangingPunct="1">
            <a:defRPr kern="1200">
              <a:solidFill>
                <a:schemeClr val="tx1"/>
              </a:solidFill>
              <a:latin typeface="Calibri" pitchFamily="34" charset="0"/>
              <a:ea typeface="ＭＳ Ｐゴシック" pitchFamily="50" charset="-128"/>
              <a:cs typeface="+mn-cs"/>
            </a:defRPr>
          </a:lvl8pPr>
          <a:lvl9pPr marL="3657600" algn="l" defTabSz="914400" rtl="0" eaLnBrk="1" latinLnBrk="0" hangingPunct="1">
            <a:defRPr kern="1200">
              <a:solidFill>
                <a:schemeClr val="tx1"/>
              </a:solidFill>
              <a:latin typeface="Calibri" pitchFamily="34" charset="0"/>
              <a:ea typeface="ＭＳ Ｐゴシック" pitchFamily="50" charset="-128"/>
              <a:cs typeface="+mn-cs"/>
            </a:defRPr>
          </a:lvl9pPr>
        </a:lstStyle>
        <a:p xmlns:a="http://schemas.openxmlformats.org/drawingml/2006/main">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累計降水量、冠水深さ</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0.35622</cdr:x>
      <cdr:y>0.92111</cdr:y>
    </cdr:from>
    <cdr:to>
      <cdr:x>0.42498</cdr:x>
      <cdr:y>0.99209</cdr:y>
    </cdr:to>
    <cdr:sp macro="" textlink="">
      <cdr:nvSpPr>
        <cdr:cNvPr id="2" name="テキスト ボックス 5"/>
        <cdr:cNvSpPr txBox="1"/>
      </cdr:nvSpPr>
      <cdr:spPr>
        <a:xfrm xmlns:a="http://schemas.openxmlformats.org/drawingml/2006/main">
          <a:off x="2923092" y="422010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7/6</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金</a:t>
          </a:r>
        </a:p>
      </cdr:txBody>
    </cdr:sp>
  </cdr:relSizeAnchor>
  <cdr:relSizeAnchor xmlns:cdr="http://schemas.openxmlformats.org/drawingml/2006/chartDrawing">
    <cdr:from>
      <cdr:x>0.57649</cdr:x>
      <cdr:y>0.92527</cdr:y>
    </cdr:from>
    <cdr:to>
      <cdr:x>0.64525</cdr:x>
      <cdr:y>0.99625</cdr:y>
    </cdr:to>
    <cdr:sp macro="" textlink="">
      <cdr:nvSpPr>
        <cdr:cNvPr id="3" name="テキスト ボックス 5"/>
        <cdr:cNvSpPr txBox="1"/>
      </cdr:nvSpPr>
      <cdr:spPr>
        <a:xfrm xmlns:a="http://schemas.openxmlformats.org/drawingml/2006/main">
          <a:off x="4730582" y="423915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7/7</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土</a:t>
          </a:r>
        </a:p>
      </cdr:txBody>
    </cdr:sp>
  </cdr:relSizeAnchor>
  <cdr:relSizeAnchor xmlns:cdr="http://schemas.openxmlformats.org/drawingml/2006/chartDrawing">
    <cdr:from>
      <cdr:x>0.1418</cdr:x>
      <cdr:y>0.92793</cdr:y>
    </cdr:from>
    <cdr:to>
      <cdr:x>0.2248</cdr:x>
      <cdr:y>0.99679</cdr:y>
    </cdr:to>
    <cdr:sp macro="" textlink="">
      <cdr:nvSpPr>
        <cdr:cNvPr id="5" name="テキスト ボックス 5"/>
        <cdr:cNvSpPr txBox="1"/>
      </cdr:nvSpPr>
      <cdr:spPr>
        <a:xfrm xmlns:a="http://schemas.openxmlformats.org/drawingml/2006/main">
          <a:off x="1566652" y="4382651"/>
          <a:ext cx="916982" cy="32521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'18</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7/5</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木</a:t>
          </a:r>
        </a:p>
      </cdr:txBody>
    </cdr:sp>
  </cdr:relSizeAnchor>
  <cdr:relSizeAnchor xmlns:cdr="http://schemas.openxmlformats.org/drawingml/2006/chartDrawing">
    <cdr:from>
      <cdr:x>0.27979</cdr:x>
      <cdr:y>0.9106</cdr:y>
    </cdr:from>
    <cdr:to>
      <cdr:x>0.27979</cdr:x>
      <cdr:y>0.99515</cdr:y>
    </cdr:to>
    <cdr:cxnSp macro="">
      <cdr:nvCxnSpPr>
        <cdr:cNvPr id="12" name="直線コネクタ 7">
          <a:extLst xmlns:a="http://schemas.openxmlformats.org/drawingml/2006/main">
            <a:ext uri="{FF2B5EF4-FFF2-40B4-BE49-F238E27FC236}">
              <a16:creationId xmlns:a16="http://schemas.microsoft.com/office/drawing/2014/main" id="{96D42045-0FB2-4A79-8A73-343C7ABBC478}"/>
            </a:ext>
          </a:extLst>
        </cdr:cNvPr>
        <cdr:cNvCxnSpPr/>
      </cdr:nvCxnSpPr>
      <cdr:spPr>
        <a:xfrm xmlns:a="http://schemas.openxmlformats.org/drawingml/2006/main">
          <a:off x="2295924" y="4171946"/>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0.49259</cdr:x>
      <cdr:y>0.91337</cdr:y>
    </cdr:from>
    <cdr:to>
      <cdr:x>0.49259</cdr:x>
      <cdr:y>0.99792</cdr:y>
    </cdr:to>
    <cdr:cxnSp macro="">
      <cdr:nvCxnSpPr>
        <cdr:cNvPr id="13" name="直線コネクタ 9">
          <a:extLst xmlns:a="http://schemas.openxmlformats.org/drawingml/2006/main">
            <a:ext uri="{FF2B5EF4-FFF2-40B4-BE49-F238E27FC236}">
              <a16:creationId xmlns:a16="http://schemas.microsoft.com/office/drawing/2014/main" id="{ECB736C9-01B4-4CB0-B68D-B37DA6508A28}"/>
            </a:ext>
          </a:extLst>
        </cdr:cNvPr>
        <cdr:cNvCxnSpPr/>
      </cdr:nvCxnSpPr>
      <cdr:spPr>
        <a:xfrm xmlns:a="http://schemas.openxmlformats.org/drawingml/2006/main">
          <a:off x="4042104" y="4184632"/>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0.70424</cdr:x>
      <cdr:y>0.91337</cdr:y>
    </cdr:from>
    <cdr:to>
      <cdr:x>0.70424</cdr:x>
      <cdr:y>0.99792</cdr:y>
    </cdr:to>
    <cdr:cxnSp macro="">
      <cdr:nvCxnSpPr>
        <cdr:cNvPr id="17" name="直線コネクタ 16">
          <a:extLst xmlns:a="http://schemas.openxmlformats.org/drawingml/2006/main">
            <a:ext uri="{FF2B5EF4-FFF2-40B4-BE49-F238E27FC236}">
              <a16:creationId xmlns:a16="http://schemas.microsoft.com/office/drawing/2014/main" id="{FA6E07E0-CAED-426D-A18A-66DF2D66F45B}"/>
            </a:ext>
          </a:extLst>
        </cdr:cNvPr>
        <cdr:cNvCxnSpPr/>
      </cdr:nvCxnSpPr>
      <cdr:spPr>
        <a:xfrm xmlns:a="http://schemas.openxmlformats.org/drawingml/2006/main">
          <a:off x="5778853" y="4184632"/>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0.78159</cdr:x>
      <cdr:y>0.92486</cdr:y>
    </cdr:from>
    <cdr:to>
      <cdr:x>0.85035</cdr:x>
      <cdr:y>0.99584</cdr:y>
    </cdr:to>
    <cdr:sp macro="" textlink="">
      <cdr:nvSpPr>
        <cdr:cNvPr id="18" name="テキスト ボックス 5"/>
        <cdr:cNvSpPr txBox="1"/>
      </cdr:nvSpPr>
      <cdr:spPr>
        <a:xfrm xmlns:a="http://schemas.openxmlformats.org/drawingml/2006/main">
          <a:off x="6413526" y="4237278"/>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a:latin typeface="Meiryo UI" panose="020B0604030504040204" pitchFamily="50" charset="-128"/>
              <a:ea typeface="Meiryo UI" panose="020B0604030504040204" pitchFamily="50" charset="-128"/>
              <a:cs typeface="Meiryo UI" panose="020B0604030504040204" pitchFamily="50" charset="-128"/>
            </a:rPr>
            <a:t>7/8</a:t>
          </a:r>
          <a:r>
            <a:rPr kumimoji="1" lang="ja-JP" altLang="en-US" sz="1100">
              <a:latin typeface="Meiryo UI" panose="020B0604030504040204" pitchFamily="50" charset="-128"/>
              <a:ea typeface="Meiryo UI" panose="020B0604030504040204" pitchFamily="50" charset="-128"/>
              <a:cs typeface="Meiryo UI" panose="020B0604030504040204" pitchFamily="50" charset="-128"/>
            </a:rPr>
            <a:t>日</a:t>
          </a:r>
        </a:p>
      </cdr:txBody>
    </cdr:sp>
  </cdr:relSizeAnchor>
  <cdr:relSizeAnchor xmlns:cdr="http://schemas.openxmlformats.org/drawingml/2006/chartDrawing">
    <cdr:from>
      <cdr:x>0.37676</cdr:x>
      <cdr:y>0.02712</cdr:y>
    </cdr:from>
    <cdr:to>
      <cdr:x>0.56511</cdr:x>
      <cdr:y>0.14812</cdr:y>
    </cdr:to>
    <cdr:sp macro="" textlink="">
      <cdr:nvSpPr>
        <cdr:cNvPr id="9" name="四角形吹き出し 8"/>
        <cdr:cNvSpPr/>
      </cdr:nvSpPr>
      <cdr:spPr>
        <a:xfrm xmlns:a="http://schemas.openxmlformats.org/drawingml/2006/main">
          <a:off x="3287377" y="70013"/>
          <a:ext cx="1643425" cy="312361"/>
        </a:xfrm>
        <a:prstGeom xmlns:a="http://schemas.openxmlformats.org/drawingml/2006/main" prst="wedgeRectCallout">
          <a:avLst>
            <a:gd name="adj1" fmla="val -46753"/>
            <a:gd name="adj2" fmla="val -25424"/>
          </a:avLst>
        </a:prstGeom>
        <a:noFill xmlns:a="http://schemas.openxmlformats.org/drawingml/2006/main"/>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r>
            <a:rPr kumimoji="1"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冠水深さ</a:t>
          </a:r>
          <a:r>
            <a:rPr kumimoji="1" lang="en-US" altLang="ja-JP"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383</a:t>
          </a:r>
          <a:r>
            <a:rPr kumimoji="1"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ｍｍ</a:t>
          </a:r>
        </a:p>
      </cdr:txBody>
    </cdr:sp>
  </cdr:relSizeAnchor>
  <cdr:relSizeAnchor xmlns:cdr="http://schemas.openxmlformats.org/drawingml/2006/chartDrawing">
    <cdr:from>
      <cdr:x>0.41824</cdr:x>
      <cdr:y>0.50312</cdr:y>
    </cdr:from>
    <cdr:to>
      <cdr:x>0.66263</cdr:x>
      <cdr:y>0.62412</cdr:y>
    </cdr:to>
    <cdr:sp macro="" textlink="">
      <cdr:nvSpPr>
        <cdr:cNvPr id="10" name="四角形吹き出し 9"/>
        <cdr:cNvSpPr/>
      </cdr:nvSpPr>
      <cdr:spPr>
        <a:xfrm xmlns:a="http://schemas.openxmlformats.org/drawingml/2006/main">
          <a:off x="3649327" y="1298810"/>
          <a:ext cx="2132349" cy="312361"/>
        </a:xfrm>
        <a:prstGeom xmlns:a="http://schemas.openxmlformats.org/drawingml/2006/main" prst="wedgeRectCallout">
          <a:avLst>
            <a:gd name="adj1" fmla="val -46753"/>
            <a:gd name="adj2" fmla="val -25424"/>
          </a:avLst>
        </a:prstGeom>
        <a:noFill xmlns:a="http://schemas.openxmlformats.org/drawingml/2006/main"/>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r>
            <a:rPr kumimoji="1" lang="ja-JP" altLang="en-US" sz="18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冠水深さ</a:t>
          </a:r>
          <a:r>
            <a:rPr kumimoji="1" lang="en-US" altLang="ja-JP" sz="18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149</a:t>
          </a:r>
          <a:r>
            <a:rPr kumimoji="1" lang="ja-JP" altLang="en-US" sz="18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ｍｍ</a:t>
          </a:r>
        </a:p>
      </cdr:txBody>
    </cdr:sp>
  </cdr:relSizeAnchor>
  <cdr:relSizeAnchor xmlns:cdr="http://schemas.openxmlformats.org/drawingml/2006/chartDrawing">
    <cdr:from>
      <cdr:x>0.9664</cdr:x>
      <cdr:y>0.09381</cdr:y>
    </cdr:from>
    <cdr:to>
      <cdr:x>0.99871</cdr:x>
      <cdr:y>0.91243</cdr:y>
    </cdr:to>
    <cdr:sp macro="" textlink="">
      <cdr:nvSpPr>
        <cdr:cNvPr id="11" name="テキスト ボックス 8"/>
        <cdr:cNvSpPr txBox="1"/>
      </cdr:nvSpPr>
      <cdr:spPr>
        <a:xfrm xmlns:a="http://schemas.openxmlformats.org/drawingml/2006/main" rot="16200000">
          <a:off x="7516534" y="1157862"/>
          <a:ext cx="2113268" cy="281896"/>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累計降水量、冠水深さ</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0.35622</cdr:x>
      <cdr:y>0.92111</cdr:y>
    </cdr:from>
    <cdr:to>
      <cdr:x>0.42498</cdr:x>
      <cdr:y>0.99209</cdr:y>
    </cdr:to>
    <cdr:sp macro="" textlink="">
      <cdr:nvSpPr>
        <cdr:cNvPr id="2" name="テキスト ボックス 5"/>
        <cdr:cNvSpPr txBox="1"/>
      </cdr:nvSpPr>
      <cdr:spPr>
        <a:xfrm xmlns:a="http://schemas.openxmlformats.org/drawingml/2006/main">
          <a:off x="2923092" y="422010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7/6</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金</a:t>
          </a:r>
        </a:p>
      </cdr:txBody>
    </cdr:sp>
  </cdr:relSizeAnchor>
  <cdr:relSizeAnchor xmlns:cdr="http://schemas.openxmlformats.org/drawingml/2006/chartDrawing">
    <cdr:from>
      <cdr:x>0.57649</cdr:x>
      <cdr:y>0.92527</cdr:y>
    </cdr:from>
    <cdr:to>
      <cdr:x>0.64525</cdr:x>
      <cdr:y>0.99625</cdr:y>
    </cdr:to>
    <cdr:sp macro="" textlink="">
      <cdr:nvSpPr>
        <cdr:cNvPr id="3" name="テキスト ボックス 5"/>
        <cdr:cNvSpPr txBox="1"/>
      </cdr:nvSpPr>
      <cdr:spPr>
        <a:xfrm xmlns:a="http://schemas.openxmlformats.org/drawingml/2006/main">
          <a:off x="4730582" y="4239152"/>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7/7</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土</a:t>
          </a:r>
        </a:p>
      </cdr:txBody>
    </cdr:sp>
  </cdr:relSizeAnchor>
  <cdr:relSizeAnchor xmlns:cdr="http://schemas.openxmlformats.org/drawingml/2006/chartDrawing">
    <cdr:from>
      <cdr:x>0.1418</cdr:x>
      <cdr:y>0.92793</cdr:y>
    </cdr:from>
    <cdr:to>
      <cdr:x>0.2248</cdr:x>
      <cdr:y>0.99679</cdr:y>
    </cdr:to>
    <cdr:sp macro="" textlink="">
      <cdr:nvSpPr>
        <cdr:cNvPr id="5" name="テキスト ボックス 5"/>
        <cdr:cNvSpPr txBox="1"/>
      </cdr:nvSpPr>
      <cdr:spPr>
        <a:xfrm xmlns:a="http://schemas.openxmlformats.org/drawingml/2006/main">
          <a:off x="1566652" y="4382651"/>
          <a:ext cx="916982" cy="32521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'18</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7/5</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木</a:t>
          </a:r>
        </a:p>
      </cdr:txBody>
    </cdr:sp>
  </cdr:relSizeAnchor>
  <cdr:relSizeAnchor xmlns:cdr="http://schemas.openxmlformats.org/drawingml/2006/chartDrawing">
    <cdr:from>
      <cdr:x>0.27979</cdr:x>
      <cdr:y>0.9106</cdr:y>
    </cdr:from>
    <cdr:to>
      <cdr:x>0.27979</cdr:x>
      <cdr:y>0.99515</cdr:y>
    </cdr:to>
    <cdr:cxnSp macro="">
      <cdr:nvCxnSpPr>
        <cdr:cNvPr id="12" name="直線コネクタ 7">
          <a:extLst xmlns:a="http://schemas.openxmlformats.org/drawingml/2006/main">
            <a:ext uri="{FF2B5EF4-FFF2-40B4-BE49-F238E27FC236}">
              <a16:creationId xmlns:a16="http://schemas.microsoft.com/office/drawing/2014/main" id="{9314A7F9-475D-4B45-84CC-294711E2D848}"/>
            </a:ext>
          </a:extLst>
        </cdr:cNvPr>
        <cdr:cNvCxnSpPr/>
      </cdr:nvCxnSpPr>
      <cdr:spPr>
        <a:xfrm xmlns:a="http://schemas.openxmlformats.org/drawingml/2006/main">
          <a:off x="2295924" y="4171946"/>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0.49259</cdr:x>
      <cdr:y>0.91337</cdr:y>
    </cdr:from>
    <cdr:to>
      <cdr:x>0.49259</cdr:x>
      <cdr:y>0.99792</cdr:y>
    </cdr:to>
    <cdr:cxnSp macro="">
      <cdr:nvCxnSpPr>
        <cdr:cNvPr id="13" name="直線コネクタ 9">
          <a:extLst xmlns:a="http://schemas.openxmlformats.org/drawingml/2006/main">
            <a:ext uri="{FF2B5EF4-FFF2-40B4-BE49-F238E27FC236}">
              <a16:creationId xmlns:a16="http://schemas.microsoft.com/office/drawing/2014/main" id="{69B7FEE8-4D7E-4A7B-94A7-1DD739AF1B01}"/>
            </a:ext>
          </a:extLst>
        </cdr:cNvPr>
        <cdr:cNvCxnSpPr/>
      </cdr:nvCxnSpPr>
      <cdr:spPr>
        <a:xfrm xmlns:a="http://schemas.openxmlformats.org/drawingml/2006/main">
          <a:off x="4042104" y="4184632"/>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0.70424</cdr:x>
      <cdr:y>0.91337</cdr:y>
    </cdr:from>
    <cdr:to>
      <cdr:x>0.70424</cdr:x>
      <cdr:y>0.99792</cdr:y>
    </cdr:to>
    <cdr:cxnSp macro="">
      <cdr:nvCxnSpPr>
        <cdr:cNvPr id="17" name="直線コネクタ 16">
          <a:extLst xmlns:a="http://schemas.openxmlformats.org/drawingml/2006/main">
            <a:ext uri="{FF2B5EF4-FFF2-40B4-BE49-F238E27FC236}">
              <a16:creationId xmlns:a16="http://schemas.microsoft.com/office/drawing/2014/main" id="{B12D6C79-1014-4B4D-848E-36B13E144179}"/>
            </a:ext>
          </a:extLst>
        </cdr:cNvPr>
        <cdr:cNvCxnSpPr/>
      </cdr:nvCxnSpPr>
      <cdr:spPr>
        <a:xfrm xmlns:a="http://schemas.openxmlformats.org/drawingml/2006/main">
          <a:off x="5778853" y="4184632"/>
          <a:ext cx="0" cy="387368"/>
        </a:xfrm>
        <a:prstGeom xmlns:a="http://schemas.openxmlformats.org/drawingml/2006/main" prst="line">
          <a:avLst/>
        </a:prstGeom>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0.78159</cdr:x>
      <cdr:y>0.92486</cdr:y>
    </cdr:from>
    <cdr:to>
      <cdr:x>0.85035</cdr:x>
      <cdr:y>0.99584</cdr:y>
    </cdr:to>
    <cdr:sp macro="" textlink="">
      <cdr:nvSpPr>
        <cdr:cNvPr id="18" name="テキスト ボックス 5"/>
        <cdr:cNvSpPr txBox="1"/>
      </cdr:nvSpPr>
      <cdr:spPr>
        <a:xfrm xmlns:a="http://schemas.openxmlformats.org/drawingml/2006/main">
          <a:off x="6413526" y="4237278"/>
          <a:ext cx="564230" cy="32519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kumimoji="1" lang="en-US" altLang="ja-JP" sz="1100" dirty="0">
              <a:latin typeface="Meiryo UI" panose="020B0604030504040204" pitchFamily="50" charset="-128"/>
              <a:ea typeface="Meiryo UI" panose="020B0604030504040204" pitchFamily="50" charset="-128"/>
              <a:cs typeface="Meiryo UI" panose="020B0604030504040204" pitchFamily="50" charset="-128"/>
            </a:rPr>
            <a:t>7/8</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日</a:t>
          </a:r>
        </a:p>
      </cdr:txBody>
    </cdr:sp>
  </cdr:relSizeAnchor>
  <cdr:relSizeAnchor xmlns:cdr="http://schemas.openxmlformats.org/drawingml/2006/chartDrawing">
    <cdr:from>
      <cdr:x>0.4284</cdr:x>
      <cdr:y>0.57832</cdr:y>
    </cdr:from>
    <cdr:to>
      <cdr:x>0.63457</cdr:x>
      <cdr:y>0.74617</cdr:y>
    </cdr:to>
    <cdr:sp macro="" textlink="">
      <cdr:nvSpPr>
        <cdr:cNvPr id="11" name="四角形吹き出し 10"/>
        <cdr:cNvSpPr/>
      </cdr:nvSpPr>
      <cdr:spPr>
        <a:xfrm xmlns:a="http://schemas.openxmlformats.org/drawingml/2006/main">
          <a:off x="3779228" y="1403355"/>
          <a:ext cx="1818705" cy="407308"/>
        </a:xfrm>
        <a:prstGeom xmlns:a="http://schemas.openxmlformats.org/drawingml/2006/main" prst="wedgeRectCallout">
          <a:avLst>
            <a:gd name="adj1" fmla="val -63988"/>
            <a:gd name="adj2" fmla="val 51149"/>
          </a:avLst>
        </a:prstGeom>
        <a:noFill xmlns:a="http://schemas.openxmlformats.org/drawingml/2006/main"/>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r>
            <a:rPr kumimoji="1" lang="ja-JP" altLang="en-US" sz="14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冠水深さ</a:t>
          </a:r>
          <a:r>
            <a:rPr kumimoji="1" lang="en-US" altLang="ja-JP" sz="14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150</a:t>
          </a:r>
          <a:r>
            <a:rPr kumimoji="1" lang="ja-JP" altLang="en-US" sz="14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ｍｍ</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50263" cy="4968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sz="quarter" idx="1"/>
          </p:nvPr>
        </p:nvSpPr>
        <p:spPr>
          <a:xfrm>
            <a:off x="3855349" y="0"/>
            <a:ext cx="2950263" cy="496888"/>
          </a:xfrm>
          <a:prstGeom prst="rect">
            <a:avLst/>
          </a:prstGeom>
        </p:spPr>
        <p:txBody>
          <a:bodyPr vert="horz" lIns="91440" tIns="45720" rIns="91440" bIns="45720" rtlCol="0"/>
          <a:lstStyle>
            <a:lvl1pPr algn="r">
              <a:defRPr sz="1200"/>
            </a:lvl1pPr>
          </a:lstStyle>
          <a:p>
            <a:fld id="{59F4E22E-09A7-470A-BB20-E84EE78EE0E3}" type="datetimeFigureOut">
              <a:rPr kumimoji="1" lang="ja-JP" altLang="en-US" smtClean="0"/>
              <a:t>2019/5/21</a:t>
            </a:fld>
            <a:endParaRPr kumimoji="1" lang="ja-JP" altLang="en-US" dirty="0"/>
          </a:p>
        </p:txBody>
      </p:sp>
      <p:sp>
        <p:nvSpPr>
          <p:cNvPr id="4" name="フッター プレースホルダー 3"/>
          <p:cNvSpPr>
            <a:spLocks noGrp="1"/>
          </p:cNvSpPr>
          <p:nvPr>
            <p:ph type="ftr" sz="quarter" idx="2"/>
          </p:nvPr>
        </p:nvSpPr>
        <p:spPr>
          <a:xfrm>
            <a:off x="0" y="9440864"/>
            <a:ext cx="2950263" cy="496887"/>
          </a:xfrm>
          <a:prstGeom prst="rect">
            <a:avLst/>
          </a:prstGeom>
        </p:spPr>
        <p:txBody>
          <a:bodyPr vert="horz" lIns="91440" tIns="45720" rIns="91440" bIns="45720" rtlCol="0" anchor="b"/>
          <a:lstStyle>
            <a:lvl1pPr algn="l">
              <a:defRPr sz="1200"/>
            </a:lvl1pPr>
          </a:lstStyle>
          <a:p>
            <a:endParaRPr kumimoji="1" lang="ja-JP" altLang="en-US" dirty="0"/>
          </a:p>
        </p:txBody>
      </p:sp>
      <p:sp>
        <p:nvSpPr>
          <p:cNvPr id="5" name="スライド番号プレースホルダー 4"/>
          <p:cNvSpPr>
            <a:spLocks noGrp="1"/>
          </p:cNvSpPr>
          <p:nvPr>
            <p:ph type="sldNum" sz="quarter" idx="3"/>
          </p:nvPr>
        </p:nvSpPr>
        <p:spPr>
          <a:xfrm>
            <a:off x="3855349" y="9440864"/>
            <a:ext cx="2950263" cy="496887"/>
          </a:xfrm>
          <a:prstGeom prst="rect">
            <a:avLst/>
          </a:prstGeom>
        </p:spPr>
        <p:txBody>
          <a:bodyPr vert="horz" lIns="91440" tIns="45720" rIns="91440" bIns="45720" rtlCol="0" anchor="b"/>
          <a:lstStyle>
            <a:lvl1pPr algn="r">
              <a:defRPr sz="1200"/>
            </a:lvl1pPr>
          </a:lstStyle>
          <a:p>
            <a:fld id="{0F2827A1-353D-4990-A649-D6F3F1A13279}" type="slidenum">
              <a:rPr kumimoji="1" lang="ja-JP" altLang="en-US" smtClean="0"/>
              <a:t>‹#›</a:t>
            </a:fld>
            <a:endParaRPr kumimoji="1" lang="ja-JP" altLang="en-US" dirty="0"/>
          </a:p>
        </p:txBody>
      </p:sp>
    </p:spTree>
    <p:extLst>
      <p:ext uri="{BB962C8B-B14F-4D97-AF65-F5344CB8AC3E}">
        <p14:creationId xmlns:p14="http://schemas.microsoft.com/office/powerpoint/2010/main" val="4098356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ヘッダー プレースホルダー 1"/>
          <p:cNvSpPr>
            <a:spLocks noGrp="1" noChangeArrowheads="1"/>
          </p:cNvSpPr>
          <p:nvPr>
            <p:ph type="hdr" sz="quarter"/>
          </p:nvPr>
        </p:nvSpPr>
        <p:spPr bwMode="auto">
          <a:xfrm>
            <a:off x="1" y="0"/>
            <a:ext cx="295026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buFont typeface="Arial" panose="020B0604020202020204" pitchFamily="34" charset="0"/>
              <a:buNone/>
              <a:defRPr sz="1200"/>
            </a:lvl1pPr>
          </a:lstStyle>
          <a:p>
            <a:pPr>
              <a:defRPr/>
            </a:pPr>
            <a:endParaRPr lang="ja-JP" altLang="en-US" dirty="0"/>
          </a:p>
        </p:txBody>
      </p:sp>
      <p:sp>
        <p:nvSpPr>
          <p:cNvPr id="4099" name="日付プレースホルダー 2"/>
          <p:cNvSpPr>
            <a:spLocks noGrp="1" noChangeArrowheads="1"/>
          </p:cNvSpPr>
          <p:nvPr>
            <p:ph type="dt" idx="1"/>
          </p:nvPr>
        </p:nvSpPr>
        <p:spPr bwMode="auto">
          <a:xfrm>
            <a:off x="3853763" y="0"/>
            <a:ext cx="295026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buFont typeface="Arial" panose="020B0604020202020204" pitchFamily="34" charset="0"/>
              <a:buNone/>
              <a:defRPr sz="1200"/>
            </a:lvl1pPr>
          </a:lstStyle>
          <a:p>
            <a:pPr>
              <a:defRPr/>
            </a:pPr>
            <a:endParaRPr lang="ja-JP" altLang="en-US" dirty="0"/>
          </a:p>
        </p:txBody>
      </p:sp>
      <p:sp>
        <p:nvSpPr>
          <p:cNvPr id="33796" name="スライド イメージ プレースホルダー 3"/>
          <p:cNvSpPr>
            <a:spLocks noGrp="1" noRot="1" noChangeAspect="1" noChangeArrowheads="1"/>
          </p:cNvSpPr>
          <p:nvPr>
            <p:ph type="sldImg" idx="4294967295"/>
          </p:nvPr>
        </p:nvSpPr>
        <p:spPr bwMode="auto">
          <a:xfrm>
            <a:off x="919163" y="746125"/>
            <a:ext cx="4968875" cy="372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ノート プレースホルダー 4"/>
          <p:cNvSpPr>
            <a:spLocks noGrp="1" noChangeArrowheads="1"/>
          </p:cNvSpPr>
          <p:nvPr>
            <p:ph type="body" sz="quarter" idx="3"/>
          </p:nvPr>
        </p:nvSpPr>
        <p:spPr bwMode="auto">
          <a:xfrm>
            <a:off x="681198" y="4721225"/>
            <a:ext cx="5443219"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フッター プレースホルダー 5"/>
          <p:cNvSpPr>
            <a:spLocks noGrp="1" noChangeArrowheads="1"/>
          </p:cNvSpPr>
          <p:nvPr>
            <p:ph type="ftr" sz="quarter" idx="4"/>
          </p:nvPr>
        </p:nvSpPr>
        <p:spPr bwMode="auto">
          <a:xfrm>
            <a:off x="1" y="9439278"/>
            <a:ext cx="29502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buFont typeface="Arial" panose="020B0604020202020204" pitchFamily="34" charset="0"/>
              <a:buNone/>
              <a:defRPr sz="1200"/>
            </a:lvl1pPr>
          </a:lstStyle>
          <a:p>
            <a:pPr>
              <a:defRPr/>
            </a:pPr>
            <a:endParaRPr lang="ja-JP" altLang="en-US" dirty="0"/>
          </a:p>
        </p:txBody>
      </p:sp>
      <p:sp>
        <p:nvSpPr>
          <p:cNvPr id="4103" name="スライド番号プレースホルダー 6"/>
          <p:cNvSpPr>
            <a:spLocks noGrp="1" noChangeArrowheads="1"/>
          </p:cNvSpPr>
          <p:nvPr>
            <p:ph type="sldNum" sz="quarter" idx="5"/>
          </p:nvPr>
        </p:nvSpPr>
        <p:spPr bwMode="auto">
          <a:xfrm>
            <a:off x="3853763" y="9439278"/>
            <a:ext cx="29502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buFont typeface="Arial" pitchFamily="34" charset="0"/>
              <a:buNone/>
              <a:defRPr sz="1200"/>
            </a:lvl1pPr>
          </a:lstStyle>
          <a:p>
            <a:pPr>
              <a:defRPr/>
            </a:pPr>
            <a:fld id="{8DC108FB-DC03-4741-AF8A-119F4BDD5DAE}" type="slidenum">
              <a:rPr lang="ja-JP" altLang="en-US"/>
              <a:pPr>
                <a:defRPr/>
              </a:pPr>
              <a:t>‹#›</a:t>
            </a:fld>
            <a:endParaRPr lang="ja-JP" altLang="en-US" dirty="0"/>
          </a:p>
        </p:txBody>
      </p:sp>
    </p:spTree>
    <p:extLst>
      <p:ext uri="{BB962C8B-B14F-4D97-AF65-F5344CB8AC3E}">
        <p14:creationId xmlns:p14="http://schemas.microsoft.com/office/powerpoint/2010/main" val="23104904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panose="020B0600070205080204" pitchFamily="50" charset="-128"/>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panose="020B0600070205080204" pitchFamily="50" charset="-128"/>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panose="020B0600070205080204" pitchFamily="50" charset="-128"/>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panose="020B0600070205080204" pitchFamily="50" charset="-128"/>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8DC108FB-DC03-4741-AF8A-119F4BDD5DAE}" type="slidenum">
              <a:rPr lang="ja-JP" altLang="en-US" smtClean="0"/>
              <a:pPr>
                <a:defRPr/>
              </a:pPr>
              <a:t>6</a:t>
            </a:fld>
            <a:endParaRPr lang="ja-JP" altLang="en-US"/>
          </a:p>
        </p:txBody>
      </p:sp>
    </p:spTree>
    <p:extLst>
      <p:ext uri="{BB962C8B-B14F-4D97-AF65-F5344CB8AC3E}">
        <p14:creationId xmlns:p14="http://schemas.microsoft.com/office/powerpoint/2010/main" val="409981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8DC108FB-DC03-4741-AF8A-119F4BDD5DAE}" type="slidenum">
              <a:rPr lang="ja-JP" altLang="en-US" smtClean="0"/>
              <a:pPr>
                <a:defRPr/>
              </a:pPr>
              <a:t>10</a:t>
            </a:fld>
            <a:endParaRPr lang="ja-JP" altLang="en-US"/>
          </a:p>
        </p:txBody>
      </p:sp>
    </p:spTree>
    <p:extLst>
      <p:ext uri="{BB962C8B-B14F-4D97-AF65-F5344CB8AC3E}">
        <p14:creationId xmlns:p14="http://schemas.microsoft.com/office/powerpoint/2010/main" val="2338583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noProof="1"/>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noProof="1"/>
              <a:t>マスター サブタイトルの書式設定</a:t>
            </a:r>
          </a:p>
        </p:txBody>
      </p:sp>
    </p:spTree>
    <p:extLst>
      <p:ext uri="{BB962C8B-B14F-4D97-AF65-F5344CB8AC3E}">
        <p14:creationId xmlns:p14="http://schemas.microsoft.com/office/powerpoint/2010/main" val="2605570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noProof="1"/>
              <a:t>マスター タイトルの書式設定</a:t>
            </a:r>
          </a:p>
        </p:txBody>
      </p:sp>
      <p:sp>
        <p:nvSpPr>
          <p:cNvPr id="3" name="コンテンツ プレースホルダー 2"/>
          <p:cNvSpPr>
            <a:spLocks noGrp="1"/>
          </p:cNvSpPr>
          <p:nvPr>
            <p:ph idx="1"/>
          </p:nvPr>
        </p:nvSpPr>
        <p:spPr/>
        <p:txBody>
          <a:body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Tree>
    <p:extLst>
      <p:ext uri="{BB962C8B-B14F-4D97-AF65-F5344CB8AC3E}">
        <p14:creationId xmlns:p14="http://schemas.microsoft.com/office/powerpoint/2010/main" val="281018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noProof="1"/>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noProof="1"/>
              <a:t>マスター テキストの書式設定</a:t>
            </a:r>
          </a:p>
        </p:txBody>
      </p:sp>
    </p:spTree>
    <p:extLst>
      <p:ext uri="{BB962C8B-B14F-4D97-AF65-F5344CB8AC3E}">
        <p14:creationId xmlns:p14="http://schemas.microsoft.com/office/powerpoint/2010/main" val="3160858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noProof="1"/>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Tree>
    <p:extLst>
      <p:ext uri="{BB962C8B-B14F-4D97-AF65-F5344CB8AC3E}">
        <p14:creationId xmlns:p14="http://schemas.microsoft.com/office/powerpoint/2010/main" val="3988816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noProof="1"/>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noProof="1"/>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noProof="1"/>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Tree>
    <p:extLst>
      <p:ext uri="{BB962C8B-B14F-4D97-AF65-F5344CB8AC3E}">
        <p14:creationId xmlns:p14="http://schemas.microsoft.com/office/powerpoint/2010/main" val="159185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noProof="1"/>
              <a:t>マスター タイトルの書式設定</a:t>
            </a:r>
          </a:p>
        </p:txBody>
      </p:sp>
    </p:spTree>
    <p:extLst>
      <p:ext uri="{BB962C8B-B14F-4D97-AF65-F5344CB8AC3E}">
        <p14:creationId xmlns:p14="http://schemas.microsoft.com/office/powerpoint/2010/main" val="145635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33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noProof="1"/>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noProof="1"/>
              <a:t>マスター テキストの書式設定</a:t>
            </a:r>
          </a:p>
        </p:txBody>
      </p:sp>
    </p:spTree>
    <p:extLst>
      <p:ext uri="{BB962C8B-B14F-4D97-AF65-F5344CB8AC3E}">
        <p14:creationId xmlns:p14="http://schemas.microsoft.com/office/powerpoint/2010/main" val="180849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noProof="1"/>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noProof="1"/>
              <a:t>マスター テキストの書式設定</a:t>
            </a:r>
          </a:p>
        </p:txBody>
      </p:sp>
    </p:spTree>
    <p:extLst>
      <p:ext uri="{BB962C8B-B14F-4D97-AF65-F5344CB8AC3E}">
        <p14:creationId xmlns:p14="http://schemas.microsoft.com/office/powerpoint/2010/main" val="26022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noProof="1"/>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Tree>
    <p:extLst>
      <p:ext uri="{BB962C8B-B14F-4D97-AF65-F5344CB8AC3E}">
        <p14:creationId xmlns:p14="http://schemas.microsoft.com/office/powerpoint/2010/main" val="337657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noProof="1"/>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lang="ja-JP" altLang="en-US" noProof="1"/>
              <a:t>マスター テキストの書式設定</a:t>
            </a:r>
          </a:p>
          <a:p>
            <a:pPr lvl="1"/>
            <a:r>
              <a:rPr lang="ja-JP" altLang="en-US" noProof="1"/>
              <a:t>第 </a:t>
            </a:r>
            <a:r>
              <a:rPr lang="en-US" altLang="ja-JP" noProof="1"/>
              <a:t>2 </a:t>
            </a:r>
            <a:r>
              <a:rPr lang="ja-JP" altLang="en-US" noProof="1"/>
              <a:t>レベル</a:t>
            </a:r>
          </a:p>
          <a:p>
            <a:pPr lvl="2"/>
            <a:r>
              <a:rPr lang="ja-JP" altLang="en-US" noProof="1"/>
              <a:t>第 </a:t>
            </a:r>
            <a:r>
              <a:rPr lang="en-US" altLang="ja-JP" noProof="1"/>
              <a:t>3 </a:t>
            </a:r>
            <a:r>
              <a:rPr lang="ja-JP" altLang="en-US" noProof="1"/>
              <a:t>レベル</a:t>
            </a:r>
          </a:p>
          <a:p>
            <a:pPr lvl="3"/>
            <a:r>
              <a:rPr lang="ja-JP" altLang="en-US" noProof="1"/>
              <a:t>第 </a:t>
            </a:r>
            <a:r>
              <a:rPr lang="en-US" altLang="ja-JP" noProof="1"/>
              <a:t>4 </a:t>
            </a:r>
            <a:r>
              <a:rPr lang="ja-JP" altLang="en-US" noProof="1"/>
              <a:t>レベル</a:t>
            </a:r>
          </a:p>
          <a:p>
            <a:pPr lvl="4"/>
            <a:r>
              <a:rPr lang="ja-JP" altLang="en-US" noProof="1"/>
              <a:t>第 </a:t>
            </a:r>
            <a:r>
              <a:rPr lang="en-US" altLang="ja-JP" noProof="1"/>
              <a:t>5 </a:t>
            </a:r>
            <a:r>
              <a:rPr lang="ja-JP" altLang="en-US" noProof="1"/>
              <a:t>レベル</a:t>
            </a:r>
          </a:p>
        </p:txBody>
      </p:sp>
    </p:spTree>
    <p:extLst>
      <p:ext uri="{BB962C8B-B14F-4D97-AF65-F5344CB8AC3E}">
        <p14:creationId xmlns:p14="http://schemas.microsoft.com/office/powerpoint/2010/main" val="2294703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 Target="../slides/slid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3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04813"/>
            <a:ext cx="914400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テキスト ボックス 7"/>
          <p:cNvSpPr txBox="1">
            <a:spLocks noChangeArrowheads="1"/>
          </p:cNvSpPr>
          <p:nvPr/>
        </p:nvSpPr>
        <p:spPr bwMode="auto">
          <a:xfrm>
            <a:off x="7961313" y="44450"/>
            <a:ext cx="1169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ＭＳ Ｐゴシック" pitchFamily="50" charset="-128"/>
              </a:defRPr>
            </a:lvl1pPr>
            <a:lvl2pPr>
              <a:defRPr>
                <a:solidFill>
                  <a:schemeClr val="tx1"/>
                </a:solidFill>
                <a:latin typeface="Calibri" pitchFamily="34" charset="0"/>
                <a:ea typeface="ＭＳ Ｐゴシック" pitchFamily="50" charset="-128"/>
              </a:defRPr>
            </a:lvl2pPr>
            <a:lvl3pPr>
              <a:defRPr>
                <a:solidFill>
                  <a:schemeClr val="tx1"/>
                </a:solidFill>
                <a:latin typeface="Calibri" pitchFamily="34" charset="0"/>
                <a:ea typeface="ＭＳ Ｐゴシック" pitchFamily="50" charset="-128"/>
              </a:defRPr>
            </a:lvl3pPr>
            <a:lvl4pPr>
              <a:defRPr>
                <a:solidFill>
                  <a:schemeClr val="tx1"/>
                </a:solidFill>
                <a:latin typeface="Calibri" pitchFamily="34" charset="0"/>
                <a:ea typeface="ＭＳ Ｐゴシック" pitchFamily="50" charset="-128"/>
              </a:defRPr>
            </a:lvl4pPr>
            <a:lvl5pPr>
              <a:defRPr>
                <a:solidFill>
                  <a:schemeClr val="tx1"/>
                </a:solidFill>
                <a:latin typeface="Calibri" pitchFamily="34" charset="0"/>
                <a:ea typeface="ＭＳ Ｐゴシック" pitchFamily="50" charset="-128"/>
              </a:defRPr>
            </a:lvl5pPr>
            <a:lvl6pPr fontAlgn="base">
              <a:spcBef>
                <a:spcPct val="0"/>
              </a:spcBef>
              <a:spcAft>
                <a:spcPct val="0"/>
              </a:spcAft>
              <a:buFont typeface="Arial" pitchFamily="34" charset="0"/>
              <a:defRPr>
                <a:solidFill>
                  <a:schemeClr val="tx1"/>
                </a:solidFill>
                <a:latin typeface="Calibri" pitchFamily="34" charset="0"/>
                <a:ea typeface="ＭＳ Ｐゴシック" pitchFamily="50" charset="-128"/>
              </a:defRPr>
            </a:lvl6pPr>
            <a:lvl7pPr fontAlgn="base">
              <a:spcBef>
                <a:spcPct val="0"/>
              </a:spcBef>
              <a:spcAft>
                <a:spcPct val="0"/>
              </a:spcAft>
              <a:buFont typeface="Arial" pitchFamily="34" charset="0"/>
              <a:defRPr>
                <a:solidFill>
                  <a:schemeClr val="tx1"/>
                </a:solidFill>
                <a:latin typeface="Calibri" pitchFamily="34" charset="0"/>
                <a:ea typeface="ＭＳ Ｐゴシック" pitchFamily="50" charset="-128"/>
              </a:defRPr>
            </a:lvl7pPr>
            <a:lvl8pPr fontAlgn="base">
              <a:spcBef>
                <a:spcPct val="0"/>
              </a:spcBef>
              <a:spcAft>
                <a:spcPct val="0"/>
              </a:spcAft>
              <a:buFont typeface="Arial" pitchFamily="34" charset="0"/>
              <a:defRPr>
                <a:solidFill>
                  <a:schemeClr val="tx1"/>
                </a:solidFill>
                <a:latin typeface="Calibri" pitchFamily="34" charset="0"/>
                <a:ea typeface="ＭＳ Ｐゴシック" pitchFamily="50" charset="-128"/>
              </a:defRPr>
            </a:lvl8pPr>
            <a:lvl9pPr fontAlgn="base">
              <a:spcBef>
                <a:spcPct val="0"/>
              </a:spcBef>
              <a:spcAft>
                <a:spcPct val="0"/>
              </a:spcAft>
              <a:buFont typeface="Arial" pitchFamily="34" charset="0"/>
              <a:defRPr>
                <a:solidFill>
                  <a:schemeClr val="tx1"/>
                </a:solidFill>
                <a:latin typeface="Calibri" pitchFamily="34" charset="0"/>
                <a:ea typeface="ＭＳ Ｐゴシック" pitchFamily="50" charset="-128"/>
              </a:defRPr>
            </a:lvl9pPr>
          </a:lstStyle>
          <a:p>
            <a:pPr algn="r">
              <a:buFont typeface="Arial" pitchFamily="34" charset="0"/>
              <a:buNone/>
              <a:defRPr/>
            </a:pPr>
            <a:r>
              <a:rPr lang="en-US" altLang="ja-JP" sz="2400" b="1" dirty="0">
                <a:latin typeface="メイリオ" pitchFamily="50" charset="-128"/>
                <a:ea typeface="メイリオ" pitchFamily="50" charset="-128"/>
                <a:cs typeface="メイリオ" pitchFamily="50" charset="-128"/>
              </a:rPr>
              <a:t>P</a:t>
            </a:r>
            <a:fld id="{91942106-CC2A-489A-9895-F90DAA1A6A9B}" type="slidenum">
              <a:rPr lang="ja-JP" altLang="en-US" sz="2400" b="1" smtClean="0">
                <a:latin typeface="メイリオ" pitchFamily="50" charset="-128"/>
                <a:ea typeface="メイリオ" pitchFamily="50" charset="-128"/>
                <a:cs typeface="メイリオ" pitchFamily="50" charset="-128"/>
              </a:rPr>
              <a:pPr algn="r">
                <a:buFont typeface="Arial" pitchFamily="34" charset="0"/>
                <a:buNone/>
                <a:defRPr/>
              </a:pPr>
              <a:t>‹#›</a:t>
            </a:fld>
            <a:endParaRPr lang="ja-JP" altLang="en-US" sz="2400" b="1" dirty="0">
              <a:latin typeface="メイリオ" pitchFamily="50" charset="-128"/>
              <a:ea typeface="メイリオ" pitchFamily="50" charset="-128"/>
              <a:cs typeface="メイリオ" pitchFamily="50" charset="-128"/>
            </a:endParaRPr>
          </a:p>
        </p:txBody>
      </p:sp>
      <p:sp>
        <p:nvSpPr>
          <p:cNvPr id="1028" name="動作設定ボタン : 戻る 8">
            <a:hlinkClick r:id="rId14" action="ppaction://hlinksldjump" highlightClick="1"/>
          </p:cNvPr>
          <p:cNvSpPr>
            <a:spLocks noChangeAspect="1"/>
          </p:cNvSpPr>
          <p:nvPr/>
        </p:nvSpPr>
        <p:spPr bwMode="auto">
          <a:xfrm rot="5400000" flipV="1">
            <a:off x="8139907" y="102394"/>
            <a:ext cx="290512" cy="285750"/>
          </a:xfrm>
          <a:prstGeom prst="actionButtonReturn">
            <a:avLst/>
          </a:prstGeom>
          <a:noFill/>
          <a:ln w="25400" cmpd="sng">
            <a:solidFill>
              <a:srgbClr val="0068B7"/>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ＭＳ Ｐゴシック" panose="020B0600070205080204" pitchFamily="50" charset="-128"/>
              </a:defRPr>
            </a:lvl1pPr>
            <a:lvl2pPr marL="742950" indent="-285750" eaLnBrk="0" hangingPunct="0">
              <a:defRPr>
                <a:solidFill>
                  <a:schemeClr val="tx1"/>
                </a:solidFill>
                <a:latin typeface="Calibri" panose="020F0502020204030204" pitchFamily="34" charset="0"/>
                <a:ea typeface="ＭＳ Ｐゴシック" panose="020B0600070205080204" pitchFamily="50" charset="-128"/>
              </a:defRPr>
            </a:lvl2pPr>
            <a:lvl3pPr marL="1143000" indent="-228600" eaLnBrk="0" hangingPunct="0">
              <a:defRPr>
                <a:solidFill>
                  <a:schemeClr val="tx1"/>
                </a:solidFill>
                <a:latin typeface="Calibri" panose="020F0502020204030204" pitchFamily="34" charset="0"/>
                <a:ea typeface="ＭＳ Ｐゴシック" panose="020B0600070205080204" pitchFamily="50" charset="-128"/>
              </a:defRPr>
            </a:lvl3pPr>
            <a:lvl4pPr marL="1600200" indent="-228600" eaLnBrk="0" hangingPunct="0">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algn="ctr" eaLnBrk="1" hangingPunct="1">
              <a:buFont typeface="Arial" pitchFamily="34" charset="0"/>
              <a:buNone/>
              <a:defRPr/>
            </a:pPr>
            <a:endParaRPr lang="ja-JP" altLang="en-US" dirty="0">
              <a:solidFill>
                <a:srgbClr val="000000"/>
              </a:solidFill>
            </a:endParaRPr>
          </a:p>
        </p:txBody>
      </p:sp>
      <p:sp>
        <p:nvSpPr>
          <p:cNvPr id="1029" name="タイトル プレースホルダー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ja-JP"/>
              <a:t>マスター タイトルの書式設定</a:t>
            </a:r>
          </a:p>
        </p:txBody>
      </p:sp>
      <p:sp>
        <p:nvSpPr>
          <p:cNvPr id="1030" name="テキスト プレースホルダー 2"/>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ja-JP"/>
              <a:t>マスター テキストの書式設定</a:t>
            </a:r>
          </a:p>
          <a:p>
            <a:pPr lvl="1"/>
            <a:r>
              <a:rPr lang="ja-JP" altLang="ja-JP"/>
              <a:t>第 2 レベル</a:t>
            </a:r>
          </a:p>
          <a:p>
            <a:pPr lvl="2"/>
            <a:r>
              <a:rPr lang="ja-JP" altLang="ja-JP"/>
              <a:t>第 3 レベル</a:t>
            </a:r>
          </a:p>
          <a:p>
            <a:pPr lvl="3"/>
            <a:r>
              <a:rPr lang="ja-JP" altLang="ja-JP"/>
              <a:t>第 4 レベル</a:t>
            </a:r>
          </a:p>
          <a:p>
            <a:pPr lvl="4"/>
            <a:r>
              <a:rPr lang="ja-JP" altLang="ja-JP"/>
              <a:t>第 5 レベル</a:t>
            </a:r>
          </a:p>
        </p:txBody>
      </p:sp>
    </p:spTree>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Lst>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50" charset="-128"/>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emf"/><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emf"/><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テキスト プレースホルダー 5"/>
          <p:cNvSpPr>
            <a:spLocks noChangeArrowheads="1"/>
          </p:cNvSpPr>
          <p:nvPr/>
        </p:nvSpPr>
        <p:spPr bwMode="auto">
          <a:xfrm>
            <a:off x="9525" y="1011238"/>
            <a:ext cx="9134475"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ts val="600"/>
              </a:spcBef>
              <a:buFont typeface="Arial" charset="0"/>
              <a:buNone/>
            </a:pPr>
            <a:endParaRPr lang="ja-JP" altLang="en-US" sz="36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None/>
            </a:pPr>
            <a:r>
              <a:rPr lang="en-US" altLang="ja-JP" sz="4000" dirty="0">
                <a:latin typeface="メイリオ" pitchFamily="50" charset="-128"/>
                <a:ea typeface="メイリオ" pitchFamily="50" charset="-128"/>
                <a:cs typeface="メイリオ" pitchFamily="50" charset="-128"/>
                <a:sym typeface="メイリオ" pitchFamily="50" charset="-128"/>
              </a:rPr>
              <a:t>No.16</a:t>
            </a:r>
            <a:r>
              <a:rPr lang="ja-JP" altLang="en-US" sz="4000" dirty="0">
                <a:latin typeface="メイリオ" pitchFamily="50" charset="-128"/>
                <a:ea typeface="メイリオ" pitchFamily="50" charset="-128"/>
                <a:cs typeface="メイリオ" pitchFamily="50" charset="-128"/>
                <a:sym typeface="メイリオ" pitchFamily="50" charset="-128"/>
              </a:rPr>
              <a:t>水処理施設処理能力増強工事</a:t>
            </a:r>
            <a:endParaRPr lang="en-US" altLang="ja-JP" sz="40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None/>
            </a:pPr>
            <a:r>
              <a:rPr lang="ja-JP" altLang="en-US" dirty="0">
                <a:latin typeface="メイリオ" pitchFamily="50" charset="-128"/>
                <a:ea typeface="メイリオ" pitchFamily="50" charset="-128"/>
                <a:cs typeface="メイリオ" pitchFamily="50" charset="-128"/>
                <a:sym typeface="メイリオ" pitchFamily="50" charset="-128"/>
              </a:rPr>
              <a:t>（</a:t>
            </a:r>
            <a:r>
              <a:rPr lang="en-US" altLang="ja-JP" dirty="0">
                <a:latin typeface="メイリオ" pitchFamily="50" charset="-128"/>
                <a:ea typeface="メイリオ" pitchFamily="50" charset="-128"/>
                <a:cs typeface="メイリオ" pitchFamily="50" charset="-128"/>
                <a:sym typeface="メイリオ" pitchFamily="50" charset="-128"/>
              </a:rPr>
              <a:t>7</a:t>
            </a:r>
            <a:r>
              <a:rPr lang="ja-JP" altLang="en-US" dirty="0">
                <a:latin typeface="メイリオ" pitchFamily="50" charset="-128"/>
                <a:ea typeface="メイリオ" pitchFamily="50" charset="-128"/>
                <a:cs typeface="メイリオ" pitchFamily="50" charset="-128"/>
                <a:sym typeface="メイリオ" pitchFamily="50" charset="-128"/>
              </a:rPr>
              <a:t>線材工場、</a:t>
            </a:r>
            <a:r>
              <a:rPr lang="en-US" altLang="ja-JP" dirty="0">
                <a:latin typeface="メイリオ" pitchFamily="50" charset="-128"/>
                <a:ea typeface="メイリオ" pitchFamily="50" charset="-128"/>
                <a:cs typeface="メイリオ" pitchFamily="50" charset="-128"/>
                <a:sym typeface="メイリオ" pitchFamily="50" charset="-128"/>
              </a:rPr>
              <a:t>3</a:t>
            </a:r>
            <a:r>
              <a:rPr lang="ja-JP" altLang="en-US" dirty="0">
                <a:latin typeface="メイリオ" pitchFamily="50" charset="-128"/>
                <a:ea typeface="メイリオ" pitchFamily="50" charset="-128"/>
                <a:cs typeface="メイリオ" pitchFamily="50" charset="-128"/>
                <a:sym typeface="メイリオ" pitchFamily="50" charset="-128"/>
              </a:rPr>
              <a:t>加工工場周辺冠水対策）　</a:t>
            </a:r>
            <a:r>
              <a:rPr lang="ja-JP" altLang="en-US" sz="1800" dirty="0">
                <a:latin typeface="メイリオ" pitchFamily="50" charset="-128"/>
                <a:ea typeface="メイリオ" pitchFamily="50" charset="-128"/>
                <a:cs typeface="メイリオ" pitchFamily="50" charset="-128"/>
                <a:sym typeface="メイリオ" pitchFamily="50" charset="-128"/>
              </a:rPr>
              <a:t>　　　</a:t>
            </a:r>
            <a:endParaRPr lang="en-US" altLang="ja-JP" sz="18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Font typeface="Arial" charset="0"/>
              <a:buNone/>
            </a:pPr>
            <a:endParaRPr lang="en-US" altLang="ja-JP" sz="24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Font typeface="Arial" charset="0"/>
              <a:buNone/>
            </a:pPr>
            <a:r>
              <a:rPr lang="en-US" altLang="ja-JP" sz="2400" dirty="0">
                <a:latin typeface="メイリオ" pitchFamily="50" charset="-128"/>
                <a:ea typeface="メイリオ" pitchFamily="50" charset="-128"/>
                <a:cs typeface="メイリオ" pitchFamily="50" charset="-128"/>
                <a:sym typeface="メイリオ" pitchFamily="50" charset="-128"/>
              </a:rPr>
              <a:t>2019</a:t>
            </a:r>
            <a:r>
              <a:rPr lang="ja-JP" altLang="en-US" sz="2400" dirty="0">
                <a:latin typeface="メイリオ" pitchFamily="50" charset="-128"/>
                <a:ea typeface="メイリオ" pitchFamily="50" charset="-128"/>
                <a:cs typeface="メイリオ" pitchFamily="50" charset="-128"/>
                <a:sym typeface="メイリオ" pitchFamily="50" charset="-128"/>
              </a:rPr>
              <a:t>年</a:t>
            </a:r>
            <a:r>
              <a:rPr lang="en-US" altLang="ja-JP" sz="2400" dirty="0">
                <a:latin typeface="メイリオ" pitchFamily="50" charset="-128"/>
                <a:ea typeface="メイリオ" pitchFamily="50" charset="-128"/>
                <a:cs typeface="メイリオ" pitchFamily="50" charset="-128"/>
                <a:sym typeface="メイリオ" pitchFamily="50" charset="-128"/>
              </a:rPr>
              <a:t>5</a:t>
            </a:r>
            <a:r>
              <a:rPr lang="ja-JP" altLang="en-US" sz="2400" dirty="0">
                <a:latin typeface="メイリオ" pitchFamily="50" charset="-128"/>
                <a:ea typeface="メイリオ" pitchFamily="50" charset="-128"/>
                <a:cs typeface="メイリオ" pitchFamily="50" charset="-128"/>
                <a:sym typeface="メイリオ" pitchFamily="50" charset="-128"/>
              </a:rPr>
              <a:t>月</a:t>
            </a:r>
            <a:r>
              <a:rPr lang="en-US" altLang="ja-JP" sz="2400" dirty="0">
                <a:latin typeface="メイリオ" pitchFamily="50" charset="-128"/>
                <a:ea typeface="メイリオ" pitchFamily="50" charset="-128"/>
                <a:cs typeface="メイリオ" pitchFamily="50" charset="-128"/>
                <a:sym typeface="メイリオ" pitchFamily="50" charset="-128"/>
              </a:rPr>
              <a:t>17</a:t>
            </a:r>
            <a:r>
              <a:rPr lang="ja-JP" altLang="en-US" sz="2400" dirty="0">
                <a:latin typeface="メイリオ" pitchFamily="50" charset="-128"/>
                <a:ea typeface="メイリオ" pitchFamily="50" charset="-128"/>
                <a:cs typeface="メイリオ" pitchFamily="50" charset="-128"/>
                <a:sym typeface="メイリオ" pitchFamily="50" charset="-128"/>
              </a:rPr>
              <a:t>日</a:t>
            </a:r>
            <a:endParaRPr lang="en-US" altLang="ja-JP" sz="24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Font typeface="Arial" charset="0"/>
              <a:buNone/>
            </a:pPr>
            <a:r>
              <a:rPr lang="ja-JP" altLang="en-US" sz="2400" dirty="0">
                <a:latin typeface="メイリオ" pitchFamily="50" charset="-128"/>
                <a:ea typeface="メイリオ" pitchFamily="50" charset="-128"/>
                <a:cs typeface="メイリオ" pitchFamily="50" charset="-128"/>
                <a:sym typeface="メイリオ" pitchFamily="50" charset="-128"/>
              </a:rPr>
              <a:t>神戸製鉄所</a:t>
            </a:r>
          </a:p>
          <a:p>
            <a:pPr algn="ctr" eaLnBrk="1" hangingPunct="1">
              <a:spcBef>
                <a:spcPts val="600"/>
              </a:spcBef>
              <a:buFont typeface="Arial" charset="0"/>
              <a:buNone/>
            </a:pPr>
            <a:r>
              <a:rPr lang="ja-JP" altLang="en-US" sz="2400" dirty="0">
                <a:latin typeface="メイリオ" pitchFamily="50" charset="-128"/>
                <a:ea typeface="メイリオ" pitchFamily="50" charset="-128"/>
                <a:cs typeface="メイリオ" pitchFamily="50" charset="-128"/>
                <a:sym typeface="メイリオ" pitchFamily="50" charset="-128"/>
              </a:rPr>
              <a:t>環境防災管理室</a:t>
            </a:r>
            <a:endParaRPr lang="en-US" altLang="ja-JP" sz="24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Font typeface="Arial" charset="0"/>
              <a:buNone/>
            </a:pPr>
            <a:r>
              <a:rPr lang="ja-JP" altLang="en-US" sz="2400" dirty="0">
                <a:latin typeface="メイリオ" pitchFamily="50" charset="-128"/>
                <a:ea typeface="メイリオ" pitchFamily="50" charset="-128"/>
                <a:cs typeface="メイリオ" pitchFamily="50" charset="-128"/>
                <a:sym typeface="メイリオ" pitchFamily="50" charset="-128"/>
              </a:rPr>
              <a:t>設備部　</a:t>
            </a:r>
            <a:endParaRPr lang="en-US" altLang="ja-JP" sz="2400" dirty="0">
              <a:latin typeface="メイリオ" pitchFamily="50" charset="-128"/>
              <a:ea typeface="メイリオ" pitchFamily="50" charset="-128"/>
              <a:cs typeface="メイリオ" pitchFamily="50" charset="-128"/>
              <a:sym typeface="メイリオ" pitchFamily="50" charset="-128"/>
            </a:endParaRPr>
          </a:p>
          <a:p>
            <a:pPr algn="ctr" eaLnBrk="1" hangingPunct="1">
              <a:spcBef>
                <a:spcPts val="600"/>
              </a:spcBef>
              <a:buFont typeface="Arial" charset="0"/>
              <a:buNone/>
            </a:pPr>
            <a:endParaRPr lang="ja-JP" altLang="en-US" sz="1800" dirty="0">
              <a:latin typeface="メイリオ" pitchFamily="50" charset="-128"/>
              <a:ea typeface="メイリオ" pitchFamily="50" charset="-128"/>
              <a:cs typeface="メイリオ" pitchFamily="50" charset="-128"/>
              <a:sym typeface="メイリオ" pitchFamily="50" charset="-128"/>
            </a:endParaRPr>
          </a:p>
        </p:txBody>
      </p:sp>
      <p:sp>
        <p:nvSpPr>
          <p:cNvPr id="4099" name="テキスト プレースホルダー 5"/>
          <p:cNvSpPr>
            <a:spLocks noChangeArrowheads="1"/>
          </p:cNvSpPr>
          <p:nvPr/>
        </p:nvSpPr>
        <p:spPr bwMode="auto">
          <a:xfrm>
            <a:off x="-19050" y="111125"/>
            <a:ext cx="53943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6213" indent="-176213"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ts val="600"/>
              </a:spcBef>
              <a:buFont typeface="Arial" charset="0"/>
              <a:buNone/>
            </a:pPr>
            <a:r>
              <a:rPr lang="ja-JP" altLang="en-US" sz="2000" dirty="0">
                <a:solidFill>
                  <a:srgbClr val="17365D"/>
                </a:solidFill>
                <a:latin typeface="メイリオ" pitchFamily="50" charset="-128"/>
                <a:ea typeface="メイリオ" pitchFamily="50" charset="-128"/>
                <a:cs typeface="メイリオ" pitchFamily="50" charset="-128"/>
                <a:sym typeface="メイリオ" pitchFamily="50" charset="-128"/>
              </a:rPr>
              <a:t>＜宮崎専務ヒアリング資料＞</a:t>
            </a:r>
            <a:endParaRPr lang="en-US" altLang="ja-JP" sz="2000" dirty="0">
              <a:solidFill>
                <a:srgbClr val="17365D"/>
              </a:solidFill>
              <a:latin typeface="メイリオ" pitchFamily="50" charset="-128"/>
              <a:ea typeface="メイリオ" pitchFamily="50" charset="-128"/>
              <a:cs typeface="メイリオ" pitchFamily="50" charset="-128"/>
              <a:sym typeface="メイリオ" pitchFamily="50" charset="-128"/>
            </a:endParaRPr>
          </a:p>
        </p:txBody>
      </p:sp>
      <p:sp>
        <p:nvSpPr>
          <p:cNvPr id="4100" name="テキスト ボックス 1"/>
          <p:cNvSpPr>
            <a:spLocks noChangeArrowheads="1"/>
          </p:cNvSpPr>
          <p:nvPr/>
        </p:nvSpPr>
        <p:spPr bwMode="auto">
          <a:xfrm>
            <a:off x="5940425" y="5157788"/>
            <a:ext cx="2838450" cy="646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・対外公表については未定であるため、それまでの</a:t>
            </a:r>
            <a:endParaRPr lang="en-US" altLang="ja-JP" sz="900" dirty="0">
              <a:solidFill>
                <a:srgbClr val="17365D"/>
              </a:solidFill>
              <a:latin typeface="メイリオ" pitchFamily="50" charset="-128"/>
              <a:ea typeface="メイリオ" pitchFamily="50" charset="-128"/>
              <a:cs typeface="メイリオ" pitchFamily="50" charset="-128"/>
              <a:sym typeface="メイリオ" pitchFamily="50" charset="-128"/>
            </a:endParaRPr>
          </a:p>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　間は部外秘とする。尚、公表後も公表内容以外の</a:t>
            </a:r>
            <a:endParaRPr lang="en-US" altLang="ja-JP" sz="900" dirty="0">
              <a:solidFill>
                <a:srgbClr val="17365D"/>
              </a:solidFill>
              <a:latin typeface="メイリオ" pitchFamily="50" charset="-128"/>
              <a:ea typeface="メイリオ" pitchFamily="50" charset="-128"/>
              <a:cs typeface="メイリオ" pitchFamily="50" charset="-128"/>
              <a:sym typeface="メイリオ" pitchFamily="50" charset="-128"/>
            </a:endParaRPr>
          </a:p>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　情報については部外秘とする。</a:t>
            </a:r>
            <a:endParaRPr lang="en-US" altLang="ja-JP" sz="900" dirty="0">
              <a:solidFill>
                <a:srgbClr val="17365D"/>
              </a:solidFill>
              <a:latin typeface="メイリオ" pitchFamily="50" charset="-128"/>
              <a:ea typeface="メイリオ" pitchFamily="50" charset="-128"/>
              <a:cs typeface="メイリオ" pitchFamily="50" charset="-128"/>
              <a:sym typeface="メイリオ" pitchFamily="50" charset="-128"/>
            </a:endParaRPr>
          </a:p>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・本件、適時開示事項に該当しない。</a:t>
            </a:r>
            <a:endParaRPr lang="ja-JP" altLang="en-US" sz="1800" dirty="0"/>
          </a:p>
        </p:txBody>
      </p:sp>
      <p:sp>
        <p:nvSpPr>
          <p:cNvPr id="4101" name="テキスト ボックス 4"/>
          <p:cNvSpPr>
            <a:spLocks noChangeArrowheads="1"/>
          </p:cNvSpPr>
          <p:nvPr/>
        </p:nvSpPr>
        <p:spPr bwMode="auto">
          <a:xfrm>
            <a:off x="1116013" y="6021388"/>
            <a:ext cx="757078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この文書は株式会社神戸製鋼所の「企業秘密管理規定」上の部外秘情報です。この文書は明記された受取人にのみ開示が許諾されております。</a:t>
            </a:r>
            <a:endParaRPr lang="en-US" altLang="ja-JP" sz="900" dirty="0">
              <a:solidFill>
                <a:srgbClr val="17365D"/>
              </a:solidFill>
              <a:latin typeface="メイリオ" pitchFamily="50" charset="-128"/>
              <a:ea typeface="メイリオ" pitchFamily="50" charset="-128"/>
              <a:cs typeface="メイリオ" pitchFamily="50" charset="-128"/>
              <a:sym typeface="メイリオ" pitchFamily="50" charset="-128"/>
            </a:endParaRPr>
          </a:p>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作成部門の部長の承認を得ず、この文書を明記された受取人以外に開示することは禁止されています。</a:t>
            </a:r>
            <a:endParaRPr lang="en-US" altLang="ja-JP" sz="900" dirty="0">
              <a:solidFill>
                <a:srgbClr val="17365D"/>
              </a:solidFill>
              <a:latin typeface="メイリオ" pitchFamily="50" charset="-128"/>
              <a:ea typeface="メイリオ" pitchFamily="50" charset="-128"/>
              <a:cs typeface="メイリオ" pitchFamily="50" charset="-128"/>
              <a:sym typeface="メイリオ" pitchFamily="50" charset="-128"/>
            </a:endParaRPr>
          </a:p>
          <a:p>
            <a:pPr eaLnBrk="1" hangingPunct="1">
              <a:spcBef>
                <a:spcPct val="0"/>
              </a:spcBef>
              <a:buFont typeface="Arial" charset="0"/>
              <a:buNone/>
            </a:pPr>
            <a:r>
              <a:rPr lang="ja-JP" altLang="en-US" sz="900" dirty="0">
                <a:solidFill>
                  <a:srgbClr val="17365D"/>
                </a:solidFill>
                <a:latin typeface="メイリオ" pitchFamily="50" charset="-128"/>
                <a:ea typeface="メイリオ" pitchFamily="50" charset="-128"/>
                <a:cs typeface="メイリオ" pitchFamily="50" charset="-128"/>
                <a:sym typeface="メイリオ" pitchFamily="50" charset="-128"/>
              </a:rPr>
              <a:t>この文書に明記された受取人が業務上必要な部数を複写する以外、この文書の複製は禁止されています。</a:t>
            </a:r>
            <a:endParaRPr lang="ja-JP"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タイトル 2"/>
          <p:cNvSpPr>
            <a:spLocks noChangeArrowheads="1"/>
          </p:cNvSpPr>
          <p:nvPr/>
        </p:nvSpPr>
        <p:spPr bwMode="auto">
          <a:xfrm>
            <a:off x="0" y="15875"/>
            <a:ext cx="8228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a:t>
            </a:r>
            <a:r>
              <a:rPr lang="zh-CN" altLang="en-US" sz="2400" b="1">
                <a:solidFill>
                  <a:schemeClr val="tx2"/>
                </a:solidFill>
                <a:latin typeface="Meiryo UI" pitchFamily="50" charset="-128"/>
                <a:ea typeface="Meiryo UI" pitchFamily="50" charset="-128"/>
                <a:cs typeface="Meiryo UI" pitchFamily="50" charset="-128"/>
                <a:sym typeface="Meiryo UI" pitchFamily="50" charset="-128"/>
              </a:rPr>
              <a:t>目次</a:t>
            </a:r>
          </a:p>
        </p:txBody>
      </p:sp>
      <p:sp>
        <p:nvSpPr>
          <p:cNvPr id="5123" name="コンテンツ プレースホルダー 2"/>
          <p:cNvSpPr>
            <a:spLocks noChangeArrowheads="1"/>
          </p:cNvSpPr>
          <p:nvPr/>
        </p:nvSpPr>
        <p:spPr bwMode="auto">
          <a:xfrm>
            <a:off x="236538" y="974725"/>
            <a:ext cx="875665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buFont typeface="Arial" charset="0"/>
              <a:buNone/>
            </a:pPr>
            <a:r>
              <a:rPr lang="ja-JP" altLang="en-US" sz="2400" dirty="0">
                <a:latin typeface="Meiryo UI" pitchFamily="50" charset="-128"/>
                <a:ea typeface="Meiryo UI" pitchFamily="50" charset="-128"/>
                <a:cs typeface="Meiryo UI" pitchFamily="50" charset="-128"/>
                <a:sym typeface="Meiryo UI" pitchFamily="50" charset="-128"/>
              </a:rPr>
              <a:t>１．申請内容</a:t>
            </a:r>
            <a:r>
              <a:rPr lang="en-US" altLang="ja-JP" sz="2400" dirty="0">
                <a:latin typeface="Meiryo UI" pitchFamily="50" charset="-128"/>
                <a:ea typeface="Meiryo UI" pitchFamily="50" charset="-128"/>
                <a:cs typeface="Meiryo UI" pitchFamily="50" charset="-128"/>
                <a:sym typeface="Meiryo UI" pitchFamily="50" charset="-128"/>
              </a:rPr>
              <a:t>						P3</a:t>
            </a:r>
            <a:endParaRPr lang="ja-JP" altLang="en-US" sz="24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endParaRPr lang="ja-JP" altLang="en-US" sz="24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r>
              <a:rPr lang="ja-JP" altLang="en-US" sz="2400" dirty="0">
                <a:latin typeface="Meiryo UI" pitchFamily="50" charset="-128"/>
                <a:ea typeface="Meiryo UI" pitchFamily="50" charset="-128"/>
                <a:cs typeface="Meiryo UI" pitchFamily="50" charset="-128"/>
                <a:sym typeface="Meiryo UI" pitchFamily="50" charset="-128"/>
              </a:rPr>
              <a:t>２．申請理由</a:t>
            </a:r>
            <a:r>
              <a:rPr lang="en-US" altLang="ja-JP" sz="2400" dirty="0">
                <a:latin typeface="Meiryo UI" pitchFamily="50" charset="-128"/>
                <a:ea typeface="Meiryo UI" pitchFamily="50" charset="-128"/>
                <a:cs typeface="Meiryo UI" pitchFamily="50" charset="-128"/>
                <a:sym typeface="Meiryo UI" pitchFamily="50" charset="-128"/>
              </a:rPr>
              <a:t>						</a:t>
            </a:r>
            <a:endParaRPr lang="ja-JP" altLang="en-US" sz="24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r>
              <a:rPr lang="ja-JP" altLang="en-US" sz="2000" dirty="0">
                <a:latin typeface="Meiryo UI" pitchFamily="50" charset="-128"/>
                <a:ea typeface="Meiryo UI" pitchFamily="50" charset="-128"/>
                <a:cs typeface="Meiryo UI" pitchFamily="50" charset="-128"/>
                <a:sym typeface="Meiryo UI" pitchFamily="50" charset="-128"/>
              </a:rPr>
              <a:t>　　２</a:t>
            </a:r>
            <a:r>
              <a:rPr lang="en-US" altLang="ja-JP" sz="2000" dirty="0">
                <a:latin typeface="Meiryo UI" pitchFamily="50" charset="-128"/>
                <a:ea typeface="Meiryo UI" pitchFamily="50" charset="-128"/>
                <a:cs typeface="Meiryo UI" pitchFamily="50" charset="-128"/>
                <a:sym typeface="Meiryo UI" pitchFamily="50" charset="-128"/>
              </a:rPr>
              <a:t>-</a:t>
            </a:r>
            <a:r>
              <a:rPr lang="ja-JP" altLang="en-US" sz="2000" dirty="0">
                <a:latin typeface="Meiryo UI" pitchFamily="50" charset="-128"/>
                <a:ea typeface="Meiryo UI" pitchFamily="50" charset="-128"/>
                <a:cs typeface="Meiryo UI" pitchFamily="50" charset="-128"/>
                <a:sym typeface="Meiryo UI" pitchFamily="50" charset="-128"/>
              </a:rPr>
              <a:t>１．神戸製鉄所の排水系統　　　　　　　</a:t>
            </a:r>
            <a:r>
              <a:rPr lang="en-US" altLang="ja-JP" sz="2000" dirty="0">
                <a:latin typeface="Meiryo UI" pitchFamily="50" charset="-128"/>
                <a:ea typeface="Meiryo UI" pitchFamily="50" charset="-128"/>
                <a:cs typeface="Meiryo UI" pitchFamily="50" charset="-128"/>
                <a:sym typeface="Meiryo UI" pitchFamily="50" charset="-128"/>
              </a:rPr>
              <a:t>			</a:t>
            </a:r>
            <a:r>
              <a:rPr lang="en-US" altLang="ja-JP" sz="2400" dirty="0">
                <a:latin typeface="Meiryo UI" pitchFamily="50" charset="-128"/>
                <a:ea typeface="Meiryo UI" pitchFamily="50" charset="-128"/>
                <a:cs typeface="Meiryo UI" pitchFamily="50" charset="-128"/>
                <a:sym typeface="Meiryo UI" pitchFamily="50" charset="-128"/>
              </a:rPr>
              <a:t>P4</a:t>
            </a:r>
            <a:endParaRPr lang="ja-JP" altLang="en-US" sz="24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r>
              <a:rPr lang="ja-JP" altLang="en-US" sz="2000" dirty="0">
                <a:latin typeface="Meiryo UI" pitchFamily="50" charset="-128"/>
                <a:ea typeface="Meiryo UI" pitchFamily="50" charset="-128"/>
                <a:cs typeface="Meiryo UI" pitchFamily="50" charset="-128"/>
                <a:sym typeface="Meiryo UI" pitchFamily="50" charset="-128"/>
              </a:rPr>
              <a:t>　　２</a:t>
            </a:r>
            <a:r>
              <a:rPr lang="en-US" altLang="ja-JP" sz="2000" dirty="0">
                <a:latin typeface="Meiryo UI" pitchFamily="50" charset="-128"/>
                <a:ea typeface="Meiryo UI" pitchFamily="50" charset="-128"/>
                <a:cs typeface="Meiryo UI" pitchFamily="50" charset="-128"/>
                <a:sym typeface="Meiryo UI" pitchFamily="50" charset="-128"/>
              </a:rPr>
              <a:t>-2</a:t>
            </a:r>
            <a:r>
              <a:rPr lang="ja-JP" altLang="en-US" sz="2000" dirty="0" err="1">
                <a:latin typeface="Meiryo UI" pitchFamily="50" charset="-128"/>
                <a:ea typeface="Meiryo UI" pitchFamily="50" charset="-128"/>
                <a:cs typeface="Meiryo UI" pitchFamily="50" charset="-128"/>
                <a:sym typeface="Meiryo UI" pitchFamily="50" charset="-128"/>
              </a:rPr>
              <a:t>．</a:t>
            </a:r>
            <a:r>
              <a:rPr lang="en-US" altLang="ja-JP" sz="2000" dirty="0">
                <a:latin typeface="Meiryo UI" pitchFamily="50" charset="-128"/>
                <a:ea typeface="Meiryo UI" pitchFamily="50" charset="-128"/>
                <a:cs typeface="Meiryo UI" pitchFamily="50" charset="-128"/>
                <a:sym typeface="Meiryo UI" pitchFamily="50" charset="-128"/>
              </a:rPr>
              <a:t>7</a:t>
            </a:r>
            <a:r>
              <a:rPr lang="ja-JP" altLang="en-US" sz="2000" dirty="0">
                <a:latin typeface="Meiryo UI" pitchFamily="50" charset="-128"/>
                <a:ea typeface="Meiryo UI" pitchFamily="50" charset="-128"/>
                <a:cs typeface="Meiryo UI" pitchFamily="50" charset="-128"/>
                <a:sym typeface="Meiryo UI" pitchFamily="50" charset="-128"/>
              </a:rPr>
              <a:t>線材・</a:t>
            </a:r>
            <a:r>
              <a:rPr lang="en-US" altLang="ja-JP" sz="2000" dirty="0">
                <a:latin typeface="Meiryo UI" pitchFamily="50" charset="-128"/>
                <a:ea typeface="Meiryo UI" pitchFamily="50" charset="-128"/>
                <a:cs typeface="Meiryo UI" pitchFamily="50" charset="-128"/>
                <a:sym typeface="Meiryo UI" pitchFamily="50" charset="-128"/>
              </a:rPr>
              <a:t>3</a:t>
            </a:r>
            <a:r>
              <a:rPr lang="ja-JP" altLang="en-US" sz="2000" dirty="0">
                <a:latin typeface="Meiryo UI" pitchFamily="50" charset="-128"/>
                <a:ea typeface="Meiryo UI" pitchFamily="50" charset="-128"/>
                <a:cs typeface="Meiryo UI" pitchFamily="50" charset="-128"/>
                <a:sym typeface="Meiryo UI" pitchFamily="50" charset="-128"/>
              </a:rPr>
              <a:t>加工工場周辺の課題　</a:t>
            </a:r>
            <a:r>
              <a:rPr lang="en-US" altLang="ja-JP" sz="2000" dirty="0">
                <a:latin typeface="Meiryo UI" pitchFamily="50" charset="-128"/>
                <a:ea typeface="Meiryo UI" pitchFamily="50" charset="-128"/>
                <a:cs typeface="Meiryo UI" pitchFamily="50" charset="-128"/>
                <a:sym typeface="Meiryo UI" pitchFamily="50" charset="-128"/>
              </a:rPr>
              <a:t>		</a:t>
            </a:r>
            <a:r>
              <a:rPr lang="ja-JP" altLang="en-US" sz="2000" dirty="0">
                <a:latin typeface="Meiryo UI" pitchFamily="50" charset="-128"/>
                <a:ea typeface="Meiryo UI" pitchFamily="50" charset="-128"/>
                <a:cs typeface="Meiryo UI" pitchFamily="50" charset="-128"/>
                <a:sym typeface="Meiryo UI" pitchFamily="50" charset="-128"/>
              </a:rPr>
              <a:t>　　　　　　</a:t>
            </a:r>
            <a:r>
              <a:rPr lang="en-US" altLang="ja-JP" sz="2000" dirty="0">
                <a:latin typeface="Meiryo UI" pitchFamily="50" charset="-128"/>
                <a:ea typeface="Meiryo UI" pitchFamily="50" charset="-128"/>
                <a:cs typeface="Meiryo UI" pitchFamily="50" charset="-128"/>
                <a:sym typeface="Meiryo UI" pitchFamily="50" charset="-128"/>
              </a:rPr>
              <a:t>	</a:t>
            </a:r>
            <a:r>
              <a:rPr lang="en-US" altLang="ja-JP" sz="2400" dirty="0">
                <a:latin typeface="Meiryo UI" pitchFamily="50" charset="-128"/>
                <a:ea typeface="Meiryo UI" pitchFamily="50" charset="-128"/>
                <a:cs typeface="Meiryo UI" pitchFamily="50" charset="-128"/>
                <a:sym typeface="Meiryo UI" pitchFamily="50" charset="-128"/>
              </a:rPr>
              <a:t>P5</a:t>
            </a:r>
          </a:p>
          <a:p>
            <a:pPr eaLnBrk="1" hangingPunct="1">
              <a:buFont typeface="Arial" charset="0"/>
              <a:buNone/>
            </a:pPr>
            <a:r>
              <a:rPr lang="ja-JP" altLang="en-US" sz="2000" dirty="0">
                <a:latin typeface="Meiryo UI" pitchFamily="50" charset="-128"/>
                <a:ea typeface="Meiryo UI" pitchFamily="50" charset="-128"/>
                <a:cs typeface="Meiryo UI" pitchFamily="50" charset="-128"/>
                <a:sym typeface="Meiryo UI" pitchFamily="50" charset="-128"/>
              </a:rPr>
              <a:t>　　２</a:t>
            </a:r>
            <a:r>
              <a:rPr lang="en-US" altLang="ja-JP" sz="2000" dirty="0">
                <a:latin typeface="Meiryo UI" pitchFamily="50" charset="-128"/>
                <a:ea typeface="Meiryo UI" pitchFamily="50" charset="-128"/>
                <a:cs typeface="Meiryo UI" pitchFamily="50" charset="-128"/>
                <a:sym typeface="Meiryo UI" pitchFamily="50" charset="-128"/>
              </a:rPr>
              <a:t>-3.</a:t>
            </a:r>
            <a:r>
              <a:rPr lang="ja-JP" altLang="en-US" sz="2000" dirty="0">
                <a:latin typeface="Meiryo UI" pitchFamily="50" charset="-128"/>
                <a:ea typeface="Meiryo UI" pitchFamily="50" charset="-128"/>
                <a:cs typeface="Meiryo UI" pitchFamily="50" charset="-128"/>
                <a:sym typeface="Meiryo UI" pitchFamily="50" charset="-128"/>
              </a:rPr>
              <a:t>　解決手段</a:t>
            </a:r>
            <a:r>
              <a:rPr lang="en-US" altLang="ja-JP" sz="2000" dirty="0">
                <a:latin typeface="Meiryo UI" pitchFamily="50" charset="-128"/>
                <a:ea typeface="Meiryo UI" pitchFamily="50" charset="-128"/>
                <a:cs typeface="Meiryo UI" pitchFamily="50" charset="-128"/>
                <a:sym typeface="Meiryo UI" pitchFamily="50" charset="-128"/>
              </a:rPr>
              <a:t>						</a:t>
            </a:r>
            <a:r>
              <a:rPr lang="en-US" altLang="ja-JP" sz="2400" dirty="0">
                <a:latin typeface="Meiryo UI" pitchFamily="50" charset="-128"/>
                <a:ea typeface="Meiryo UI" pitchFamily="50" charset="-128"/>
                <a:cs typeface="Meiryo UI" pitchFamily="50" charset="-128"/>
                <a:sym typeface="Meiryo UI" pitchFamily="50" charset="-128"/>
              </a:rPr>
              <a:t>P9</a:t>
            </a:r>
            <a:endParaRPr lang="ja-JP" altLang="en-US" sz="24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r>
              <a:rPr lang="ja-JP" altLang="en-US" sz="2000" dirty="0">
                <a:latin typeface="Meiryo UI" pitchFamily="50" charset="-128"/>
                <a:ea typeface="Meiryo UI" pitchFamily="50" charset="-128"/>
                <a:cs typeface="Meiryo UI" pitchFamily="50" charset="-128"/>
                <a:sym typeface="Meiryo UI" pitchFamily="50" charset="-128"/>
              </a:rPr>
              <a:t>　　　　　　　</a:t>
            </a:r>
            <a:r>
              <a:rPr lang="ja-JP" altLang="en-US" sz="1800" dirty="0">
                <a:latin typeface="Meiryo UI" pitchFamily="50" charset="-128"/>
                <a:ea typeface="Meiryo UI" pitchFamily="50" charset="-128"/>
                <a:cs typeface="Meiryo UI" pitchFamily="50" charset="-128"/>
                <a:sym typeface="Meiryo UI" pitchFamily="50" charset="-128"/>
              </a:rPr>
              <a:t>　　　　</a:t>
            </a: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buFont typeface="Arial" charset="0"/>
              <a:buNone/>
            </a:pPr>
            <a:endParaRPr lang="en-US" altLang="ja-JP" sz="2400" dirty="0">
              <a:latin typeface="Meiryo UI" pitchFamily="50" charset="-128"/>
              <a:ea typeface="Meiryo UI" pitchFamily="50" charset="-128"/>
              <a:cs typeface="Meiryo UI" pitchFamily="50" charset="-128"/>
              <a:sym typeface="Meiryo UI" pitchFamily="50" charset="-128"/>
            </a:endParaRPr>
          </a:p>
          <a:p>
            <a:pPr eaLnBrk="1" hangingPunct="1">
              <a:buNone/>
            </a:pPr>
            <a:r>
              <a:rPr lang="en-US" altLang="ja-JP" sz="2400" dirty="0">
                <a:latin typeface="Meiryo UI" pitchFamily="50" charset="-128"/>
                <a:ea typeface="Meiryo UI" pitchFamily="50" charset="-128"/>
                <a:cs typeface="Meiryo UI" pitchFamily="50" charset="-128"/>
                <a:sym typeface="Meiryo UI" pitchFamily="50" charset="-128"/>
              </a:rPr>
              <a:t>3. </a:t>
            </a:r>
            <a:r>
              <a:rPr lang="ja-JP" altLang="en-US" sz="2400" dirty="0">
                <a:latin typeface="Meiryo UI" pitchFamily="50" charset="-128"/>
                <a:ea typeface="Meiryo UI" pitchFamily="50" charset="-128"/>
                <a:cs typeface="Meiryo UI" pitchFamily="50" charset="-128"/>
                <a:sym typeface="Meiryo UI" pitchFamily="50" charset="-128"/>
              </a:rPr>
              <a:t>工事予算</a:t>
            </a:r>
            <a:r>
              <a:rPr lang="en-US" altLang="ja-JP" sz="2400" dirty="0">
                <a:latin typeface="Meiryo UI" pitchFamily="50" charset="-128"/>
                <a:ea typeface="Meiryo UI" pitchFamily="50" charset="-128"/>
                <a:cs typeface="Meiryo UI" pitchFamily="50" charset="-128"/>
                <a:sym typeface="Meiryo UI" pitchFamily="50" charset="-128"/>
              </a:rPr>
              <a:t>		</a:t>
            </a:r>
            <a:r>
              <a:rPr lang="ja-JP" altLang="en-US" sz="2400" dirty="0">
                <a:latin typeface="Meiryo UI" pitchFamily="50" charset="-128"/>
                <a:ea typeface="Meiryo UI" pitchFamily="50" charset="-128"/>
                <a:cs typeface="Meiryo UI" pitchFamily="50" charset="-128"/>
                <a:sym typeface="Meiryo UI" pitchFamily="50" charset="-128"/>
              </a:rPr>
              <a:t>　　　　　　　　　　　　　　　　　　　　　　</a:t>
            </a:r>
            <a:r>
              <a:rPr lang="en-US" altLang="ja-JP" sz="2400" dirty="0">
                <a:latin typeface="Meiryo UI" pitchFamily="50" charset="-128"/>
                <a:ea typeface="Meiryo UI" pitchFamily="50" charset="-128"/>
                <a:cs typeface="Meiryo UI" pitchFamily="50" charset="-128"/>
                <a:sym typeface="Meiryo UI" pitchFamily="50" charset="-128"/>
              </a:rPr>
              <a:t>P16</a:t>
            </a:r>
          </a:p>
          <a:p>
            <a:pPr eaLnBrk="1" hangingPunct="1">
              <a:buFont typeface="Arial" charset="0"/>
              <a:buNone/>
            </a:pPr>
            <a:r>
              <a:rPr lang="en-US" altLang="ja-JP" sz="2400" dirty="0">
                <a:latin typeface="Meiryo UI" pitchFamily="50" charset="-128"/>
                <a:ea typeface="Meiryo UI" pitchFamily="50" charset="-128"/>
                <a:cs typeface="Meiryo UI" pitchFamily="50" charset="-128"/>
                <a:sym typeface="Meiryo UI" pitchFamily="50" charset="-128"/>
              </a:rPr>
              <a:t>		</a:t>
            </a:r>
            <a:r>
              <a:rPr lang="ja-JP" altLang="en-US" sz="2400" dirty="0">
                <a:latin typeface="Meiryo UI" pitchFamily="50" charset="-128"/>
                <a:ea typeface="Meiryo UI" pitchFamily="50" charset="-128"/>
                <a:cs typeface="Meiryo UI" pitchFamily="50" charset="-128"/>
                <a:sym typeface="Meiryo UI" pitchFamily="50" charset="-128"/>
              </a:rPr>
              <a:t>　　　　　　</a:t>
            </a:r>
            <a:r>
              <a:rPr lang="en-US" altLang="ja-JP" sz="2400" dirty="0">
                <a:latin typeface="Meiryo UI" pitchFamily="50" charset="-128"/>
                <a:ea typeface="Meiryo UI" pitchFamily="50" charset="-128"/>
                <a:cs typeface="Meiryo UI" pitchFamily="50" charset="-128"/>
                <a:sym typeface="Meiryo UI" pitchFamily="50" charset="-128"/>
              </a:rPr>
              <a:t>	</a:t>
            </a:r>
            <a:r>
              <a:rPr lang="ja-JP" altLang="en-US" sz="2400" dirty="0">
                <a:latin typeface="Meiryo UI" pitchFamily="50" charset="-128"/>
                <a:ea typeface="Meiryo UI" pitchFamily="50" charset="-128"/>
                <a:cs typeface="Meiryo UI" pitchFamily="50" charset="-128"/>
                <a:sym typeface="Meiryo UI" pitchFamily="50" charset="-128"/>
              </a:rPr>
              <a:t>　　　　</a:t>
            </a:r>
            <a:endParaRPr lang="en-US" altLang="ja-JP" sz="2400" dirty="0">
              <a:latin typeface="Meiryo UI" pitchFamily="50" charset="-128"/>
              <a:ea typeface="Meiryo UI" pitchFamily="50" charset="-128"/>
              <a:cs typeface="Meiryo UI" pitchFamily="50" charset="-128"/>
              <a:sym typeface="Meiryo UI" pitchFamily="50" charset="-128"/>
            </a:endParaRPr>
          </a:p>
          <a:p>
            <a:pPr eaLnBrk="1" hangingPunct="1">
              <a:buNone/>
            </a:pPr>
            <a:r>
              <a:rPr lang="en-US" altLang="ja-JP" sz="2400" dirty="0">
                <a:latin typeface="Meiryo UI" pitchFamily="50" charset="-128"/>
                <a:ea typeface="Meiryo UI" pitchFamily="50" charset="-128"/>
                <a:cs typeface="Meiryo UI" pitchFamily="50" charset="-128"/>
                <a:sym typeface="Meiryo UI" pitchFamily="50" charset="-128"/>
              </a:rPr>
              <a:t>4. </a:t>
            </a:r>
            <a:r>
              <a:rPr lang="ja-JP" altLang="en-US" sz="2400" dirty="0">
                <a:latin typeface="Meiryo UI" pitchFamily="50" charset="-128"/>
                <a:ea typeface="Meiryo UI" pitchFamily="50" charset="-128"/>
                <a:cs typeface="Meiryo UI" pitchFamily="50" charset="-128"/>
                <a:sym typeface="Meiryo UI" pitchFamily="50" charset="-128"/>
              </a:rPr>
              <a:t>工事工程、知的財産、届出、実行責任者　　　　　　　　</a:t>
            </a:r>
            <a:r>
              <a:rPr lang="en-US" altLang="ja-JP" sz="2400" dirty="0">
                <a:latin typeface="Meiryo UI" pitchFamily="50" charset="-128"/>
                <a:ea typeface="Meiryo UI" pitchFamily="50" charset="-128"/>
                <a:cs typeface="Meiryo UI" pitchFamily="50" charset="-128"/>
                <a:sym typeface="Meiryo UI" pitchFamily="50" charset="-128"/>
              </a:rPr>
              <a:t>P17</a:t>
            </a:r>
          </a:p>
          <a:p>
            <a:pPr eaLnBrk="1" hangingPunct="1">
              <a:buNone/>
            </a:pPr>
            <a:r>
              <a:rPr lang="ja-JP" altLang="en-US" sz="2400" dirty="0">
                <a:latin typeface="Meiryo UI" pitchFamily="50" charset="-128"/>
                <a:ea typeface="Meiryo UI" pitchFamily="50" charset="-128"/>
                <a:cs typeface="Meiryo UI" pitchFamily="50" charset="-128"/>
                <a:sym typeface="Meiryo UI" pitchFamily="50" charset="-128"/>
              </a:rPr>
              <a:t>　　　　　　　　　　　　　　　　　</a:t>
            </a:r>
            <a:endParaRPr lang="en-US" altLang="ja-JP" sz="2400" dirty="0">
              <a:latin typeface="Meiryo UI" pitchFamily="50" charset="-128"/>
              <a:ea typeface="Meiryo UI" pitchFamily="50" charset="-128"/>
              <a:cs typeface="Meiryo UI" pitchFamily="50" charset="-128"/>
              <a:sym typeface="Meiryo UI"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1.</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申請内容</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6147" name="正方形/長方形 8"/>
          <p:cNvSpPr>
            <a:spLocks noChangeArrowheads="1"/>
          </p:cNvSpPr>
          <p:nvPr/>
        </p:nvSpPr>
        <p:spPr bwMode="auto">
          <a:xfrm>
            <a:off x="109538" y="612483"/>
            <a:ext cx="8950325" cy="1708030"/>
          </a:xfrm>
          <a:prstGeom prst="rect">
            <a:avLst/>
          </a:prstGeom>
          <a:solidFill>
            <a:schemeClr val="bg1"/>
          </a:solidFill>
          <a:ln w="19050">
            <a:solidFill>
              <a:schemeClr val="tx1"/>
            </a:solidFill>
            <a:miter lim="800000"/>
            <a:headEnd/>
            <a:tailEnd/>
          </a:ln>
        </p:spPr>
        <p:txBody>
          <a:bodyPr lIns="216000" rIns="216000"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lnSpc>
                <a:spcPts val="2500"/>
              </a:lnSpc>
              <a:spcBef>
                <a:spcPct val="0"/>
              </a:spcBef>
              <a:buNone/>
            </a:pPr>
            <a:r>
              <a:rPr lang="ja-JP" altLang="en-US" sz="2400" dirty="0">
                <a:latin typeface="Meiryo UI" pitchFamily="50" charset="-128"/>
                <a:ea typeface="Meiryo UI" pitchFamily="50" charset="-128"/>
                <a:cs typeface="メイリオ" pitchFamily="50" charset="-128"/>
                <a:sym typeface="Meiryo UI" pitchFamily="50" charset="-128"/>
              </a:rPr>
              <a:t>　</a:t>
            </a:r>
            <a:r>
              <a:rPr lang="en-US" altLang="ja-JP" sz="2400" dirty="0">
                <a:latin typeface="メイリオ" pitchFamily="50" charset="-128"/>
                <a:ea typeface="メイリオ" pitchFamily="50" charset="-128"/>
                <a:cs typeface="メイリオ" pitchFamily="50" charset="-128"/>
                <a:sym typeface="メイリオ" pitchFamily="50" charset="-128"/>
              </a:rPr>
              <a:t>7</a:t>
            </a:r>
            <a:r>
              <a:rPr lang="ja-JP" altLang="en-US" sz="2400" dirty="0">
                <a:latin typeface="メイリオ" pitchFamily="50" charset="-128"/>
                <a:ea typeface="メイリオ" pitchFamily="50" charset="-128"/>
                <a:cs typeface="メイリオ" pitchFamily="50" charset="-128"/>
                <a:sym typeface="メイリオ" pitchFamily="50" charset="-128"/>
              </a:rPr>
              <a:t>線材工場・３加工周辺での</a:t>
            </a:r>
            <a:r>
              <a:rPr lang="ja-JP" altLang="en-US" sz="2400" dirty="0">
                <a:latin typeface="Meiryo UI" pitchFamily="50" charset="-128"/>
                <a:ea typeface="Meiryo UI" pitchFamily="50" charset="-128"/>
                <a:cs typeface="Meiryo UI" pitchFamily="50" charset="-128"/>
                <a:sym typeface="Meiryo UI" pitchFamily="50" charset="-128"/>
              </a:rPr>
              <a:t>豪雨、高潮による冠水対策として</a:t>
            </a:r>
            <a:r>
              <a:rPr lang="en-US" altLang="ja-JP" sz="2400" dirty="0">
                <a:latin typeface="Meiryo UI" pitchFamily="50" charset="-128"/>
                <a:ea typeface="Meiryo UI" pitchFamily="50" charset="-128"/>
                <a:cs typeface="Meiryo UI" pitchFamily="50" charset="-128"/>
                <a:sym typeface="Meiryo UI" pitchFamily="50" charset="-128"/>
              </a:rPr>
              <a:t>No.16</a:t>
            </a:r>
            <a:r>
              <a:rPr lang="ja-JP" altLang="en-US" sz="2400" dirty="0">
                <a:latin typeface="Meiryo UI" pitchFamily="50" charset="-128"/>
                <a:ea typeface="Meiryo UI" pitchFamily="50" charset="-128"/>
                <a:cs typeface="Meiryo UI" pitchFamily="50" charset="-128"/>
                <a:sym typeface="Meiryo UI" pitchFamily="50" charset="-128"/>
              </a:rPr>
              <a:t>水処理施設能力増強工事、および放流方式の変更を総額</a:t>
            </a:r>
            <a:r>
              <a:rPr lang="en-US" altLang="ja-JP" sz="2400" dirty="0">
                <a:latin typeface="Meiryo UI" pitchFamily="50" charset="-128"/>
                <a:ea typeface="Meiryo UI" pitchFamily="50" charset="-128"/>
                <a:cs typeface="Meiryo UI" pitchFamily="50" charset="-128"/>
                <a:sym typeface="Meiryo UI" pitchFamily="50" charset="-128"/>
              </a:rPr>
              <a:t>262</a:t>
            </a:r>
            <a:r>
              <a:rPr lang="ja-JP" altLang="en-US" sz="2400" dirty="0">
                <a:latin typeface="Meiryo UI" pitchFamily="50" charset="-128"/>
                <a:ea typeface="Meiryo UI" pitchFamily="50" charset="-128"/>
                <a:cs typeface="Meiryo UI" pitchFamily="50" charset="-128"/>
                <a:sym typeface="Meiryo UI" pitchFamily="50" charset="-128"/>
              </a:rPr>
              <a:t>百万円で実施すること。</a:t>
            </a:r>
            <a:endParaRPr lang="en-US" altLang="ja-JP" sz="2400" dirty="0">
              <a:latin typeface="Meiryo UI" pitchFamily="50" charset="-128"/>
              <a:ea typeface="Meiryo UI" pitchFamily="50" charset="-128"/>
              <a:cs typeface="Meiryo UI" pitchFamily="50" charset="-128"/>
              <a:sym typeface="Meiryo UI" pitchFamily="50" charset="-128"/>
            </a:endParaRPr>
          </a:p>
          <a:p>
            <a:pPr eaLnBrk="1" hangingPunct="1">
              <a:lnSpc>
                <a:spcPts val="2500"/>
              </a:lnSpc>
              <a:spcBef>
                <a:spcPct val="0"/>
              </a:spcBef>
              <a:buNone/>
            </a:pPr>
            <a:r>
              <a:rPr lang="ja-JP" altLang="en-US" sz="1400" dirty="0">
                <a:latin typeface="Meiryo UI" pitchFamily="50" charset="-128"/>
                <a:ea typeface="Meiryo UI" pitchFamily="50" charset="-128"/>
                <a:cs typeface="Meiryo UI" pitchFamily="50" charset="-128"/>
                <a:sym typeface="Meiryo UI" pitchFamily="50" charset="-128"/>
              </a:rPr>
              <a:t>　　　別途、　解体費</a:t>
            </a:r>
            <a:r>
              <a:rPr lang="en-US" altLang="ja-JP" sz="1400" dirty="0">
                <a:latin typeface="Meiryo UI" pitchFamily="50" charset="-128"/>
                <a:ea typeface="Meiryo UI" pitchFamily="50" charset="-128"/>
                <a:cs typeface="Meiryo UI" pitchFamily="50" charset="-128"/>
                <a:sym typeface="Meiryo UI" pitchFamily="50" charset="-128"/>
              </a:rPr>
              <a:t>1.6</a:t>
            </a:r>
            <a:r>
              <a:rPr lang="ja-JP" altLang="en-US" sz="1400" dirty="0">
                <a:latin typeface="Meiryo UI" pitchFamily="50" charset="-128"/>
                <a:ea typeface="Meiryo UI" pitchFamily="50" charset="-128"/>
                <a:cs typeface="Meiryo UI" pitchFamily="50" charset="-128"/>
                <a:sym typeface="Meiryo UI" pitchFamily="50" charset="-128"/>
              </a:rPr>
              <a:t>百万円が必要。</a:t>
            </a:r>
            <a:endParaRPr lang="en-US" altLang="ja-JP" sz="1400" dirty="0">
              <a:latin typeface="Meiryo UI" pitchFamily="50" charset="-128"/>
              <a:ea typeface="Meiryo UI" pitchFamily="50" charset="-128"/>
              <a:cs typeface="Meiryo UI" pitchFamily="50" charset="-128"/>
              <a:sym typeface="Meiryo UI" pitchFamily="50" charset="-128"/>
            </a:endParaRPr>
          </a:p>
          <a:p>
            <a:pPr eaLnBrk="1" hangingPunct="1">
              <a:lnSpc>
                <a:spcPts val="2500"/>
              </a:lnSpc>
              <a:spcBef>
                <a:spcPct val="0"/>
              </a:spcBef>
              <a:buNone/>
            </a:pPr>
            <a:r>
              <a:rPr lang="ja-JP" altLang="en-US" sz="2400" dirty="0">
                <a:latin typeface="Meiryo UI" pitchFamily="50" charset="-128"/>
                <a:ea typeface="Meiryo UI" pitchFamily="50" charset="-128"/>
                <a:cs typeface="Meiryo UI" pitchFamily="50" charset="-128"/>
                <a:sym typeface="Meiryo UI" pitchFamily="50" charset="-128"/>
              </a:rPr>
              <a:t>　</a:t>
            </a:r>
            <a:r>
              <a:rPr lang="ja-JP" altLang="en-US" sz="1000" dirty="0">
                <a:latin typeface="Meiryo UI" pitchFamily="50" charset="-128"/>
                <a:ea typeface="Meiryo UI" pitchFamily="50" charset="-128"/>
                <a:cs typeface="Meiryo UI" pitchFamily="50" charset="-128"/>
                <a:sym typeface="Meiryo UI" pitchFamily="50" charset="-128"/>
              </a:rPr>
              <a:t>　　</a:t>
            </a:r>
            <a:r>
              <a:rPr lang="en-US" altLang="ja-JP" sz="1400" dirty="0">
                <a:latin typeface="Meiryo UI" pitchFamily="50" charset="-128"/>
                <a:ea typeface="Meiryo UI" pitchFamily="50" charset="-128"/>
                <a:cs typeface="Meiryo UI" pitchFamily="50" charset="-128"/>
                <a:sym typeface="Meiryo UI" pitchFamily="50" charset="-128"/>
              </a:rPr>
              <a:t>※3</a:t>
            </a:r>
            <a:r>
              <a:rPr lang="ja-JP" altLang="en-US" sz="1400" dirty="0">
                <a:latin typeface="Meiryo UI" pitchFamily="50" charset="-128"/>
                <a:ea typeface="Meiryo UI" pitchFamily="50" charset="-128"/>
                <a:cs typeface="Meiryo UI" pitchFamily="50" charset="-128"/>
                <a:sym typeface="Meiryo UI" pitchFamily="50" charset="-128"/>
              </a:rPr>
              <a:t>分塊工場、</a:t>
            </a:r>
            <a:r>
              <a:rPr lang="en-US" altLang="ja-JP" sz="1400" dirty="0">
                <a:latin typeface="Meiryo UI" pitchFamily="50" charset="-128"/>
                <a:ea typeface="Meiryo UI" pitchFamily="50" charset="-128"/>
                <a:cs typeface="Meiryo UI" pitchFamily="50" charset="-128"/>
                <a:sym typeface="Meiryo UI" pitchFamily="50" charset="-128"/>
              </a:rPr>
              <a:t>1</a:t>
            </a:r>
            <a:r>
              <a:rPr lang="ja-JP" altLang="en-US" sz="1400" dirty="0">
                <a:latin typeface="Meiryo UI" pitchFamily="50" charset="-128"/>
                <a:ea typeface="Meiryo UI" pitchFamily="50" charset="-128"/>
                <a:cs typeface="Meiryo UI" pitchFamily="50" charset="-128"/>
                <a:sym typeface="Meiryo UI" pitchFamily="50" charset="-128"/>
              </a:rPr>
              <a:t>加工工場は、冠水した設備の高所への移設、防水堤の設置等で対応可能と判断</a:t>
            </a:r>
            <a:r>
              <a:rPr lang="ja-JP" altLang="en-US" sz="1800" dirty="0">
                <a:solidFill>
                  <a:schemeClr val="bg1"/>
                </a:solidFill>
                <a:latin typeface="Meiryo UI" pitchFamily="50" charset="-128"/>
                <a:ea typeface="Meiryo UI" pitchFamily="50" charset="-128"/>
                <a:cs typeface="Meiryo UI" pitchFamily="50" charset="-128"/>
                <a:sym typeface="Meiryo UI" pitchFamily="50" charset="-128"/>
              </a:rPr>
              <a:t>解体費</a:t>
            </a:r>
          </a:p>
        </p:txBody>
      </p:sp>
      <p:sp>
        <p:nvSpPr>
          <p:cNvPr id="6148" name="テキスト ボックス 10"/>
          <p:cNvSpPr>
            <a:spLocks noChangeArrowheads="1"/>
          </p:cNvSpPr>
          <p:nvPr/>
        </p:nvSpPr>
        <p:spPr bwMode="auto">
          <a:xfrm>
            <a:off x="177800" y="2436852"/>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ja-JP" altLang="ja-JP" sz="2000" dirty="0">
                <a:latin typeface="Meiryo UI" pitchFamily="50" charset="-128"/>
                <a:ea typeface="Meiryo UI" pitchFamily="50" charset="-128"/>
                <a:cs typeface="Meiryo UI" pitchFamily="50" charset="-128"/>
                <a:sym typeface="Meiryo UI" pitchFamily="50" charset="-128"/>
              </a:rPr>
              <a:t>＜設備投資概要＞</a:t>
            </a:r>
            <a:endParaRPr lang="ja-JP" altLang="ja-JP" sz="1800" dirty="0">
              <a:latin typeface="Meiryo UI" pitchFamily="50" charset="-128"/>
              <a:ea typeface="Meiryo UI" pitchFamily="50" charset="-128"/>
              <a:cs typeface="Meiryo UI" pitchFamily="50" charset="-128"/>
              <a:sym typeface="Meiryo UI" pitchFamily="50" charset="-128"/>
            </a:endParaRPr>
          </a:p>
        </p:txBody>
      </p:sp>
      <p:graphicFrame>
        <p:nvGraphicFramePr>
          <p:cNvPr id="7173" name="Group 5"/>
          <p:cNvGraphicFramePr>
            <a:graphicFrameLocks noGrp="1"/>
          </p:cNvGraphicFramePr>
          <p:nvPr>
            <p:extLst>
              <p:ext uri="{D42A27DB-BD31-4B8C-83A1-F6EECF244321}">
                <p14:modId xmlns:p14="http://schemas.microsoft.com/office/powerpoint/2010/main" val="2726116878"/>
              </p:ext>
            </p:extLst>
          </p:nvPr>
        </p:nvGraphicFramePr>
        <p:xfrm>
          <a:off x="200025" y="2781340"/>
          <a:ext cx="8751888" cy="3998446"/>
        </p:xfrm>
        <a:graphic>
          <a:graphicData uri="http://schemas.openxmlformats.org/drawingml/2006/table">
            <a:tbl>
              <a:tblPr/>
              <a:tblGrid>
                <a:gridCol w="1568390">
                  <a:extLst>
                    <a:ext uri="{9D8B030D-6E8A-4147-A177-3AD203B41FA5}">
                      <a16:colId xmlns:a16="http://schemas.microsoft.com/office/drawing/2014/main" val="20000"/>
                    </a:ext>
                  </a:extLst>
                </a:gridCol>
                <a:gridCol w="7183498">
                  <a:extLst>
                    <a:ext uri="{9D8B030D-6E8A-4147-A177-3AD203B41FA5}">
                      <a16:colId xmlns:a16="http://schemas.microsoft.com/office/drawing/2014/main" val="20001"/>
                    </a:ext>
                  </a:extLst>
                </a:gridCol>
              </a:tblGrid>
              <a:tr h="627123">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項目</a:t>
                      </a:r>
                      <a:endParaRPr kumimoji="0" lang="ja-JP" altLang="en-US" sz="2800" b="1" i="0" u="none" strike="noStrike" cap="none" normalizeH="0" baseline="0" dirty="0">
                        <a:ln>
                          <a:noFill/>
                        </a:ln>
                        <a:solidFill>
                          <a:schemeClr val="bg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内容</a:t>
                      </a:r>
                      <a:endParaRPr kumimoji="0" lang="ja-JP" altLang="en-US" sz="2800" b="1" i="0" u="none" strike="noStrike" cap="none" normalizeH="0" baseline="0" dirty="0">
                        <a:ln>
                          <a:noFill/>
                        </a:ln>
                        <a:solidFill>
                          <a:schemeClr val="bg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5865">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工事場所</a:t>
                      </a:r>
                      <a:endParaRPr kumimoji="0" lang="ja-JP" altLang="en-US" sz="2800" b="1"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神戸製鉄所　</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No.1</a:t>
                      </a:r>
                      <a:r>
                        <a:rPr lang="en-US" altLang="ja-JP" sz="2000" b="1" dirty="0">
                          <a:latin typeface="Meiryo UI" pitchFamily="50" charset="-128"/>
                          <a:ea typeface="Meiryo UI" pitchFamily="50" charset="-128"/>
                          <a:cs typeface="Meiryo UI" pitchFamily="50" charset="-128"/>
                          <a:sym typeface="Meiryo UI" pitchFamily="50" charset="-128"/>
                        </a:rPr>
                        <a:t>6</a:t>
                      </a:r>
                      <a:r>
                        <a:rPr lang="ja-JP" altLang="en-US" sz="2000" b="1" dirty="0">
                          <a:latin typeface="Meiryo UI" pitchFamily="50" charset="-128"/>
                          <a:ea typeface="Meiryo UI" pitchFamily="50" charset="-128"/>
                          <a:cs typeface="Meiryo UI" pitchFamily="50" charset="-128"/>
                          <a:sym typeface="Meiryo UI" pitchFamily="50" charset="-128"/>
                        </a:rPr>
                        <a:t>水処理施設および</a:t>
                      </a:r>
                      <a:r>
                        <a:rPr lang="en-US" altLang="ja-JP" sz="2000" b="1" dirty="0">
                          <a:latin typeface="Meiryo UI" pitchFamily="50" charset="-128"/>
                          <a:ea typeface="Meiryo UI" pitchFamily="50" charset="-128"/>
                          <a:cs typeface="Meiryo UI" pitchFamily="50" charset="-128"/>
                          <a:sym typeface="Meiryo UI" pitchFamily="50" charset="-128"/>
                        </a:rPr>
                        <a:t>7</a:t>
                      </a:r>
                      <a:r>
                        <a:rPr lang="ja-JP" altLang="en-US" sz="2000" b="1" dirty="0">
                          <a:latin typeface="Meiryo UI" pitchFamily="50" charset="-128"/>
                          <a:ea typeface="Meiryo UI" pitchFamily="50" charset="-128"/>
                          <a:cs typeface="Meiryo UI" pitchFamily="50" charset="-128"/>
                          <a:sym typeface="Meiryo UI" pitchFamily="50" charset="-128"/>
                        </a:rPr>
                        <a:t>線材・</a:t>
                      </a:r>
                      <a:r>
                        <a:rPr lang="en-US" altLang="ja-JP" sz="2000" b="1" dirty="0">
                          <a:latin typeface="Meiryo UI" pitchFamily="50" charset="-128"/>
                          <a:ea typeface="Meiryo UI" pitchFamily="50" charset="-128"/>
                          <a:cs typeface="Meiryo UI" pitchFamily="50" charset="-128"/>
                          <a:sym typeface="Meiryo UI" pitchFamily="50" charset="-128"/>
                        </a:rPr>
                        <a:t>3</a:t>
                      </a:r>
                      <a:r>
                        <a:rPr lang="ja-JP" altLang="en-US" sz="2000" b="1" dirty="0">
                          <a:latin typeface="Meiryo UI" pitchFamily="50" charset="-128"/>
                          <a:ea typeface="Meiryo UI" pitchFamily="50" charset="-128"/>
                          <a:cs typeface="Meiryo UI" pitchFamily="50" charset="-128"/>
                          <a:sym typeface="Meiryo UI" pitchFamily="50" charset="-128"/>
                        </a:rPr>
                        <a:t>加工工場周辺</a:t>
                      </a:r>
                      <a:endPar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1"/>
                  </a:ext>
                </a:extLst>
              </a:tr>
              <a:tr h="812533">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投資費用</a:t>
                      </a:r>
                      <a:endParaRPr kumimoji="0" lang="ja-JP" altLang="en-US" sz="2800" b="1" i="0" u="none" strike="noStrike" cap="none" normalizeH="0" baseline="0" dirty="0">
                        <a:ln>
                          <a:noFill/>
                        </a:ln>
                        <a:solidFill>
                          <a:schemeClr val="tx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262</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百万円　　　</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予算エントリー　中期　　　　：未エントリー</a:t>
                      </a:r>
                      <a:b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b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　　　　　　　　　　　　　　　　　　　　　</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19</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年上期　：</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100</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百万円</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a:t>
                      </a:r>
                    </a:p>
                    <a:p>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１月時点では、３加工冠水対策の要否が決定</a:t>
                      </a:r>
                      <a:r>
                        <a:rPr kumimoji="1" lang="ja-JP" altLang="en-US" sz="1600" kern="1200" dirty="0">
                          <a:solidFill>
                            <a:schemeClr val="tx1"/>
                          </a:solidFill>
                          <a:effectLst/>
                          <a:latin typeface="Calibri" panose="020F0502020204030204" pitchFamily="34" charset="0"/>
                          <a:ea typeface="ＭＳ Ｐゴシック" panose="020B0600070205080204" pitchFamily="50" charset="-128"/>
                          <a:cs typeface="+mn-cs"/>
                        </a:rPr>
                        <a:t>して</a:t>
                      </a:r>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おらず、３加工冠水対策未織り込み</a:t>
                      </a:r>
                      <a:r>
                        <a:rPr kumimoji="1" lang="ja-JP" altLang="en-US" sz="1600" kern="1200" dirty="0">
                          <a:solidFill>
                            <a:schemeClr val="tx1"/>
                          </a:solidFill>
                          <a:effectLst/>
                          <a:latin typeface="Calibri" panose="020F0502020204030204" pitchFamily="34" charset="0"/>
                          <a:ea typeface="ＭＳ Ｐゴシック" panose="020B0600070205080204" pitchFamily="50" charset="-128"/>
                          <a:cs typeface="+mn-cs"/>
                        </a:rPr>
                        <a:t>。</a:t>
                      </a:r>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このため、</a:t>
                      </a:r>
                      <a:r>
                        <a:rPr kumimoji="1" lang="en-US" altLang="ja-JP" sz="1600" kern="1200" dirty="0">
                          <a:solidFill>
                            <a:schemeClr val="tx1"/>
                          </a:solidFill>
                          <a:effectLst/>
                          <a:latin typeface="Calibri" panose="020F0502020204030204" pitchFamily="34" charset="0"/>
                          <a:ea typeface="ＭＳ Ｐゴシック" panose="020B0600070205080204" pitchFamily="50" charset="-128"/>
                          <a:cs typeface="+mn-cs"/>
                        </a:rPr>
                        <a:t>No.16</a:t>
                      </a:r>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排水能力増強</a:t>
                      </a:r>
                      <a:r>
                        <a:rPr kumimoji="1" lang="ja-JP" altLang="en-US" sz="1600" kern="1200" dirty="0">
                          <a:solidFill>
                            <a:schemeClr val="tx1"/>
                          </a:solidFill>
                          <a:effectLst/>
                          <a:latin typeface="Calibri" panose="020F0502020204030204" pitchFamily="34" charset="0"/>
                          <a:ea typeface="ＭＳ Ｐゴシック" panose="020B0600070205080204" pitchFamily="50" charset="-128"/>
                          <a:cs typeface="+mn-cs"/>
                        </a:rPr>
                        <a:t>量も今回申請</a:t>
                      </a:r>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の</a:t>
                      </a:r>
                      <a:r>
                        <a:rPr kumimoji="1" lang="en-US" altLang="ja-JP" sz="1600" kern="1200" dirty="0">
                          <a:solidFill>
                            <a:schemeClr val="tx1"/>
                          </a:solidFill>
                          <a:effectLst/>
                          <a:latin typeface="Calibri" panose="020F0502020204030204" pitchFamily="34" charset="0"/>
                          <a:ea typeface="ＭＳ Ｐゴシック" panose="020B0600070205080204" pitchFamily="50" charset="-128"/>
                          <a:cs typeface="+mn-cs"/>
                        </a:rPr>
                        <a:t>1/2</a:t>
                      </a:r>
                      <a:r>
                        <a:rPr kumimoji="1" lang="ja-JP" altLang="ja-JP" sz="1600" kern="1200" dirty="0">
                          <a:solidFill>
                            <a:schemeClr val="tx1"/>
                          </a:solidFill>
                          <a:effectLst/>
                          <a:latin typeface="Calibri" panose="020F0502020204030204" pitchFamily="34" charset="0"/>
                          <a:ea typeface="ＭＳ Ｐゴシック" panose="020B0600070205080204" pitchFamily="50" charset="-128"/>
                          <a:cs typeface="+mn-cs"/>
                        </a:rPr>
                        <a:t>の能力としていた</a:t>
                      </a:r>
                      <a:r>
                        <a:rPr kumimoji="1" lang="ja-JP" altLang="en-US" sz="1600" kern="1200" dirty="0">
                          <a:solidFill>
                            <a:schemeClr val="tx1"/>
                          </a:solidFill>
                          <a:effectLst/>
                          <a:latin typeface="Calibri" panose="020F0502020204030204" pitchFamily="34" charset="0"/>
                          <a:ea typeface="ＭＳ Ｐゴシック" panose="020B0600070205080204" pitchFamily="50" charset="-128"/>
                          <a:cs typeface="+mn-cs"/>
                        </a:rPr>
                        <a:t>。</a:t>
                      </a:r>
                      <a:endParaRPr kumimoji="0" lang="en-US" altLang="ja-JP" sz="16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2"/>
                  </a:ext>
                </a:extLst>
              </a:tr>
              <a:tr h="746809">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工事工程</a:t>
                      </a:r>
                      <a:endParaRPr kumimoji="0" lang="ja-JP" altLang="en-US" sz="2800" b="1" i="0" u="none" strike="noStrike" cap="none" normalizeH="0" baseline="0" dirty="0">
                        <a:ln>
                          <a:noFill/>
                        </a:ln>
                        <a:solidFill>
                          <a:schemeClr val="tx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2019</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年</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5</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月～ </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完工予定：</a:t>
                      </a:r>
                      <a:r>
                        <a:rPr kumimoji="0" lang="en-US" altLang="ja-JP" sz="2000" b="1" i="0" u="none" strike="noStrike" cap="none" normalizeH="0" baseline="0" dirty="0">
                          <a:ln>
                            <a:noFill/>
                          </a:ln>
                          <a:solidFill>
                            <a:schemeClr val="tx1"/>
                          </a:solidFill>
                          <a:effectLst/>
                          <a:latin typeface="Calibri" panose="020F0502020204030204" pitchFamily="34" charset="0"/>
                          <a:ea typeface="Meiryo UI" panose="020B0604030504040204" pitchFamily="50" charset="-128"/>
                          <a:cs typeface="Meiryo UI" panose="020B0604030504040204" pitchFamily="50" charset="-128"/>
                          <a:sym typeface="Meiryo UI" panose="020B0604030504040204" pitchFamily="50" charset="-128"/>
                        </a:rPr>
                        <a:t>’</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19</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年</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9</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月</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a:t>
                      </a:r>
                      <a:endPar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3"/>
                  </a:ext>
                </a:extLst>
              </a:tr>
              <a:tr h="701131">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工事効果</a:t>
                      </a:r>
                      <a:endParaRPr kumimoji="0" lang="ja-JP" altLang="en-US" sz="2800" b="1"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lvl1pPr eaLnBrk="0" hangingPunct="0">
                        <a:spcBef>
                          <a:spcPct val="20000"/>
                        </a:spcBef>
                        <a:defRPr sz="2800">
                          <a:solidFill>
                            <a:schemeClr val="tx1"/>
                          </a:solidFill>
                          <a:latin typeface="Calibri" panose="020F0502020204030204" pitchFamily="34" charset="0"/>
                          <a:ea typeface="ＭＳ Ｐゴシック" panose="020B0600070205080204" pitchFamily="50" charset="-128"/>
                        </a:defRPr>
                      </a:lvl1pPr>
                      <a:lvl2pPr marL="742950" indent="-285750" eaLnBrk="0" hangingPunct="0">
                        <a:spcBef>
                          <a:spcPct val="20000"/>
                        </a:spcBef>
                        <a:defRPr sz="2400">
                          <a:solidFill>
                            <a:schemeClr val="tx1"/>
                          </a:solidFill>
                          <a:latin typeface="Calibri" panose="020F0502020204030204" pitchFamily="34" charset="0"/>
                          <a:ea typeface="ＭＳ Ｐゴシック" panose="020B0600070205080204" pitchFamily="50" charset="-128"/>
                        </a:defRPr>
                      </a:lvl2pPr>
                      <a:lvl3pPr marL="1143000" indent="-228600" eaLnBrk="0" hangingPunct="0">
                        <a:spcBef>
                          <a:spcPct val="20000"/>
                        </a:spcBef>
                        <a:defRPr sz="2000">
                          <a:solidFill>
                            <a:schemeClr val="tx1"/>
                          </a:solidFill>
                          <a:latin typeface="Calibri" panose="020F0502020204030204" pitchFamily="34" charset="0"/>
                          <a:ea typeface="ＭＳ Ｐゴシック" panose="020B0600070205080204" pitchFamily="50" charset="-128"/>
                        </a:defRPr>
                      </a:lvl3pPr>
                      <a:lvl4pPr marL="16002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4pPr>
                      <a:lvl5pPr marL="2057400" indent="-228600" eaLnBrk="0" hangingPunct="0">
                        <a:spcBef>
                          <a:spcPct val="20000"/>
                        </a:spcBef>
                        <a:defRPr>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豪雨・高潮での</a:t>
                      </a:r>
                      <a:r>
                        <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7</a:t>
                      </a:r>
                      <a:r>
                        <a:rPr kumimoji="0" lang="ja-JP" altLang="en-US"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rPr>
                        <a:t>線材、３加工工場内冠水による長期休止リスク回避</a:t>
                      </a:r>
                      <a:endParaRPr kumimoji="0" lang="en-US" altLang="ja-JP" sz="20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a:txBody>
                  <a:tcPr marL="91434" marR="91434" marT="45735" marB="45735"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p:cNvGrpSpPr/>
          <p:nvPr/>
        </p:nvGrpSpPr>
        <p:grpSpPr>
          <a:xfrm>
            <a:off x="350876" y="802870"/>
            <a:ext cx="9107023" cy="6111246"/>
            <a:chOff x="350876" y="802870"/>
            <a:chExt cx="9107023" cy="6111246"/>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76" y="808046"/>
              <a:ext cx="8708064" cy="565987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0" name="フリーフォーム 59"/>
            <p:cNvSpPr/>
            <p:nvPr/>
          </p:nvSpPr>
          <p:spPr bwMode="auto">
            <a:xfrm>
              <a:off x="5538788" y="1138238"/>
              <a:ext cx="2257425" cy="433387"/>
            </a:xfrm>
            <a:custGeom>
              <a:avLst/>
              <a:gdLst>
                <a:gd name="connsiteX0" fmla="*/ 4762 w 2257425"/>
                <a:gd name="connsiteY0" fmla="*/ 0 h 433387"/>
                <a:gd name="connsiteX1" fmla="*/ 0 w 2257425"/>
                <a:gd name="connsiteY1" fmla="*/ 333375 h 433387"/>
                <a:gd name="connsiteX2" fmla="*/ 1238250 w 2257425"/>
                <a:gd name="connsiteY2" fmla="*/ 333375 h 433387"/>
                <a:gd name="connsiteX3" fmla="*/ 1452562 w 2257425"/>
                <a:gd name="connsiteY3" fmla="*/ 300037 h 433387"/>
                <a:gd name="connsiteX4" fmla="*/ 1900237 w 2257425"/>
                <a:gd name="connsiteY4" fmla="*/ 366712 h 433387"/>
                <a:gd name="connsiteX5" fmla="*/ 2257425 w 2257425"/>
                <a:gd name="connsiteY5" fmla="*/ 433387 h 43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425" h="433387">
                  <a:moveTo>
                    <a:pt x="4762" y="0"/>
                  </a:moveTo>
                  <a:cubicBezTo>
                    <a:pt x="3175" y="111125"/>
                    <a:pt x="1587" y="222250"/>
                    <a:pt x="0" y="333375"/>
                  </a:cubicBezTo>
                  <a:lnTo>
                    <a:pt x="1238250" y="333375"/>
                  </a:lnTo>
                  <a:lnTo>
                    <a:pt x="1452562" y="300037"/>
                  </a:lnTo>
                  <a:lnTo>
                    <a:pt x="1900237" y="366712"/>
                  </a:lnTo>
                  <a:lnTo>
                    <a:pt x="2257425" y="433387"/>
                  </a:lnTo>
                </a:path>
              </a:pathLst>
            </a:custGeom>
            <a:noFill/>
            <a:ln w="38100" cap="flat" cmpd="sng" algn="ctr">
              <a:solidFill>
                <a:srgbClr val="00B050"/>
              </a:solidFill>
              <a:prstDash val="solid"/>
              <a:round/>
              <a:headEnd type="triangle" w="lg" len="lg"/>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9" name="テキスト ボックス 118"/>
            <p:cNvSpPr txBox="1"/>
            <p:nvPr/>
          </p:nvSpPr>
          <p:spPr>
            <a:xfrm>
              <a:off x="4814887" y="802870"/>
              <a:ext cx="1447801" cy="369332"/>
            </a:xfrm>
            <a:prstGeom prst="rect">
              <a:avLst/>
            </a:prstGeom>
            <a:noFill/>
            <a:ln w="38100">
              <a:noFill/>
            </a:ln>
          </p:spPr>
          <p:txBody>
            <a:bodyPr wrap="square" rtlCol="0">
              <a:spAutoFit/>
            </a:bodyPr>
            <a:lstStyle/>
            <a:p>
              <a:r>
                <a:rPr kumimoji="1" lang="en-US" altLang="ja-JP" b="1" dirty="0">
                  <a:solidFill>
                    <a:srgbClr val="00B050"/>
                  </a:solidFill>
                </a:rPr>
                <a:t>No.4</a:t>
              </a:r>
              <a:r>
                <a:rPr kumimoji="1" lang="ja-JP" altLang="en-US" b="1" dirty="0">
                  <a:solidFill>
                    <a:srgbClr val="00B050"/>
                  </a:solidFill>
                </a:rPr>
                <a:t>排水口</a:t>
              </a:r>
            </a:p>
          </p:txBody>
        </p:sp>
        <p:sp>
          <p:nvSpPr>
            <p:cNvPr id="120" name="フリーフォーム 119"/>
            <p:cNvSpPr/>
            <p:nvPr/>
          </p:nvSpPr>
          <p:spPr bwMode="auto">
            <a:xfrm>
              <a:off x="4371975" y="1471613"/>
              <a:ext cx="1662113" cy="2505075"/>
            </a:xfrm>
            <a:custGeom>
              <a:avLst/>
              <a:gdLst>
                <a:gd name="connsiteX0" fmla="*/ 1152525 w 1662113"/>
                <a:gd name="connsiteY0" fmla="*/ 0 h 2505075"/>
                <a:gd name="connsiteX1" fmla="*/ 1023938 w 1662113"/>
                <a:gd name="connsiteY1" fmla="*/ 4762 h 2505075"/>
                <a:gd name="connsiteX2" fmla="*/ 0 w 1662113"/>
                <a:gd name="connsiteY2" fmla="*/ 981075 h 2505075"/>
                <a:gd name="connsiteX3" fmla="*/ 9525 w 1662113"/>
                <a:gd name="connsiteY3" fmla="*/ 1414462 h 2505075"/>
                <a:gd name="connsiteX4" fmla="*/ 171450 w 1662113"/>
                <a:gd name="connsiteY4" fmla="*/ 1414462 h 2505075"/>
                <a:gd name="connsiteX5" fmla="*/ 171450 w 1662113"/>
                <a:gd name="connsiteY5" fmla="*/ 1490662 h 2505075"/>
                <a:gd name="connsiteX6" fmla="*/ 1662113 w 1662113"/>
                <a:gd name="connsiteY6" fmla="*/ 1485900 h 2505075"/>
                <a:gd name="connsiteX7" fmla="*/ 1662113 w 1662113"/>
                <a:gd name="connsiteY7" fmla="*/ 2109787 h 2505075"/>
                <a:gd name="connsiteX8" fmla="*/ 1614488 w 1662113"/>
                <a:gd name="connsiteY8" fmla="*/ 2257425 h 2505075"/>
                <a:gd name="connsiteX9" fmla="*/ 1614488 w 1662113"/>
                <a:gd name="connsiteY9" fmla="*/ 2505075 h 250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3" h="2505075">
                  <a:moveTo>
                    <a:pt x="1152525" y="0"/>
                  </a:moveTo>
                  <a:lnTo>
                    <a:pt x="1023938" y="4762"/>
                  </a:lnTo>
                  <a:lnTo>
                    <a:pt x="0" y="981075"/>
                  </a:lnTo>
                  <a:lnTo>
                    <a:pt x="9525" y="1414462"/>
                  </a:lnTo>
                  <a:lnTo>
                    <a:pt x="171450" y="1414462"/>
                  </a:lnTo>
                  <a:lnTo>
                    <a:pt x="171450" y="1490662"/>
                  </a:lnTo>
                  <a:lnTo>
                    <a:pt x="1662113" y="1485900"/>
                  </a:lnTo>
                  <a:lnTo>
                    <a:pt x="1662113" y="2109787"/>
                  </a:lnTo>
                  <a:lnTo>
                    <a:pt x="1614488" y="2257425"/>
                  </a:lnTo>
                  <a:lnTo>
                    <a:pt x="1614488" y="2505075"/>
                  </a:lnTo>
                </a:path>
              </a:pathLst>
            </a:cu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3" name="フリーフォーム 122"/>
            <p:cNvSpPr/>
            <p:nvPr/>
          </p:nvSpPr>
          <p:spPr bwMode="auto">
            <a:xfrm>
              <a:off x="4751514" y="2098071"/>
              <a:ext cx="3932481" cy="690008"/>
            </a:xfrm>
            <a:custGeom>
              <a:avLst/>
              <a:gdLst>
                <a:gd name="connsiteX0" fmla="*/ 3932481 w 3932481"/>
                <a:gd name="connsiteY0" fmla="*/ 690008 h 690008"/>
                <a:gd name="connsiteX1" fmla="*/ 3921261 w 3932481"/>
                <a:gd name="connsiteY1" fmla="*/ 162685 h 690008"/>
                <a:gd name="connsiteX2" fmla="*/ 2933934 w 3932481"/>
                <a:gd name="connsiteY2" fmla="*/ 162685 h 690008"/>
                <a:gd name="connsiteX3" fmla="*/ 2933934 w 3932481"/>
                <a:gd name="connsiteY3" fmla="*/ 0 h 690008"/>
                <a:gd name="connsiteX4" fmla="*/ 0 w 3932481"/>
                <a:gd name="connsiteY4" fmla="*/ 11220 h 690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481" h="690008">
                  <a:moveTo>
                    <a:pt x="3932481" y="690008"/>
                  </a:moveTo>
                  <a:lnTo>
                    <a:pt x="3921261" y="162685"/>
                  </a:lnTo>
                  <a:lnTo>
                    <a:pt x="2933934" y="162685"/>
                  </a:lnTo>
                  <a:lnTo>
                    <a:pt x="2933934" y="0"/>
                  </a:lnTo>
                  <a:lnTo>
                    <a:pt x="0" y="11220"/>
                  </a:lnTo>
                </a:path>
              </a:pathLst>
            </a:cu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4" name="フリーフォーム 123"/>
            <p:cNvSpPr/>
            <p:nvPr/>
          </p:nvSpPr>
          <p:spPr bwMode="auto">
            <a:xfrm>
              <a:off x="4386876" y="2462709"/>
              <a:ext cx="4297119" cy="1133183"/>
            </a:xfrm>
            <a:custGeom>
              <a:avLst/>
              <a:gdLst>
                <a:gd name="connsiteX0" fmla="*/ 4291509 w 4297119"/>
                <a:gd name="connsiteY0" fmla="*/ 1133183 h 1133183"/>
                <a:gd name="connsiteX1" fmla="*/ 4297119 w 4297119"/>
                <a:gd name="connsiteY1" fmla="*/ 471225 h 1133183"/>
                <a:gd name="connsiteX2" fmla="*/ 2013924 w 4297119"/>
                <a:gd name="connsiteY2" fmla="*/ 476835 h 1133183"/>
                <a:gd name="connsiteX3" fmla="*/ 1907337 w 4297119"/>
                <a:gd name="connsiteY3" fmla="*/ 359028 h 1133183"/>
                <a:gd name="connsiteX4" fmla="*/ 1705384 w 4297119"/>
                <a:gd name="connsiteY4" fmla="*/ 364638 h 1133183"/>
                <a:gd name="connsiteX5" fmla="*/ 1705384 w 4297119"/>
                <a:gd name="connsiteY5" fmla="*/ 95367 h 1133183"/>
                <a:gd name="connsiteX6" fmla="*/ 218783 w 4297119"/>
                <a:gd name="connsiteY6" fmla="*/ 106587 h 1133183"/>
                <a:gd name="connsiteX7" fmla="*/ 151465 w 4297119"/>
                <a:gd name="connsiteY7" fmla="*/ 5610 h 1133183"/>
                <a:gd name="connsiteX8" fmla="*/ 0 w 4297119"/>
                <a:gd name="connsiteY8" fmla="*/ 0 h 113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119" h="1133183">
                  <a:moveTo>
                    <a:pt x="4291509" y="1133183"/>
                  </a:moveTo>
                  <a:lnTo>
                    <a:pt x="4297119" y="471225"/>
                  </a:lnTo>
                  <a:lnTo>
                    <a:pt x="2013924" y="476835"/>
                  </a:lnTo>
                  <a:lnTo>
                    <a:pt x="1907337" y="359028"/>
                  </a:lnTo>
                  <a:lnTo>
                    <a:pt x="1705384" y="364638"/>
                  </a:lnTo>
                  <a:lnTo>
                    <a:pt x="1705384" y="95367"/>
                  </a:lnTo>
                  <a:lnTo>
                    <a:pt x="218783" y="106587"/>
                  </a:lnTo>
                  <a:lnTo>
                    <a:pt x="151465" y="5610"/>
                  </a:lnTo>
                  <a:lnTo>
                    <a:pt x="0" y="0"/>
                  </a:lnTo>
                </a:path>
              </a:pathLst>
            </a:cu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6" name="フリーフォーム 125"/>
            <p:cNvSpPr/>
            <p:nvPr/>
          </p:nvSpPr>
          <p:spPr bwMode="auto">
            <a:xfrm>
              <a:off x="5923966" y="5626645"/>
              <a:ext cx="56098" cy="718057"/>
            </a:xfrm>
            <a:custGeom>
              <a:avLst/>
              <a:gdLst>
                <a:gd name="connsiteX0" fmla="*/ 0 w 56098"/>
                <a:gd name="connsiteY0" fmla="*/ 0 h 718057"/>
                <a:gd name="connsiteX1" fmla="*/ 56098 w 56098"/>
                <a:gd name="connsiteY1" fmla="*/ 145856 h 718057"/>
                <a:gd name="connsiteX2" fmla="*/ 39268 w 56098"/>
                <a:gd name="connsiteY2" fmla="*/ 718057 h 718057"/>
              </a:gdLst>
              <a:ahLst/>
              <a:cxnLst>
                <a:cxn ang="0">
                  <a:pos x="connsiteX0" y="connsiteY0"/>
                </a:cxn>
                <a:cxn ang="0">
                  <a:pos x="connsiteX1" y="connsiteY1"/>
                </a:cxn>
                <a:cxn ang="0">
                  <a:pos x="connsiteX2" y="connsiteY2"/>
                </a:cxn>
              </a:cxnLst>
              <a:rect l="l" t="t" r="r" b="b"/>
              <a:pathLst>
                <a:path w="56098" h="718057">
                  <a:moveTo>
                    <a:pt x="0" y="0"/>
                  </a:moveTo>
                  <a:lnTo>
                    <a:pt x="56098" y="145856"/>
                  </a:lnTo>
                  <a:lnTo>
                    <a:pt x="39268" y="718057"/>
                  </a:lnTo>
                </a:path>
              </a:pathLst>
            </a:custGeom>
            <a:noFill/>
            <a:ln w="38100" cap="flat" cmpd="sng" algn="ctr">
              <a:solidFill>
                <a:srgbClr val="0000FF"/>
              </a:solidFill>
              <a:prstDash val="solid"/>
              <a:round/>
              <a:headEnd type="none" w="med" len="med"/>
              <a:tailEnd type="triangle"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8" name="テキスト ボックス 127"/>
            <p:cNvSpPr txBox="1"/>
            <p:nvPr/>
          </p:nvSpPr>
          <p:spPr>
            <a:xfrm>
              <a:off x="4814887" y="6267785"/>
              <a:ext cx="2458110" cy="646331"/>
            </a:xfrm>
            <a:prstGeom prst="rect">
              <a:avLst/>
            </a:prstGeom>
            <a:noFill/>
            <a:ln w="38100">
              <a:noFill/>
            </a:ln>
          </p:spPr>
          <p:txBody>
            <a:bodyPr wrap="square" rtlCol="0">
              <a:spAutoFit/>
            </a:bodyPr>
            <a:lstStyle/>
            <a:p>
              <a:pPr algn="ctr"/>
              <a:r>
                <a:rPr kumimoji="1" lang="en-US" altLang="ja-JP" b="1" dirty="0">
                  <a:solidFill>
                    <a:srgbClr val="0000FF"/>
                  </a:solidFill>
                </a:rPr>
                <a:t>G2</a:t>
              </a:r>
              <a:r>
                <a:rPr kumimoji="1" lang="ja-JP" altLang="en-US" b="1" dirty="0">
                  <a:solidFill>
                    <a:srgbClr val="0000FF"/>
                  </a:solidFill>
                </a:rPr>
                <a:t>排水口</a:t>
              </a:r>
              <a:endParaRPr kumimoji="1" lang="en-US" altLang="ja-JP" b="1" dirty="0">
                <a:solidFill>
                  <a:srgbClr val="0000FF"/>
                </a:solidFill>
              </a:endParaRPr>
            </a:p>
            <a:p>
              <a:pPr algn="ctr"/>
              <a:r>
                <a:rPr kumimoji="1" lang="en-US" altLang="ja-JP" b="1" dirty="0">
                  <a:solidFill>
                    <a:srgbClr val="0000FF"/>
                  </a:solidFill>
                </a:rPr>
                <a:t>2019</a:t>
              </a:r>
              <a:r>
                <a:rPr kumimoji="1" lang="ja-JP" altLang="en-US" b="1" dirty="0">
                  <a:solidFill>
                    <a:srgbClr val="0000FF"/>
                  </a:solidFill>
                </a:rPr>
                <a:t>年</a:t>
              </a:r>
              <a:r>
                <a:rPr kumimoji="1" lang="en-US" altLang="ja-JP" b="1" dirty="0">
                  <a:solidFill>
                    <a:srgbClr val="0000FF"/>
                  </a:solidFill>
                </a:rPr>
                <a:t>6</a:t>
              </a:r>
              <a:r>
                <a:rPr kumimoji="1" lang="ja-JP" altLang="en-US" b="1" dirty="0">
                  <a:solidFill>
                    <a:srgbClr val="0000FF"/>
                  </a:solidFill>
                </a:rPr>
                <a:t>月末　稼働</a:t>
              </a:r>
            </a:p>
          </p:txBody>
        </p:sp>
        <p:sp>
          <p:nvSpPr>
            <p:cNvPr id="127" name="フリーフォーム 126"/>
            <p:cNvSpPr/>
            <p:nvPr/>
          </p:nvSpPr>
          <p:spPr bwMode="auto">
            <a:xfrm>
              <a:off x="5685183" y="5653378"/>
              <a:ext cx="286247" cy="421419"/>
            </a:xfrm>
            <a:custGeom>
              <a:avLst/>
              <a:gdLst>
                <a:gd name="connsiteX0" fmla="*/ 0 w 286247"/>
                <a:gd name="connsiteY0" fmla="*/ 0 h 421419"/>
                <a:gd name="connsiteX1" fmla="*/ 0 w 286247"/>
                <a:gd name="connsiteY1" fmla="*/ 421419 h 421419"/>
                <a:gd name="connsiteX2" fmla="*/ 286247 w 286247"/>
                <a:gd name="connsiteY2" fmla="*/ 413468 h 421419"/>
              </a:gdLst>
              <a:ahLst/>
              <a:cxnLst>
                <a:cxn ang="0">
                  <a:pos x="connsiteX0" y="connsiteY0"/>
                </a:cxn>
                <a:cxn ang="0">
                  <a:pos x="connsiteX1" y="connsiteY1"/>
                </a:cxn>
                <a:cxn ang="0">
                  <a:pos x="connsiteX2" y="connsiteY2"/>
                </a:cxn>
              </a:cxnLst>
              <a:rect l="l" t="t" r="r" b="b"/>
              <a:pathLst>
                <a:path w="286247" h="421419">
                  <a:moveTo>
                    <a:pt x="0" y="0"/>
                  </a:moveTo>
                  <a:lnTo>
                    <a:pt x="0" y="421419"/>
                  </a:lnTo>
                  <a:lnTo>
                    <a:pt x="286247" y="413468"/>
                  </a:lnTo>
                </a:path>
              </a:pathLst>
            </a:custGeom>
            <a:noFill/>
            <a:ln w="3810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25" name="フリーフォーム 1024"/>
            <p:cNvSpPr/>
            <p:nvPr/>
          </p:nvSpPr>
          <p:spPr bwMode="auto">
            <a:xfrm>
              <a:off x="5835650" y="4019266"/>
              <a:ext cx="158750" cy="1581434"/>
            </a:xfrm>
            <a:custGeom>
              <a:avLst/>
              <a:gdLst>
                <a:gd name="connsiteX0" fmla="*/ 146050 w 158750"/>
                <a:gd name="connsiteY0" fmla="*/ 0 h 1536700"/>
                <a:gd name="connsiteX1" fmla="*/ 158750 w 158750"/>
                <a:gd name="connsiteY1" fmla="*/ 285750 h 1536700"/>
                <a:gd name="connsiteX2" fmla="*/ 107950 w 158750"/>
                <a:gd name="connsiteY2" fmla="*/ 469900 h 1536700"/>
                <a:gd name="connsiteX3" fmla="*/ 120650 w 158750"/>
                <a:gd name="connsiteY3" fmla="*/ 927100 h 1536700"/>
                <a:gd name="connsiteX4" fmla="*/ 0 w 158750"/>
                <a:gd name="connsiteY4" fmla="*/ 1136650 h 1536700"/>
                <a:gd name="connsiteX5" fmla="*/ 0 w 158750"/>
                <a:gd name="connsiteY5" fmla="*/ 1409700 h 1536700"/>
                <a:gd name="connsiteX6" fmla="*/ 76200 w 158750"/>
                <a:gd name="connsiteY6" fmla="*/ 1536700 h 153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750" h="1536700">
                  <a:moveTo>
                    <a:pt x="146050" y="0"/>
                  </a:moveTo>
                  <a:lnTo>
                    <a:pt x="158750" y="285750"/>
                  </a:lnTo>
                  <a:lnTo>
                    <a:pt x="107950" y="469900"/>
                  </a:lnTo>
                  <a:lnTo>
                    <a:pt x="120650" y="927100"/>
                  </a:lnTo>
                  <a:lnTo>
                    <a:pt x="0" y="1136650"/>
                  </a:lnTo>
                  <a:lnTo>
                    <a:pt x="0" y="1409700"/>
                  </a:lnTo>
                  <a:lnTo>
                    <a:pt x="76200" y="1536700"/>
                  </a:lnTo>
                </a:path>
              </a:pathLst>
            </a:custGeom>
            <a:noFill/>
            <a:ln w="381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27" name="フリーフォーム 1026"/>
            <p:cNvSpPr/>
            <p:nvPr/>
          </p:nvSpPr>
          <p:spPr bwMode="auto">
            <a:xfrm>
              <a:off x="5884222" y="5096297"/>
              <a:ext cx="3174717" cy="45719"/>
            </a:xfrm>
            <a:custGeom>
              <a:avLst/>
              <a:gdLst>
                <a:gd name="connsiteX0" fmla="*/ 0 w 3028208"/>
                <a:gd name="connsiteY0" fmla="*/ 11875 h 41564"/>
                <a:gd name="connsiteX1" fmla="*/ 2832265 w 3028208"/>
                <a:gd name="connsiteY1" fmla="*/ 41564 h 41564"/>
                <a:gd name="connsiteX2" fmla="*/ 2832265 w 3028208"/>
                <a:gd name="connsiteY2" fmla="*/ 5938 h 41564"/>
                <a:gd name="connsiteX3" fmla="*/ 3028208 w 3028208"/>
                <a:gd name="connsiteY3" fmla="*/ 0 h 41564"/>
              </a:gdLst>
              <a:ahLst/>
              <a:cxnLst>
                <a:cxn ang="0">
                  <a:pos x="connsiteX0" y="connsiteY0"/>
                </a:cxn>
                <a:cxn ang="0">
                  <a:pos x="connsiteX1" y="connsiteY1"/>
                </a:cxn>
                <a:cxn ang="0">
                  <a:pos x="connsiteX2" y="connsiteY2"/>
                </a:cxn>
                <a:cxn ang="0">
                  <a:pos x="connsiteX3" y="connsiteY3"/>
                </a:cxn>
              </a:cxnLst>
              <a:rect l="l" t="t" r="r" b="b"/>
              <a:pathLst>
                <a:path w="3028208" h="41564">
                  <a:moveTo>
                    <a:pt x="0" y="11875"/>
                  </a:moveTo>
                  <a:lnTo>
                    <a:pt x="2832265" y="41564"/>
                  </a:lnTo>
                  <a:lnTo>
                    <a:pt x="2832265" y="5938"/>
                  </a:lnTo>
                  <a:lnTo>
                    <a:pt x="3028208" y="0"/>
                  </a:lnTo>
                </a:path>
              </a:pathLst>
            </a:custGeom>
            <a:noFill/>
            <a:ln w="38100" cap="flat" cmpd="sng" algn="ctr">
              <a:solidFill>
                <a:srgbClr val="FF0000"/>
              </a:solidFill>
              <a:prstDash val="solid"/>
              <a:round/>
              <a:headEnd type="none" w="med" len="med"/>
              <a:tailEnd type="arrow"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28" name="フリーフォーム 1027"/>
            <p:cNvSpPr/>
            <p:nvPr/>
          </p:nvSpPr>
          <p:spPr bwMode="auto">
            <a:xfrm>
              <a:off x="5985164" y="5153891"/>
              <a:ext cx="2725387" cy="480951"/>
            </a:xfrm>
            <a:custGeom>
              <a:avLst/>
              <a:gdLst>
                <a:gd name="connsiteX0" fmla="*/ 0 w 2725387"/>
                <a:gd name="connsiteY0" fmla="*/ 475013 h 480951"/>
                <a:gd name="connsiteX1" fmla="*/ 2725387 w 2725387"/>
                <a:gd name="connsiteY1" fmla="*/ 480951 h 480951"/>
                <a:gd name="connsiteX2" fmla="*/ 2719449 w 2725387"/>
                <a:gd name="connsiteY2" fmla="*/ 0 h 480951"/>
              </a:gdLst>
              <a:ahLst/>
              <a:cxnLst>
                <a:cxn ang="0">
                  <a:pos x="connsiteX0" y="connsiteY0"/>
                </a:cxn>
                <a:cxn ang="0">
                  <a:pos x="connsiteX1" y="connsiteY1"/>
                </a:cxn>
                <a:cxn ang="0">
                  <a:pos x="connsiteX2" y="connsiteY2"/>
                </a:cxn>
              </a:cxnLst>
              <a:rect l="l" t="t" r="r" b="b"/>
              <a:pathLst>
                <a:path w="2725387" h="480951">
                  <a:moveTo>
                    <a:pt x="0" y="475013"/>
                  </a:moveTo>
                  <a:lnTo>
                    <a:pt x="2725387" y="480951"/>
                  </a:lnTo>
                  <a:cubicBezTo>
                    <a:pt x="2723408" y="320634"/>
                    <a:pt x="2721428" y="160317"/>
                    <a:pt x="2719449" y="0"/>
                  </a:cubicBezTo>
                </a:path>
              </a:pathLst>
            </a:custGeom>
            <a:noFill/>
            <a:ln w="381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29" name="テキスト ボックス 1028"/>
            <p:cNvSpPr txBox="1"/>
            <p:nvPr/>
          </p:nvSpPr>
          <p:spPr>
            <a:xfrm>
              <a:off x="6698121" y="4263242"/>
              <a:ext cx="1323662" cy="276999"/>
            </a:xfrm>
            <a:prstGeom prst="rect">
              <a:avLst/>
            </a:prstGeom>
            <a:solidFill>
              <a:schemeClr val="bg1"/>
            </a:solidFill>
          </p:spPr>
          <p:txBody>
            <a:bodyPr wrap="square" rtlCol="0">
              <a:spAutoFit/>
            </a:bodyPr>
            <a:lstStyle/>
            <a:p>
              <a:r>
                <a:rPr kumimoji="1" lang="ja-JP" altLang="en-US" sz="1200" dirty="0"/>
                <a:t>棒鋼工場</a:t>
              </a:r>
            </a:p>
          </p:txBody>
        </p:sp>
        <p:sp>
          <p:nvSpPr>
            <p:cNvPr id="135" name="テキスト ボックス 134"/>
            <p:cNvSpPr txBox="1"/>
            <p:nvPr/>
          </p:nvSpPr>
          <p:spPr>
            <a:xfrm>
              <a:off x="7360333" y="5209700"/>
              <a:ext cx="1323662" cy="369332"/>
            </a:xfrm>
            <a:prstGeom prst="rect">
              <a:avLst/>
            </a:prstGeom>
            <a:solidFill>
              <a:schemeClr val="bg1"/>
            </a:solidFill>
          </p:spPr>
          <p:txBody>
            <a:bodyPr wrap="square" rtlCol="0">
              <a:spAutoFit/>
            </a:bodyPr>
            <a:lstStyle/>
            <a:p>
              <a:r>
                <a:rPr kumimoji="1" lang="en-US" altLang="ja-JP" dirty="0"/>
                <a:t>7</a:t>
              </a:r>
              <a:r>
                <a:rPr kumimoji="1" lang="ja-JP" altLang="en-US" dirty="0"/>
                <a:t>線材工場</a:t>
              </a:r>
            </a:p>
          </p:txBody>
        </p:sp>
        <p:sp>
          <p:nvSpPr>
            <p:cNvPr id="136" name="テキスト ボックス 135"/>
            <p:cNvSpPr txBox="1"/>
            <p:nvPr/>
          </p:nvSpPr>
          <p:spPr>
            <a:xfrm>
              <a:off x="6055923" y="5725587"/>
              <a:ext cx="938643" cy="276999"/>
            </a:xfrm>
            <a:prstGeom prst="rect">
              <a:avLst/>
            </a:prstGeom>
            <a:solidFill>
              <a:schemeClr val="bg1"/>
            </a:solidFill>
          </p:spPr>
          <p:txBody>
            <a:bodyPr wrap="square" rtlCol="0">
              <a:spAutoFit/>
            </a:bodyPr>
            <a:lstStyle/>
            <a:p>
              <a:r>
                <a:rPr kumimoji="1" lang="en-US" altLang="ja-JP" sz="1200" dirty="0"/>
                <a:t>No.3</a:t>
              </a:r>
              <a:r>
                <a:rPr kumimoji="1" lang="ja-JP" altLang="en-US" sz="1200" dirty="0"/>
                <a:t>ヤード</a:t>
              </a:r>
            </a:p>
          </p:txBody>
        </p:sp>
        <p:sp>
          <p:nvSpPr>
            <p:cNvPr id="137" name="テキスト ボックス 136"/>
            <p:cNvSpPr txBox="1"/>
            <p:nvPr/>
          </p:nvSpPr>
          <p:spPr>
            <a:xfrm>
              <a:off x="6198178" y="2193328"/>
              <a:ext cx="938643" cy="276999"/>
            </a:xfrm>
            <a:prstGeom prst="rect">
              <a:avLst/>
            </a:prstGeom>
            <a:solidFill>
              <a:schemeClr val="bg1"/>
            </a:solidFill>
          </p:spPr>
          <p:txBody>
            <a:bodyPr wrap="square" rtlCol="0">
              <a:spAutoFit/>
            </a:bodyPr>
            <a:lstStyle/>
            <a:p>
              <a:r>
                <a:rPr kumimoji="1" lang="en-US" altLang="ja-JP" sz="1200" dirty="0"/>
                <a:t>3</a:t>
              </a:r>
              <a:r>
                <a:rPr kumimoji="1" lang="ja-JP" altLang="en-US" sz="1200" dirty="0"/>
                <a:t>分塊工場</a:t>
              </a:r>
            </a:p>
          </p:txBody>
        </p:sp>
        <p:sp>
          <p:nvSpPr>
            <p:cNvPr id="138" name="テキスト ボックス 137"/>
            <p:cNvSpPr txBox="1"/>
            <p:nvPr/>
          </p:nvSpPr>
          <p:spPr>
            <a:xfrm>
              <a:off x="7471580" y="4647684"/>
              <a:ext cx="1986319" cy="369332"/>
            </a:xfrm>
            <a:prstGeom prst="rect">
              <a:avLst/>
            </a:prstGeom>
            <a:noFill/>
            <a:ln w="38100">
              <a:noFill/>
            </a:ln>
          </p:spPr>
          <p:txBody>
            <a:bodyPr wrap="square" rtlCol="0">
              <a:spAutoFit/>
            </a:bodyPr>
            <a:lstStyle/>
            <a:p>
              <a:r>
                <a:rPr kumimoji="1" lang="en-US" altLang="ja-JP" b="1" dirty="0">
                  <a:solidFill>
                    <a:srgbClr val="FF0000"/>
                  </a:solidFill>
                </a:rPr>
                <a:t>No.16</a:t>
              </a:r>
              <a:r>
                <a:rPr kumimoji="1" lang="ja-JP" altLang="en-US" b="1" dirty="0">
                  <a:solidFill>
                    <a:srgbClr val="FF0000"/>
                  </a:solidFill>
                </a:rPr>
                <a:t>排水口</a:t>
              </a:r>
            </a:p>
          </p:txBody>
        </p:sp>
        <p:sp>
          <p:nvSpPr>
            <p:cNvPr id="1030" name="フリーフォーム 1029"/>
            <p:cNvSpPr/>
            <p:nvPr/>
          </p:nvSpPr>
          <p:spPr bwMode="auto">
            <a:xfrm>
              <a:off x="5848597" y="4019266"/>
              <a:ext cx="2992582" cy="2078713"/>
            </a:xfrm>
            <a:custGeom>
              <a:avLst/>
              <a:gdLst>
                <a:gd name="connsiteX0" fmla="*/ 154380 w 2992582"/>
                <a:gd name="connsiteY0" fmla="*/ 11876 h 1692234"/>
                <a:gd name="connsiteX1" fmla="*/ 2980707 w 2992582"/>
                <a:gd name="connsiteY1" fmla="*/ 0 h 1692234"/>
                <a:gd name="connsiteX2" fmla="*/ 2992582 w 2992582"/>
                <a:gd name="connsiteY2" fmla="*/ 1662546 h 1692234"/>
                <a:gd name="connsiteX3" fmla="*/ 1573481 w 2992582"/>
                <a:gd name="connsiteY3" fmla="*/ 1692234 h 1692234"/>
                <a:gd name="connsiteX4" fmla="*/ 1573481 w 2992582"/>
                <a:gd name="connsiteY4" fmla="*/ 1252847 h 1692234"/>
                <a:gd name="connsiteX5" fmla="*/ 124691 w 2992582"/>
                <a:gd name="connsiteY5" fmla="*/ 1246910 h 1692234"/>
                <a:gd name="connsiteX6" fmla="*/ 5938 w 2992582"/>
                <a:gd name="connsiteY6" fmla="*/ 1050967 h 1692234"/>
                <a:gd name="connsiteX7" fmla="*/ 0 w 2992582"/>
                <a:gd name="connsiteY7" fmla="*/ 789710 h 1692234"/>
                <a:gd name="connsiteX8" fmla="*/ 142504 w 2992582"/>
                <a:gd name="connsiteY8" fmla="*/ 570016 h 1692234"/>
                <a:gd name="connsiteX9" fmla="*/ 112816 w 2992582"/>
                <a:gd name="connsiteY9" fmla="*/ 106878 h 1692234"/>
                <a:gd name="connsiteX10" fmla="*/ 154380 w 2992582"/>
                <a:gd name="connsiteY10" fmla="*/ 11876 h 1692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2582" h="1692234">
                  <a:moveTo>
                    <a:pt x="154380" y="11876"/>
                  </a:moveTo>
                  <a:lnTo>
                    <a:pt x="2980707" y="0"/>
                  </a:lnTo>
                  <a:cubicBezTo>
                    <a:pt x="2984665" y="554182"/>
                    <a:pt x="2988624" y="1108364"/>
                    <a:pt x="2992582" y="1662546"/>
                  </a:cubicBezTo>
                  <a:lnTo>
                    <a:pt x="1573481" y="1692234"/>
                  </a:lnTo>
                  <a:lnTo>
                    <a:pt x="1573481" y="1252847"/>
                  </a:lnTo>
                  <a:lnTo>
                    <a:pt x="124691" y="1246910"/>
                  </a:lnTo>
                  <a:lnTo>
                    <a:pt x="5938" y="1050967"/>
                  </a:lnTo>
                  <a:lnTo>
                    <a:pt x="0" y="789710"/>
                  </a:lnTo>
                  <a:lnTo>
                    <a:pt x="142504" y="570016"/>
                  </a:lnTo>
                  <a:lnTo>
                    <a:pt x="112816" y="106878"/>
                  </a:lnTo>
                  <a:lnTo>
                    <a:pt x="154380" y="11876"/>
                  </a:lnTo>
                  <a:close/>
                </a:path>
              </a:pathLst>
            </a:custGeom>
            <a:solidFill>
              <a:srgbClr val="FFFF00">
                <a:alpha val="23000"/>
              </a:srgb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31" name="フリーフォーム 1030"/>
            <p:cNvSpPr/>
            <p:nvPr/>
          </p:nvSpPr>
          <p:spPr bwMode="auto">
            <a:xfrm>
              <a:off x="5974454" y="6081040"/>
              <a:ext cx="1430503" cy="16830"/>
            </a:xfrm>
            <a:custGeom>
              <a:avLst/>
              <a:gdLst>
                <a:gd name="connsiteX0" fmla="*/ 0 w 1430503"/>
                <a:gd name="connsiteY0" fmla="*/ 0 h 16830"/>
                <a:gd name="connsiteX1" fmla="*/ 1430503 w 1430503"/>
                <a:gd name="connsiteY1" fmla="*/ 11220 h 16830"/>
                <a:gd name="connsiteX2" fmla="*/ 1424893 w 1430503"/>
                <a:gd name="connsiteY2" fmla="*/ 16830 h 16830"/>
              </a:gdLst>
              <a:ahLst/>
              <a:cxnLst>
                <a:cxn ang="0">
                  <a:pos x="connsiteX0" y="connsiteY0"/>
                </a:cxn>
                <a:cxn ang="0">
                  <a:pos x="connsiteX1" y="connsiteY1"/>
                </a:cxn>
                <a:cxn ang="0">
                  <a:pos x="connsiteX2" y="connsiteY2"/>
                </a:cxn>
              </a:cxnLst>
              <a:rect l="l" t="t" r="r" b="b"/>
              <a:pathLst>
                <a:path w="1430503" h="16830">
                  <a:moveTo>
                    <a:pt x="0" y="0"/>
                  </a:moveTo>
                  <a:lnTo>
                    <a:pt x="1430503" y="11220"/>
                  </a:lnTo>
                  <a:lnTo>
                    <a:pt x="1424893" y="16830"/>
                  </a:lnTo>
                </a:path>
              </a:pathLst>
            </a:custGeom>
            <a:noFill/>
            <a:ln w="3810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pSp>
      <p:sp>
        <p:nvSpPr>
          <p:cNvPr id="3" name="フリーフォーム 2"/>
          <p:cNvSpPr/>
          <p:nvPr/>
        </p:nvSpPr>
        <p:spPr bwMode="auto">
          <a:xfrm>
            <a:off x="5964072" y="4012442"/>
            <a:ext cx="2538483" cy="6824"/>
          </a:xfrm>
          <a:custGeom>
            <a:avLst/>
            <a:gdLst>
              <a:gd name="connsiteX0" fmla="*/ 2538483 w 2538483"/>
              <a:gd name="connsiteY0" fmla="*/ 6824 h 6824"/>
              <a:gd name="connsiteX1" fmla="*/ 0 w 2538483"/>
              <a:gd name="connsiteY1" fmla="*/ 0 h 6824"/>
              <a:gd name="connsiteX2" fmla="*/ 0 w 2538483"/>
              <a:gd name="connsiteY2" fmla="*/ 0 h 6824"/>
            </a:gdLst>
            <a:ahLst/>
            <a:cxnLst>
              <a:cxn ang="0">
                <a:pos x="connsiteX0" y="connsiteY0"/>
              </a:cxn>
              <a:cxn ang="0">
                <a:pos x="connsiteX1" y="connsiteY1"/>
              </a:cxn>
              <a:cxn ang="0">
                <a:pos x="connsiteX2" y="connsiteY2"/>
              </a:cxn>
            </a:cxnLst>
            <a:rect l="l" t="t" r="r" b="b"/>
            <a:pathLst>
              <a:path w="2538483" h="6824">
                <a:moveTo>
                  <a:pt x="2538483" y="6824"/>
                </a:moveTo>
                <a:lnTo>
                  <a:pt x="0" y="0"/>
                </a:lnTo>
                <a:lnTo>
                  <a:pt x="0" y="0"/>
                </a:lnTo>
              </a:path>
            </a:pathLst>
          </a:custGeom>
          <a:noFill/>
          <a:ln w="381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 name="フリーフォーム 3"/>
          <p:cNvSpPr/>
          <p:nvPr/>
        </p:nvSpPr>
        <p:spPr bwMode="auto">
          <a:xfrm>
            <a:off x="6052781" y="3500651"/>
            <a:ext cx="2631213" cy="109182"/>
          </a:xfrm>
          <a:custGeom>
            <a:avLst/>
            <a:gdLst>
              <a:gd name="connsiteX0" fmla="*/ 2606722 w 2606722"/>
              <a:gd name="connsiteY0" fmla="*/ 102358 h 109182"/>
              <a:gd name="connsiteX1" fmla="*/ 1050878 w 2606722"/>
              <a:gd name="connsiteY1" fmla="*/ 109182 h 109182"/>
              <a:gd name="connsiteX2" fmla="*/ 866633 w 2606722"/>
              <a:gd name="connsiteY2" fmla="*/ 0 h 109182"/>
              <a:gd name="connsiteX3" fmla="*/ 0 w 2606722"/>
              <a:gd name="connsiteY3" fmla="*/ 6824 h 109182"/>
            </a:gdLst>
            <a:ahLst/>
            <a:cxnLst>
              <a:cxn ang="0">
                <a:pos x="connsiteX0" y="connsiteY0"/>
              </a:cxn>
              <a:cxn ang="0">
                <a:pos x="connsiteX1" y="connsiteY1"/>
              </a:cxn>
              <a:cxn ang="0">
                <a:pos x="connsiteX2" y="connsiteY2"/>
              </a:cxn>
              <a:cxn ang="0">
                <a:pos x="connsiteX3" y="connsiteY3"/>
              </a:cxn>
            </a:cxnLst>
            <a:rect l="l" t="t" r="r" b="b"/>
            <a:pathLst>
              <a:path w="2606722" h="109182">
                <a:moveTo>
                  <a:pt x="2606722" y="102358"/>
                </a:moveTo>
                <a:lnTo>
                  <a:pt x="1050878" y="109182"/>
                </a:lnTo>
                <a:lnTo>
                  <a:pt x="866633" y="0"/>
                </a:lnTo>
                <a:lnTo>
                  <a:pt x="0" y="6824"/>
                </a:lnTo>
              </a:path>
            </a:pathLst>
          </a:cu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24"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2-1.</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申請理由</a:t>
            </a:r>
            <a:r>
              <a:rPr lang="ja-JP" altLang="en-US" sz="2400" b="1" dirty="0">
                <a:solidFill>
                  <a:schemeClr val="accent1">
                    <a:lumMod val="75000"/>
                  </a:schemeClr>
                </a:solidFill>
                <a:latin typeface="Meiryo UI" pitchFamily="50" charset="-128"/>
                <a:ea typeface="Meiryo UI" pitchFamily="50" charset="-128"/>
                <a:cs typeface="Meiryo UI" pitchFamily="50" charset="-128"/>
                <a:sym typeface="Meiryo UI" pitchFamily="50" charset="-128"/>
              </a:rPr>
              <a:t>　</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～神戸製鉄所の排水系統～</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7" name="テキスト ボックス 6">
            <a:extLst>
              <a:ext uri="{FF2B5EF4-FFF2-40B4-BE49-F238E27FC236}">
                <a16:creationId xmlns:a16="http://schemas.microsoft.com/office/drawing/2014/main" id="{9BA870F0-F2D4-4FE0-8B71-C10B94D6D584}"/>
              </a:ext>
            </a:extLst>
          </p:cNvPr>
          <p:cNvSpPr txBox="1"/>
          <p:nvPr/>
        </p:nvSpPr>
        <p:spPr>
          <a:xfrm>
            <a:off x="5940237" y="5209700"/>
            <a:ext cx="1323662" cy="369332"/>
          </a:xfrm>
          <a:prstGeom prst="rect">
            <a:avLst/>
          </a:prstGeom>
          <a:noFill/>
        </p:spPr>
        <p:txBody>
          <a:bodyPr wrap="square" rtlCol="0">
            <a:spAutoFit/>
          </a:bodyPr>
          <a:lstStyle/>
          <a:p>
            <a:r>
              <a:rPr kumimoji="1" lang="en-US" altLang="ja-JP" dirty="0"/>
              <a:t>3</a:t>
            </a:r>
            <a:r>
              <a:rPr kumimoji="1" lang="ja-JP" altLang="en-US" dirty="0"/>
              <a:t>加工工場</a:t>
            </a:r>
          </a:p>
        </p:txBody>
      </p:sp>
      <p:sp>
        <p:nvSpPr>
          <p:cNvPr id="8" name="吹き出し: 四角形 7">
            <a:extLst>
              <a:ext uri="{FF2B5EF4-FFF2-40B4-BE49-F238E27FC236}">
                <a16:creationId xmlns:a16="http://schemas.microsoft.com/office/drawing/2014/main" id="{11D1F1AA-5219-41FB-99B1-29DDD9713B29}"/>
              </a:ext>
            </a:extLst>
          </p:cNvPr>
          <p:cNvSpPr/>
          <p:nvPr/>
        </p:nvSpPr>
        <p:spPr bwMode="auto">
          <a:xfrm>
            <a:off x="1094488" y="4208647"/>
            <a:ext cx="4043551" cy="1055123"/>
          </a:xfrm>
          <a:prstGeom prst="wedgeRectCallout">
            <a:avLst>
              <a:gd name="adj1" fmla="val 136768"/>
              <a:gd name="adj2" fmla="val 37168"/>
            </a:avLst>
          </a:prstGeom>
          <a:solidFill>
            <a:schemeClr val="bg1"/>
          </a:solidFill>
          <a:ln w="222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pSp>
        <p:nvGrpSpPr>
          <p:cNvPr id="6" name="グループ化 5"/>
          <p:cNvGrpSpPr/>
          <p:nvPr/>
        </p:nvGrpSpPr>
        <p:grpSpPr>
          <a:xfrm>
            <a:off x="1177081" y="4235818"/>
            <a:ext cx="3690013" cy="1218407"/>
            <a:chOff x="479377" y="3589278"/>
            <a:chExt cx="3690013" cy="1218407"/>
          </a:xfrm>
        </p:grpSpPr>
        <p:sp>
          <p:nvSpPr>
            <p:cNvPr id="26" name="テキスト ボックス 25"/>
            <p:cNvSpPr txBox="1"/>
            <p:nvPr/>
          </p:nvSpPr>
          <p:spPr>
            <a:xfrm>
              <a:off x="479377" y="3589278"/>
              <a:ext cx="2775614" cy="338554"/>
            </a:xfrm>
            <a:prstGeom prst="rect">
              <a:avLst/>
            </a:prstGeom>
            <a:noFill/>
            <a:ln w="38100">
              <a:noFill/>
            </a:ln>
          </p:spPr>
          <p:txBody>
            <a:bodyPr wrap="square" rtlCol="0">
              <a:spAutoFit/>
            </a:bodyPr>
            <a:lstStyle/>
            <a:p>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水処理施設（現状）</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テキスト ボックス 26"/>
            <p:cNvSpPr txBox="1"/>
            <p:nvPr/>
          </p:nvSpPr>
          <p:spPr>
            <a:xfrm>
              <a:off x="800099" y="3976688"/>
              <a:ext cx="3369291" cy="830997"/>
            </a:xfrm>
            <a:prstGeom prst="rect">
              <a:avLst/>
            </a:prstGeom>
            <a:noFill/>
            <a:ln w="38100">
              <a:noFill/>
            </a:ln>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処理：　中和装置　＋　油水分離槽</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処理能力　：</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400T/H</a:t>
              </a:r>
            </a:p>
            <a:p>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grpSp>
    </p:spTree>
    <p:extLst>
      <p:ext uri="{BB962C8B-B14F-4D97-AF65-F5344CB8AC3E}">
        <p14:creationId xmlns:p14="http://schemas.microsoft.com/office/powerpoint/2010/main" val="37178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3516500439"/>
              </p:ext>
            </p:extLst>
          </p:nvPr>
        </p:nvGraphicFramePr>
        <p:xfrm>
          <a:off x="70978" y="854609"/>
          <a:ext cx="9027710" cy="3641916"/>
        </p:xfrm>
        <a:graphic>
          <a:graphicData uri="http://schemas.openxmlformats.org/drawingml/2006/table">
            <a:tbl>
              <a:tblPr firstRow="1" bandRow="1">
                <a:tableStyleId>{5C22544A-7EE6-4342-B048-85BDC9FD1C3A}</a:tableStyleId>
              </a:tblPr>
              <a:tblGrid>
                <a:gridCol w="885952">
                  <a:extLst>
                    <a:ext uri="{9D8B030D-6E8A-4147-A177-3AD203B41FA5}">
                      <a16:colId xmlns:a16="http://schemas.microsoft.com/office/drawing/2014/main" val="20000"/>
                    </a:ext>
                  </a:extLst>
                </a:gridCol>
                <a:gridCol w="1743740">
                  <a:extLst>
                    <a:ext uri="{9D8B030D-6E8A-4147-A177-3AD203B41FA5}">
                      <a16:colId xmlns:a16="http://schemas.microsoft.com/office/drawing/2014/main" val="2685875635"/>
                    </a:ext>
                  </a:extLst>
                </a:gridCol>
                <a:gridCol w="2152541">
                  <a:extLst>
                    <a:ext uri="{9D8B030D-6E8A-4147-A177-3AD203B41FA5}">
                      <a16:colId xmlns:a16="http://schemas.microsoft.com/office/drawing/2014/main" val="20001"/>
                    </a:ext>
                  </a:extLst>
                </a:gridCol>
                <a:gridCol w="2250300">
                  <a:extLst>
                    <a:ext uri="{9D8B030D-6E8A-4147-A177-3AD203B41FA5}">
                      <a16:colId xmlns:a16="http://schemas.microsoft.com/office/drawing/2014/main" val="20002"/>
                    </a:ext>
                  </a:extLst>
                </a:gridCol>
                <a:gridCol w="1995177">
                  <a:extLst>
                    <a:ext uri="{9D8B030D-6E8A-4147-A177-3AD203B41FA5}">
                      <a16:colId xmlns:a16="http://schemas.microsoft.com/office/drawing/2014/main" val="20003"/>
                    </a:ext>
                  </a:extLst>
                </a:gridCol>
              </a:tblGrid>
              <a:tr h="305958">
                <a:tc rowSpan="2" gridSpan="2">
                  <a:txBody>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工場</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solidFill>
                  </a:tcPr>
                </a:tc>
                <a:tc rowSpan="2" hMerge="1">
                  <a:txBody>
                    <a:bodyPr/>
                    <a:lstStyle/>
                    <a:p>
                      <a:endParaRPr kumimoji="1" lang="ja-JP" altLang="en-US"/>
                    </a:p>
                  </a:txBody>
                  <a:tcPr/>
                </a:tc>
                <a:tc>
                  <a:txBody>
                    <a:bodyPr/>
                    <a:lstStyle/>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月豪雨</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日）</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台風</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20</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号</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(8</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24</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日）</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台風</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21</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号</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日）</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gridSpan="2" vMerge="1">
                  <a:txBody>
                    <a:bodyPr/>
                    <a:lstStyle/>
                    <a:p>
                      <a:pPr>
                        <a:lnSpc>
                          <a:spcPct val="110000"/>
                        </a:lnSpc>
                      </a:pP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kumimoji="1" lang="ja-JP" altLang="en-US"/>
                    </a:p>
                  </a:txBody>
                  <a:tcPr/>
                </a:tc>
                <a:tc>
                  <a:txBody>
                    <a:bodyPr/>
                    <a:lstStyle/>
                    <a:p>
                      <a:pPr algn="ctr">
                        <a:lnSpc>
                          <a:spcPct val="110000"/>
                        </a:lnSpc>
                      </a:pPr>
                      <a:r>
                        <a:rPr kumimoji="1" lang="ja-JP" altLang="en-US" sz="1600" b="1" baseline="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豪雨</a:t>
                      </a:r>
                      <a:endParaRPr kumimoji="1" lang="en-US" altLang="ja-JP" sz="1600" b="1" baseline="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10000"/>
                        </a:lnSpc>
                      </a:pPr>
                      <a:r>
                        <a:rPr kumimoji="1" lang="ja-JP" altLang="en-US" sz="16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豪雨 ＋ </a:t>
                      </a:r>
                      <a:r>
                        <a:rPr kumimoji="1" lang="ja-JP" altLang="en-US" sz="1600" b="1" dirty="0">
                          <a:solidFill>
                            <a:schemeClr val="tx2"/>
                          </a:solidFill>
                          <a:latin typeface="Meiryo UI" panose="020B0604030504040204" pitchFamily="50" charset="-128"/>
                          <a:ea typeface="Meiryo UI" panose="020B0604030504040204" pitchFamily="50" charset="-128"/>
                          <a:cs typeface="Meiryo UI" panose="020B0604030504040204" pitchFamily="50" charset="-128"/>
                        </a:rPr>
                        <a:t>高波</a:t>
                      </a:r>
                      <a:endParaRPr kumimoji="1" lang="en-US" altLang="ja-JP" sz="1600" b="1" dirty="0">
                        <a:solidFill>
                          <a:schemeClr val="tx2"/>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10000"/>
                        </a:lnSpc>
                      </a:pPr>
                      <a:r>
                        <a:rPr kumimoji="1" lang="ja-JP" altLang="en-US" sz="16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高潮</a:t>
                      </a:r>
                    </a:p>
                  </a:txBody>
                  <a:tcPr marL="91430" marR="91430" marT="45744" marB="457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7723">
                <a:tc rowSpan="2" gridSpan="2">
                  <a:txBody>
                    <a:bodyPr/>
                    <a:lstStyle/>
                    <a:p>
                      <a:pPr>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７線材工場</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kumimoji="1" lang="ja-JP" altLang="en-US"/>
                    </a:p>
                  </a:txBody>
                  <a:tcPr/>
                </a:tc>
                <a:tc>
                  <a:txBody>
                    <a:bodyPr/>
                    <a:lstStyle/>
                    <a:p>
                      <a:pPr algn="l">
                        <a:lnSpc>
                          <a:spcPct val="110000"/>
                        </a:lnSpc>
                      </a:pPr>
                      <a:r>
                        <a:rPr kumimoji="1" lang="ja-JP" altLang="en-US" sz="1600" b="0" baseline="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浜側から浸水</a:t>
                      </a:r>
                      <a:endParaRPr kumimoji="1" lang="en-US" altLang="ja-JP" sz="1600" b="0" baseline="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a:lnSpc>
                          <a:spcPct val="110000"/>
                        </a:lnSpc>
                      </a:pPr>
                      <a:r>
                        <a:rPr kumimoji="1" lang="ja-JP" altLang="en-US" sz="1600" b="0" dirty="0">
                          <a:solidFill>
                            <a:schemeClr val="tx2"/>
                          </a:solidFill>
                          <a:latin typeface="Meiryo UI" panose="020B0604030504040204" pitchFamily="50" charset="-128"/>
                          <a:ea typeface="Meiryo UI" panose="020B0604030504040204" pitchFamily="50" charset="-128"/>
                          <a:cs typeface="Meiryo UI" panose="020B0604030504040204" pitchFamily="50" charset="-128"/>
                        </a:rPr>
                        <a:t>高波が東岸壁から越流</a:t>
                      </a:r>
                      <a:endParaRPr kumimoji="1" lang="en-US" altLang="ja-JP" sz="1600" b="0" dirty="0">
                        <a:solidFill>
                          <a:schemeClr val="tx2"/>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a:lnSpc>
                          <a:spcPct val="110000"/>
                        </a:lnSpc>
                      </a:pPr>
                      <a:r>
                        <a:rPr kumimoji="1" lang="ja-JP" altLang="en-US" sz="1600" b="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山側から浸水</a:t>
                      </a:r>
                      <a:endParaRPr kumimoji="1" lang="en-US" altLang="ja-JP" sz="1600" b="0" dirty="0">
                        <a:solidFill>
                          <a:srgbClr val="7030A0"/>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384172">
                <a:tc gridSpan="2" vMerge="1">
                  <a:txBody>
                    <a:bodyPr/>
                    <a:lstStyle/>
                    <a:p>
                      <a:pPr>
                        <a:lnSpc>
                          <a:spcPct val="110000"/>
                        </a:lnSpc>
                      </a:pP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kumimoji="1" lang="ja-JP" altLang="en-US"/>
                    </a:p>
                  </a:txBody>
                  <a:tcPr/>
                </a:tc>
                <a:tc>
                  <a:txBody>
                    <a:bodyPr/>
                    <a:lstStyle/>
                    <a:p>
                      <a:pPr algn="l">
                        <a:lnSpc>
                          <a:spcPct val="110000"/>
                        </a:lnSpc>
                      </a:pPr>
                      <a:r>
                        <a:rPr kumimoji="1" lang="ja-JP" altLang="en-US" sz="1600" b="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2.8</a:t>
                      </a:r>
                      <a:r>
                        <a:rPr kumimoji="1" lang="ja-JP" altLang="en-US" sz="1600" b="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endParaRPr kumimoji="1" lang="en-US" altLang="ja-JP" sz="1600" b="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5.1</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1.3</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endPar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337">
                <a:tc rowSpan="2" gridSpan="2">
                  <a:txBody>
                    <a:bodyPr/>
                    <a:lstStyle/>
                    <a:p>
                      <a:pP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加工工場</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hMerge="1">
                  <a:txBody>
                    <a:bodyPr/>
                    <a:lstStyle/>
                    <a:p>
                      <a:endParaRPr kumimoji="1" lang="ja-JP" altLang="en-US"/>
                    </a:p>
                  </a:txBody>
                  <a:tcPr/>
                </a:tc>
                <a:tc>
                  <a:txBody>
                    <a:bodyPr/>
                    <a:lstStyle/>
                    <a:p>
                      <a:pPr algn="l">
                        <a:lnSpc>
                          <a:spcPct val="110000"/>
                        </a:lnSpc>
                      </a:pPr>
                      <a:r>
                        <a:rPr kumimoji="1" lang="ja-JP" altLang="en-US" sz="16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山側から浸水</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a:lnSpc>
                          <a:spcPct val="110000"/>
                        </a:lnSpc>
                      </a:pPr>
                      <a:r>
                        <a:rPr kumimoji="1" lang="ja-JP" altLang="en-US" sz="16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山側から浸水</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a:lnSpc>
                          <a:spcPct val="110000"/>
                        </a:lnSpc>
                      </a:pPr>
                      <a:r>
                        <a:rPr kumimoji="1" lang="ja-JP" altLang="en-US" sz="1600" b="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山側から浸水</a:t>
                      </a:r>
                      <a:endParaRPr kumimoji="1" lang="en-US" altLang="ja-JP" sz="1600" b="0" dirty="0">
                        <a:solidFill>
                          <a:srgbClr val="7030A0"/>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r h="324013">
                <a:tc gridSpan="2" vMerge="1">
                  <a:txBody>
                    <a:bodyPr/>
                    <a:lstStyle/>
                    <a:p>
                      <a:pPr>
                        <a:lnSpc>
                          <a:spcPct val="110000"/>
                        </a:lnSpc>
                      </a:pP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kumimoji="1" lang="ja-JP" altLang="en-US"/>
                    </a:p>
                  </a:txBody>
                  <a:tcPr/>
                </a:tc>
                <a:tc>
                  <a:txBody>
                    <a:bodyPr/>
                    <a:lstStyle/>
                    <a:p>
                      <a:pPr algn="l">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生産停止：</a:t>
                      </a: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rowSpan="4">
                  <a:txBody>
                    <a:bodyPr/>
                    <a:lstStyle/>
                    <a:p>
                      <a:pPr>
                        <a:lnSpc>
                          <a:spcPct val="110000"/>
                        </a:lnSpc>
                      </a:pP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被害額</a:t>
                      </a:r>
                      <a:endPar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nSpc>
                          <a:spcPct val="110000"/>
                        </a:lnSpc>
                      </a:pPr>
                      <a:r>
                        <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（億円</a:t>
                      </a:r>
                      <a:r>
                        <a:rPr kumimoji="1" lang="en-US" altLang="ja-JP"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0000"/>
                        </a:lnSpc>
                      </a:pPr>
                      <a:r>
                        <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経費</a:t>
                      </a:r>
                      <a:r>
                        <a:rPr kumimoji="1" lang="ja-JP" altLang="en-US" sz="13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（保全予算等）</a:t>
                      </a:r>
                    </a:p>
                  </a:txBody>
                  <a:tcPr marL="91430" marR="91430" marT="45744" marB="45744"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0.8</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1.4</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0.4</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515466403"/>
                  </a:ext>
                </a:extLst>
              </a:tr>
              <a:tr h="0">
                <a:tc vMerge="1">
                  <a:txBody>
                    <a:bodyPr/>
                    <a:lstStyle/>
                    <a:p>
                      <a:endParaRPr kumimoji="1" lang="ja-JP" altLang="en-US"/>
                    </a:p>
                  </a:txBody>
                  <a:tcPr/>
                </a:tc>
                <a:tc>
                  <a:txBody>
                    <a:bodyPr/>
                    <a:lstStyle/>
                    <a:p>
                      <a:pPr>
                        <a:lnSpc>
                          <a:spcPct val="110000"/>
                        </a:lnSpc>
                      </a:pPr>
                      <a:r>
                        <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製品廃却損</a:t>
                      </a:r>
                    </a:p>
                  </a:txBody>
                  <a:tcPr marL="91430" marR="91430" marT="45744" marB="45744"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0.8</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1.2</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1.3</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5607076"/>
                  </a:ext>
                </a:extLst>
              </a:tr>
              <a:tr h="166490">
                <a:tc vMerge="1">
                  <a:txBody>
                    <a:bodyPr/>
                    <a:lstStyle/>
                    <a:p>
                      <a:endParaRPr kumimoji="1" lang="ja-JP" altLang="en-US"/>
                    </a:p>
                  </a:txBody>
                  <a:tcPr/>
                </a:tc>
                <a:tc>
                  <a:txBody>
                    <a:bodyPr/>
                    <a:lstStyle/>
                    <a:p>
                      <a:pPr>
                        <a:lnSpc>
                          <a:spcPct val="110000"/>
                        </a:lnSpc>
                      </a:pPr>
                      <a:r>
                        <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物流費</a:t>
                      </a:r>
                    </a:p>
                  </a:txBody>
                  <a:tcPr marL="91430" marR="91430" marT="45744" marB="45744"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gridSpan="3">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10.1</a:t>
                      </a:r>
                      <a:r>
                        <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（緊急空輸・トラック等）</a:t>
                      </a: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hMerge="1">
                  <a:txBody>
                    <a:bodyPr/>
                    <a:lstStyle/>
                    <a:p>
                      <a:pPr algn="ctr">
                        <a:lnSpc>
                          <a:spcPct val="110000"/>
                        </a:lnSpc>
                      </a:pP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hMerge="1">
                  <a:txBody>
                    <a:bodyPr/>
                    <a:lstStyle/>
                    <a:p>
                      <a:pPr algn="ctr">
                        <a:lnSpc>
                          <a:spcPct val="110000"/>
                        </a:lnSpc>
                      </a:pP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81710640"/>
                  </a:ext>
                </a:extLst>
              </a:tr>
              <a:tr h="166490">
                <a:tc vMerge="1">
                  <a:txBody>
                    <a:bodyPr/>
                    <a:lstStyle/>
                    <a:p>
                      <a:endParaRPr kumimoji="1" lang="ja-JP" altLang="en-US"/>
                    </a:p>
                  </a:txBody>
                  <a:tcPr/>
                </a:tc>
                <a:tc>
                  <a:txBody>
                    <a:bodyPr/>
                    <a:lstStyle/>
                    <a:p>
                      <a:pPr>
                        <a:lnSpc>
                          <a:spcPct val="110000"/>
                        </a:lnSpc>
                      </a:pPr>
                      <a:r>
                        <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減産による機会損失</a:t>
                      </a:r>
                    </a:p>
                  </a:txBody>
                  <a:tcPr marL="91430" marR="91430" marT="45744" marB="45744"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2.8</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5.3</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0000"/>
                        </a:lnSpc>
                      </a:pPr>
                      <a:r>
                        <a:rPr kumimoji="1" lang="en-US" altLang="ja-JP"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1.2</a:t>
                      </a:r>
                      <a:endParaRPr kumimoji="1" lang="ja-JP" altLang="en-US" sz="16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30" marR="91430" marT="45744" marB="4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9828135"/>
                  </a:ext>
                </a:extLst>
              </a:tr>
            </a:tbl>
          </a:graphicData>
        </a:graphic>
      </p:graphicFrame>
      <p:sp>
        <p:nvSpPr>
          <p:cNvPr id="3"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2-2.</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7</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線材工場周辺の課題　</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4" name="角丸四角形 10">
            <a:extLst>
              <a:ext uri="{FF2B5EF4-FFF2-40B4-BE49-F238E27FC236}">
                <a16:creationId xmlns:a16="http://schemas.microsoft.com/office/drawing/2014/main" id="{39F300BE-2EE3-4CC5-9CC9-5687CB79B95F}"/>
              </a:ext>
            </a:extLst>
          </p:cNvPr>
          <p:cNvSpPr/>
          <p:nvPr/>
        </p:nvSpPr>
        <p:spPr>
          <a:xfrm>
            <a:off x="92244" y="4593603"/>
            <a:ext cx="8953280" cy="2202815"/>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000"/>
              </a:lnSpc>
              <a:spcBef>
                <a:spcPts val="0"/>
              </a:spcBef>
              <a:spcAft>
                <a:spcPts val="0"/>
              </a:spcAft>
              <a:defRPr/>
            </a:pPr>
            <a:r>
              <a:rPr lang="en-US" altLang="ja-JP" dirty="0">
                <a:solidFill>
                  <a:schemeClr val="tx1"/>
                </a:solidFill>
                <a:latin typeface="Meiryo UI" pitchFamily="50" charset="-128"/>
                <a:ea typeface="Meiryo UI" pitchFamily="50" charset="-128"/>
                <a:cs typeface="Meiryo UI" pitchFamily="50" charset="-128"/>
              </a:rPr>
              <a:t>2.</a:t>
            </a:r>
            <a:r>
              <a:rPr lang="ja-JP" altLang="en-US" dirty="0">
                <a:solidFill>
                  <a:schemeClr val="tx1"/>
                </a:solidFill>
                <a:latin typeface="Meiryo UI" pitchFamily="50" charset="-128"/>
                <a:ea typeface="Meiryo UI" pitchFamily="50" charset="-128"/>
                <a:cs typeface="Meiryo UI" pitchFamily="50" charset="-128"/>
              </a:rPr>
              <a:t>課題</a:t>
            </a:r>
            <a:endParaRPr lang="en-US" altLang="ja-JP"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・豪雨</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①　</a:t>
            </a:r>
            <a:r>
              <a:rPr lang="en-US" altLang="ja-JP" sz="1600" dirty="0">
                <a:solidFill>
                  <a:schemeClr val="tx1"/>
                </a:solidFill>
                <a:latin typeface="Meiryo UI" pitchFamily="50" charset="-128"/>
                <a:ea typeface="Meiryo UI" pitchFamily="50" charset="-128"/>
                <a:cs typeface="Meiryo UI" pitchFamily="50" charset="-128"/>
              </a:rPr>
              <a:t>No.16</a:t>
            </a:r>
            <a:r>
              <a:rPr lang="ja-JP" altLang="en-US" sz="1600" dirty="0">
                <a:solidFill>
                  <a:schemeClr val="tx1"/>
                </a:solidFill>
                <a:latin typeface="Meiryo UI" pitchFamily="50" charset="-128"/>
                <a:ea typeface="Meiryo UI" pitchFamily="50" charset="-128"/>
                <a:cs typeface="Meiryo UI" pitchFamily="50" charset="-128"/>
              </a:rPr>
              <a:t>水処理施設の処理能力不足</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② ３加工・７線工場から</a:t>
            </a:r>
            <a:r>
              <a:rPr lang="en-US" altLang="ja-JP" sz="1600" dirty="0">
                <a:solidFill>
                  <a:schemeClr val="tx1"/>
                </a:solidFill>
                <a:latin typeface="Meiryo UI" pitchFamily="50" charset="-128"/>
                <a:ea typeface="Meiryo UI" pitchFamily="50" charset="-128"/>
                <a:cs typeface="Meiryo UI" pitchFamily="50" charset="-128"/>
              </a:rPr>
              <a:t>No.16</a:t>
            </a:r>
            <a:r>
              <a:rPr lang="ja-JP" altLang="en-US" sz="1600" dirty="0">
                <a:solidFill>
                  <a:schemeClr val="tx1"/>
                </a:solidFill>
                <a:latin typeface="Meiryo UI" pitchFamily="50" charset="-128"/>
                <a:ea typeface="Meiryo UI" pitchFamily="50" charset="-128"/>
                <a:cs typeface="Meiryo UI" pitchFamily="50" charset="-128"/>
              </a:rPr>
              <a:t>水処理施設への送水能力不足</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・高潮</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③　</a:t>
            </a:r>
            <a:r>
              <a:rPr lang="en-US" altLang="ja-JP" sz="1600" dirty="0">
                <a:solidFill>
                  <a:schemeClr val="tx1"/>
                </a:solidFill>
                <a:latin typeface="Meiryo UI" pitchFamily="50" charset="-128"/>
                <a:ea typeface="Meiryo UI" pitchFamily="50" charset="-128"/>
                <a:cs typeface="Meiryo UI" pitchFamily="50" charset="-128"/>
              </a:rPr>
              <a:t>No.16</a:t>
            </a:r>
            <a:r>
              <a:rPr lang="ja-JP" altLang="en-US" sz="1600" dirty="0">
                <a:solidFill>
                  <a:schemeClr val="tx1"/>
                </a:solidFill>
                <a:latin typeface="Meiryo UI" pitchFamily="50" charset="-128"/>
                <a:ea typeface="Meiryo UI" pitchFamily="50" charset="-128"/>
                <a:cs typeface="Meiryo UI" pitchFamily="50" charset="-128"/>
              </a:rPr>
              <a:t>水処理施設から海への排水方式（自然放流のため、潮位上昇時所内に逆流）</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・高波</a:t>
            </a:r>
            <a:endParaRPr lang="en-US" altLang="ja-JP" sz="1600" dirty="0">
              <a:solidFill>
                <a:schemeClr val="tx1"/>
              </a:solidFill>
              <a:latin typeface="Meiryo UI" pitchFamily="50" charset="-128"/>
              <a:ea typeface="Meiryo UI" pitchFamily="50" charset="-128"/>
              <a:cs typeface="Meiryo UI" pitchFamily="50" charset="-128"/>
            </a:endParaRPr>
          </a:p>
          <a:p>
            <a:pPr eaLnBrk="1" fontAlgn="auto" hangingPunct="1">
              <a:lnSpc>
                <a:spcPts val="20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④　岸壁高さの不足（浸水防止板設置し対策済）</a:t>
            </a:r>
            <a:endParaRPr lang="en-US" altLang="ja-JP" sz="1600" dirty="0">
              <a:solidFill>
                <a:schemeClr val="tx1"/>
              </a:solidFill>
              <a:latin typeface="Meiryo UI" pitchFamily="50" charset="-128"/>
              <a:ea typeface="Meiryo UI" pitchFamily="50" charset="-128"/>
              <a:cs typeface="Meiryo UI" pitchFamily="50" charset="-128"/>
            </a:endParaRPr>
          </a:p>
        </p:txBody>
      </p:sp>
      <p:sp>
        <p:nvSpPr>
          <p:cNvPr id="5" name="テキスト ボックス 4">
            <a:extLst>
              <a:ext uri="{FF2B5EF4-FFF2-40B4-BE49-F238E27FC236}">
                <a16:creationId xmlns:a16="http://schemas.microsoft.com/office/drawing/2014/main" id="{49BD9585-5CC1-4D6F-B072-182ACDB41BFF}"/>
              </a:ext>
            </a:extLst>
          </p:cNvPr>
          <p:cNvSpPr txBox="1"/>
          <p:nvPr/>
        </p:nvSpPr>
        <p:spPr>
          <a:xfrm>
            <a:off x="-20299" y="541338"/>
            <a:ext cx="2580615" cy="369332"/>
          </a:xfrm>
          <a:prstGeom prst="rect">
            <a:avLst/>
          </a:prstGeom>
          <a:noFill/>
        </p:spPr>
        <p:txBody>
          <a:bodyPr wrap="square" rtlCol="0">
            <a:spAutoFit/>
          </a:bodyPr>
          <a:lstStyle/>
          <a:p>
            <a:r>
              <a:rPr lang="ja-JP" altLang="en-US" dirty="0">
                <a:solidFill>
                  <a:schemeClr val="accent4"/>
                </a:solidFill>
                <a:latin typeface="Meiryo UI" pitchFamily="50" charset="-128"/>
                <a:ea typeface="Meiryo UI" pitchFamily="50" charset="-128"/>
                <a:cs typeface="Meiryo UI" pitchFamily="50" charset="-128"/>
                <a:sym typeface="Meiryo UI" pitchFamily="50" charset="-128"/>
              </a:rPr>
              <a:t>１</a:t>
            </a:r>
            <a:r>
              <a:rPr lang="en-US" altLang="ja-JP" dirty="0">
                <a:solidFill>
                  <a:schemeClr val="accent4"/>
                </a:solidFill>
                <a:latin typeface="Meiryo UI" pitchFamily="50" charset="-128"/>
                <a:ea typeface="Meiryo UI" pitchFamily="50" charset="-128"/>
                <a:cs typeface="Meiryo UI" pitchFamily="50" charset="-128"/>
                <a:sym typeface="Meiryo UI" pitchFamily="50" charset="-128"/>
              </a:rPr>
              <a:t>.</a:t>
            </a:r>
            <a:r>
              <a:rPr lang="ja-JP" altLang="en-US" dirty="0">
                <a:solidFill>
                  <a:schemeClr val="accent4"/>
                </a:solidFill>
                <a:latin typeface="Meiryo UI" pitchFamily="50" charset="-128"/>
                <a:ea typeface="Meiryo UI" pitchFamily="50" charset="-128"/>
                <a:cs typeface="Meiryo UI" pitchFamily="50" charset="-128"/>
                <a:sym typeface="Meiryo UI" pitchFamily="50" charset="-128"/>
              </a:rPr>
              <a:t>被害状況</a:t>
            </a:r>
            <a:endParaRPr kumimoji="1" lang="ja-JP" altLang="en-US" dirty="0">
              <a:solidFill>
                <a:schemeClr val="accent4"/>
              </a:solidFill>
            </a:endParaRPr>
          </a:p>
        </p:txBody>
      </p:sp>
    </p:spTree>
    <p:extLst>
      <p:ext uri="{BB962C8B-B14F-4D97-AF65-F5344CB8AC3E}">
        <p14:creationId xmlns:p14="http://schemas.microsoft.com/office/powerpoint/2010/main" val="1732422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2-2.</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①</a:t>
            </a:r>
            <a:r>
              <a:rPr lang="en-US" altLang="ja-JP" sz="2400" b="1" dirty="0">
                <a:solidFill>
                  <a:srgbClr val="002060"/>
                </a:solidFill>
                <a:latin typeface="Meiryo UI" pitchFamily="50" charset="-128"/>
                <a:ea typeface="Meiryo UI" pitchFamily="50" charset="-128"/>
                <a:cs typeface="Meiryo UI" pitchFamily="50" charset="-128"/>
              </a:rPr>
              <a:t>No.16</a:t>
            </a:r>
            <a:r>
              <a:rPr lang="ja-JP" altLang="en-US" sz="2400" b="1" dirty="0">
                <a:solidFill>
                  <a:srgbClr val="002060"/>
                </a:solidFill>
                <a:latin typeface="Meiryo UI" pitchFamily="50" charset="-128"/>
                <a:ea typeface="Meiryo UI" pitchFamily="50" charset="-128"/>
                <a:cs typeface="Meiryo UI" pitchFamily="50" charset="-128"/>
              </a:rPr>
              <a:t>水処理施設の処理能力不足</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grpSp>
        <p:nvGrpSpPr>
          <p:cNvPr id="10" name="グループ化 9"/>
          <p:cNvGrpSpPr/>
          <p:nvPr/>
        </p:nvGrpSpPr>
        <p:grpSpPr>
          <a:xfrm>
            <a:off x="200754" y="2066248"/>
            <a:ext cx="8690028" cy="2176271"/>
            <a:chOff x="180975" y="636053"/>
            <a:chExt cx="8582025" cy="2773897"/>
          </a:xfrm>
        </p:grpSpPr>
        <p:grpSp>
          <p:nvGrpSpPr>
            <p:cNvPr id="3" name="グループ化 2"/>
            <p:cNvGrpSpPr/>
            <p:nvPr/>
          </p:nvGrpSpPr>
          <p:grpSpPr>
            <a:xfrm>
              <a:off x="180975" y="779010"/>
              <a:ext cx="8582025" cy="2630940"/>
              <a:chOff x="0" y="0"/>
              <a:chExt cx="11048322" cy="4723040"/>
            </a:xfrm>
          </p:grpSpPr>
          <p:graphicFrame>
            <p:nvGraphicFramePr>
              <p:cNvPr id="4" name="グラフ 3"/>
              <p:cNvGraphicFramePr>
                <a:graphicFrameLocks/>
              </p:cNvGraphicFramePr>
              <p:nvPr>
                <p:extLst>
                  <p:ext uri="{D42A27DB-BD31-4B8C-83A1-F6EECF244321}">
                    <p14:modId xmlns:p14="http://schemas.microsoft.com/office/powerpoint/2010/main" val="1156529194"/>
                  </p:ext>
                </p:extLst>
              </p:nvPr>
            </p:nvGraphicFramePr>
            <p:xfrm>
              <a:off x="0" y="0"/>
              <a:ext cx="11048322" cy="4723040"/>
            </p:xfrm>
            <a:graphic>
              <a:graphicData uri="http://schemas.openxmlformats.org/drawingml/2006/chart">
                <c:chart xmlns:c="http://schemas.openxmlformats.org/drawingml/2006/chart" xmlns:r="http://schemas.openxmlformats.org/officeDocument/2006/relationships" r:id="rId3"/>
              </a:graphicData>
            </a:graphic>
          </p:graphicFrame>
          <p:sp>
            <p:nvSpPr>
              <p:cNvPr id="5" name="正方形/長方形 4"/>
              <p:cNvSpPr/>
              <p:nvPr/>
            </p:nvSpPr>
            <p:spPr>
              <a:xfrm>
                <a:off x="6632501" y="556001"/>
                <a:ext cx="3201855" cy="112465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 name="テキスト ボックス 5"/>
              <p:cNvSpPr txBox="1"/>
              <p:nvPr/>
            </p:nvSpPr>
            <p:spPr>
              <a:xfrm>
                <a:off x="7029644" y="763100"/>
                <a:ext cx="2946933" cy="917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累積降水量</a:t>
                </a:r>
                <a:endParaRPr kumimoji="1" lang="en-US" altLang="ja-JP" sz="600"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冠水深さ</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（排水能力</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400m3/h</a:t>
                </a:r>
                <a:r>
                  <a:rPr kumimoji="1"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p>
            </p:txBody>
          </p:sp>
          <p:cxnSp>
            <p:nvCxnSpPr>
              <p:cNvPr id="7" name="直線コネクタ 6"/>
              <p:cNvCxnSpPr/>
              <p:nvPr/>
            </p:nvCxnSpPr>
            <p:spPr>
              <a:xfrm>
                <a:off x="6724796" y="967865"/>
                <a:ext cx="35378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a:off x="6715770" y="1338256"/>
                <a:ext cx="353786"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9" name="テキスト ボックス 8"/>
            <p:cNvSpPr txBox="1"/>
            <p:nvPr/>
          </p:nvSpPr>
          <p:spPr>
            <a:xfrm rot="16200000">
              <a:off x="7193022" y="1700819"/>
              <a:ext cx="2406535" cy="277003"/>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累計降水量、冠水深さ</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grpSp>
      <p:graphicFrame>
        <p:nvGraphicFramePr>
          <p:cNvPr id="15" name="グラフ 14"/>
          <p:cNvGraphicFramePr>
            <a:graphicFrameLocks/>
          </p:cNvGraphicFramePr>
          <p:nvPr>
            <p:extLst>
              <p:ext uri="{D42A27DB-BD31-4B8C-83A1-F6EECF244321}">
                <p14:modId xmlns:p14="http://schemas.microsoft.com/office/powerpoint/2010/main" val="3923355095"/>
              </p:ext>
            </p:extLst>
          </p:nvPr>
        </p:nvGraphicFramePr>
        <p:xfrm>
          <a:off x="449081" y="4271194"/>
          <a:ext cx="8320416" cy="2439100"/>
        </p:xfrm>
        <a:graphic>
          <a:graphicData uri="http://schemas.openxmlformats.org/drawingml/2006/chart">
            <c:chart xmlns:c="http://schemas.openxmlformats.org/drawingml/2006/chart" xmlns:r="http://schemas.openxmlformats.org/officeDocument/2006/relationships" r:id="rId4"/>
          </a:graphicData>
        </a:graphic>
      </p:graphicFrame>
      <p:pic>
        <p:nvPicPr>
          <p:cNvPr id="2051" name="Picture 3" descr="C:\Users\AA01047\AppData\Local\Microsoft\Windows\Temporary Internet Files\Content.Outlook\VCYEFT9C\2018年7月6日 3加工工場北東部②.jpg"/>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l="29308" t="30886" r="47680" b="45007"/>
          <a:stretch/>
        </p:blipFill>
        <p:spPr bwMode="auto">
          <a:xfrm>
            <a:off x="6073253" y="4751299"/>
            <a:ext cx="1895289" cy="1497329"/>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p:cNvSpPr txBox="1"/>
          <p:nvPr/>
        </p:nvSpPr>
        <p:spPr>
          <a:xfrm>
            <a:off x="6937754" y="4685907"/>
            <a:ext cx="1049039" cy="415498"/>
          </a:xfrm>
          <a:prstGeom prst="rect">
            <a:avLst/>
          </a:prstGeom>
          <a:solidFill>
            <a:schemeClr val="bg1"/>
          </a:solidFill>
        </p:spPr>
        <p:txBody>
          <a:bodyPr wrap="square" rtlCol="0">
            <a:spAutoFit/>
          </a:bodyPr>
          <a:lstStyle/>
          <a:p>
            <a:r>
              <a:rPr kumimoji="1" lang="en-US" altLang="ja-JP" sz="1050" dirty="0"/>
              <a:t>7</a:t>
            </a:r>
            <a:r>
              <a:rPr kumimoji="1" lang="ja-JP" altLang="en-US" sz="1050" dirty="0"/>
              <a:t>月</a:t>
            </a:r>
            <a:r>
              <a:rPr kumimoji="1" lang="en-US" altLang="ja-JP" sz="1050" dirty="0"/>
              <a:t>6</a:t>
            </a:r>
            <a:r>
              <a:rPr kumimoji="1" lang="ja-JP" altLang="en-US" sz="1050" dirty="0"/>
              <a:t>日</a:t>
            </a:r>
            <a:r>
              <a:rPr kumimoji="1" lang="en-US" altLang="ja-JP" sz="1050" dirty="0"/>
              <a:t>12</a:t>
            </a:r>
            <a:r>
              <a:rPr kumimoji="1" lang="ja-JP" altLang="en-US" sz="1050" dirty="0"/>
              <a:t>時頃</a:t>
            </a:r>
            <a:endParaRPr kumimoji="1" lang="en-US" altLang="ja-JP" sz="1050" dirty="0"/>
          </a:p>
          <a:p>
            <a:r>
              <a:rPr kumimoji="1" lang="ja-JP" altLang="en-US" sz="1050" dirty="0"/>
              <a:t>（</a:t>
            </a:r>
            <a:r>
              <a:rPr kumimoji="1" lang="en-US" altLang="ja-JP" sz="1050" dirty="0"/>
              <a:t>3</a:t>
            </a:r>
            <a:r>
              <a:rPr kumimoji="1" lang="ja-JP" altLang="en-US" sz="1050" dirty="0"/>
              <a:t>加工山側）</a:t>
            </a:r>
          </a:p>
        </p:txBody>
      </p:sp>
      <p:cxnSp>
        <p:nvCxnSpPr>
          <p:cNvPr id="16" name="直線矢印コネクタ 15"/>
          <p:cNvCxnSpPr/>
          <p:nvPr/>
        </p:nvCxnSpPr>
        <p:spPr bwMode="auto">
          <a:xfrm>
            <a:off x="7235687" y="5719435"/>
            <a:ext cx="0" cy="281371"/>
          </a:xfrm>
          <a:prstGeom prst="straightConnector1">
            <a:avLst/>
          </a:prstGeom>
          <a:solidFill>
            <a:schemeClr val="accent1"/>
          </a:solidFill>
          <a:ln w="22225" cap="flat" cmpd="sng" algn="ctr">
            <a:solidFill>
              <a:srgbClr val="0000FF"/>
            </a:solidFill>
            <a:prstDash val="solid"/>
            <a:round/>
            <a:headEnd type="arrow"/>
            <a:tailEnd type="arrow"/>
          </a:ln>
        </p:spPr>
      </p:cxnSp>
      <p:sp>
        <p:nvSpPr>
          <p:cNvPr id="20" name="テキスト ボックス 19"/>
          <p:cNvSpPr txBox="1"/>
          <p:nvPr/>
        </p:nvSpPr>
        <p:spPr>
          <a:xfrm>
            <a:off x="6581776" y="5719435"/>
            <a:ext cx="947664" cy="338554"/>
          </a:xfrm>
          <a:prstGeom prst="rect">
            <a:avLst/>
          </a:prstGeom>
          <a:noFill/>
        </p:spPr>
        <p:txBody>
          <a:bodyPr wrap="square" rtlCol="0">
            <a:spAutoFit/>
          </a:bodyPr>
          <a:lstStyle/>
          <a:p>
            <a:r>
              <a:rPr kumimoji="1" lang="en-US" altLang="ja-JP" sz="1600" b="1" dirty="0">
                <a:solidFill>
                  <a:srgbClr val="0000FF"/>
                </a:solidFill>
              </a:rPr>
              <a:t>320</a:t>
            </a:r>
            <a:r>
              <a:rPr kumimoji="1" lang="ja-JP" altLang="en-US" sz="1600" b="1" dirty="0">
                <a:solidFill>
                  <a:srgbClr val="0000FF"/>
                </a:solidFill>
              </a:rPr>
              <a:t>㎜</a:t>
            </a:r>
            <a:endParaRPr kumimoji="1" lang="en-US" altLang="ja-JP" sz="1600" b="1" dirty="0">
              <a:solidFill>
                <a:srgbClr val="0000FF"/>
              </a:solidFill>
            </a:endParaRPr>
          </a:p>
        </p:txBody>
      </p:sp>
      <p:sp>
        <p:nvSpPr>
          <p:cNvPr id="21" name="角丸四角形 10">
            <a:extLst>
              <a:ext uri="{FF2B5EF4-FFF2-40B4-BE49-F238E27FC236}">
                <a16:creationId xmlns:a16="http://schemas.microsoft.com/office/drawing/2014/main" id="{D265D4B6-A832-4501-ADD1-90FD7436078E}"/>
              </a:ext>
            </a:extLst>
          </p:cNvPr>
          <p:cNvSpPr/>
          <p:nvPr/>
        </p:nvSpPr>
        <p:spPr>
          <a:xfrm>
            <a:off x="42202" y="613404"/>
            <a:ext cx="9045526" cy="1169506"/>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300"/>
              </a:lnSpc>
              <a:spcBef>
                <a:spcPts val="0"/>
              </a:spcBef>
              <a:spcAft>
                <a:spcPts val="0"/>
              </a:spcAft>
              <a:defRPr/>
            </a:pPr>
            <a:r>
              <a:rPr lang="en-US" altLang="ja-JP" dirty="0">
                <a:solidFill>
                  <a:schemeClr val="tx1"/>
                </a:solidFill>
                <a:latin typeface="Meiryo UI" pitchFamily="50" charset="-128"/>
                <a:ea typeface="Meiryo UI" pitchFamily="50" charset="-128"/>
                <a:cs typeface="Meiryo UI" pitchFamily="50" charset="-128"/>
              </a:rPr>
              <a:t>No.16</a:t>
            </a:r>
            <a:r>
              <a:rPr lang="ja-JP" altLang="en-US" dirty="0">
                <a:solidFill>
                  <a:schemeClr val="tx1"/>
                </a:solidFill>
                <a:latin typeface="Meiryo UI" pitchFamily="50" charset="-128"/>
                <a:ea typeface="Meiryo UI" pitchFamily="50" charset="-128"/>
                <a:cs typeface="Meiryo UI" pitchFamily="50" charset="-128"/>
              </a:rPr>
              <a:t>水処理施設（中和装置＋油水分離装置）能力　</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dirty="0">
              <a:solidFill>
                <a:schemeClr val="tx1"/>
              </a:solidFill>
              <a:latin typeface="Meiryo UI" pitchFamily="50" charset="-128"/>
              <a:ea typeface="Meiryo UI" pitchFamily="50" charset="-128"/>
              <a:cs typeface="Meiryo UI" pitchFamily="50" charset="-128"/>
            </a:endParaRPr>
          </a:p>
          <a:p>
            <a:r>
              <a:rPr lang="ja-JP" altLang="en-US" sz="1600" dirty="0">
                <a:solidFill>
                  <a:schemeClr val="tx1"/>
                </a:solidFill>
                <a:latin typeface="Meiryo UI" pitchFamily="50" charset="-128"/>
                <a:ea typeface="Meiryo UI" pitchFamily="50" charset="-128"/>
                <a:cs typeface="Meiryo UI" pitchFamily="50" charset="-128"/>
              </a:rPr>
              <a:t>　現状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年台風</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号</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降雨量累計</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112</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㎜）で、冠水深さ</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150㎜</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以下とする設計</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400T/H</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（上図）</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７月豪雨：降雨量累積が</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379</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㎜に達し、</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線材工場付近の冠水深さは、</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380</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㎜程度になったと推定。　　　　　　　　　</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（下図） 　　　　　　　　　　　　　　　　　　　　　　　　　　　　　　　　　　　　</a:t>
            </a:r>
            <a:endParaRPr lang="en-US" altLang="ja-JP" sz="1600" dirty="0">
              <a:solidFill>
                <a:schemeClr val="tx1"/>
              </a:solidFill>
              <a:latin typeface="Meiryo UI" pitchFamily="50" charset="-128"/>
              <a:ea typeface="Meiryo UI" pitchFamily="50" charset="-128"/>
              <a:cs typeface="Meiryo UI" pitchFamily="50" charset="-128"/>
            </a:endParaRPr>
          </a:p>
        </p:txBody>
      </p:sp>
      <p:sp>
        <p:nvSpPr>
          <p:cNvPr id="14" name="テキスト ボックス 13">
            <a:extLst>
              <a:ext uri="{FF2B5EF4-FFF2-40B4-BE49-F238E27FC236}">
                <a16:creationId xmlns:a16="http://schemas.microsoft.com/office/drawing/2014/main" id="{B5782B8A-1681-43A3-B94E-61D8F7D4A917}"/>
              </a:ext>
            </a:extLst>
          </p:cNvPr>
          <p:cNvSpPr txBox="1"/>
          <p:nvPr/>
        </p:nvSpPr>
        <p:spPr>
          <a:xfrm>
            <a:off x="982614" y="2115899"/>
            <a:ext cx="3131391"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No.16</a:t>
            </a:r>
            <a:r>
              <a:rPr kumimoji="1" lang="ja-JP" altLang="en-US" sz="1600" dirty="0">
                <a:latin typeface="Meiryo UI" panose="020B0604030504040204" pitchFamily="50" charset="-128"/>
                <a:ea typeface="Meiryo UI" panose="020B0604030504040204" pitchFamily="50" charset="-128"/>
              </a:rPr>
              <a:t>水処理施設設計時前提</a:t>
            </a:r>
          </a:p>
        </p:txBody>
      </p:sp>
      <p:sp>
        <p:nvSpPr>
          <p:cNvPr id="25" name="テキスト ボックス 24">
            <a:extLst>
              <a:ext uri="{FF2B5EF4-FFF2-40B4-BE49-F238E27FC236}">
                <a16:creationId xmlns:a16="http://schemas.microsoft.com/office/drawing/2014/main" id="{2CA44AC1-974A-4C3E-AF38-185D6E1B72D7}"/>
              </a:ext>
            </a:extLst>
          </p:cNvPr>
          <p:cNvSpPr txBox="1"/>
          <p:nvPr/>
        </p:nvSpPr>
        <p:spPr>
          <a:xfrm>
            <a:off x="982615" y="4308311"/>
            <a:ext cx="3131391"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rPr>
              <a:t>月豪雨時の計算冠水深さ</a:t>
            </a:r>
          </a:p>
        </p:txBody>
      </p:sp>
      <p:sp>
        <p:nvSpPr>
          <p:cNvPr id="22" name="テキスト ボックス 21">
            <a:extLst>
              <a:ext uri="{FF2B5EF4-FFF2-40B4-BE49-F238E27FC236}">
                <a16:creationId xmlns:a16="http://schemas.microsoft.com/office/drawing/2014/main" id="{40DCB863-C54A-4315-8DF1-7F8C2BC24F27}"/>
              </a:ext>
            </a:extLst>
          </p:cNvPr>
          <p:cNvSpPr txBox="1"/>
          <p:nvPr/>
        </p:nvSpPr>
        <p:spPr>
          <a:xfrm>
            <a:off x="59231" y="1828800"/>
            <a:ext cx="5991598"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棒鋼、３加工、７線材、立体倉庫エリア</a:t>
            </a:r>
            <a:endParaRPr kumimoji="1" lang="ja-JP" altLang="en-US" dirty="0"/>
          </a:p>
        </p:txBody>
      </p:sp>
    </p:spTree>
    <p:extLst>
      <p:ext uri="{BB962C8B-B14F-4D97-AF65-F5344CB8AC3E}">
        <p14:creationId xmlns:p14="http://schemas.microsoft.com/office/powerpoint/2010/main" val="2014043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2"/>
          <p:cNvSpPr>
            <a:spLocks noGrp="1" noChangeArrowheads="1"/>
          </p:cNvSpPr>
          <p:nvPr/>
        </p:nvSpPr>
        <p:spPr bwMode="auto">
          <a:xfrm>
            <a:off x="3" y="21045"/>
            <a:ext cx="8510954"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200" b="1" dirty="0">
                <a:solidFill>
                  <a:srgbClr val="002060"/>
                </a:solidFill>
                <a:latin typeface="Meiryo UI" pitchFamily="50" charset="-128"/>
                <a:ea typeface="Meiryo UI" pitchFamily="50" charset="-128"/>
                <a:cs typeface="Meiryo UI" pitchFamily="50" charset="-128"/>
                <a:sym typeface="Meiryo UI" pitchFamily="50" charset="-128"/>
              </a:rPr>
              <a:t>2-2.</a:t>
            </a:r>
            <a:r>
              <a:rPr lang="ja-JP" altLang="en-US" sz="2100" b="1" dirty="0">
                <a:solidFill>
                  <a:srgbClr val="002060"/>
                </a:solidFill>
                <a:latin typeface="Meiryo UI" pitchFamily="50" charset="-128"/>
                <a:ea typeface="Meiryo UI" pitchFamily="50" charset="-128"/>
                <a:cs typeface="Meiryo UI" pitchFamily="50" charset="-128"/>
                <a:sym typeface="Meiryo UI" pitchFamily="50" charset="-128"/>
              </a:rPr>
              <a:t>②</a:t>
            </a:r>
            <a:r>
              <a:rPr lang="ja-JP" altLang="en-US" sz="2100" b="1" dirty="0">
                <a:solidFill>
                  <a:srgbClr val="002060"/>
                </a:solidFill>
                <a:latin typeface="Meiryo UI" pitchFamily="50" charset="-128"/>
                <a:ea typeface="Meiryo UI" pitchFamily="50" charset="-128"/>
                <a:cs typeface="Meiryo UI" pitchFamily="50" charset="-128"/>
              </a:rPr>
              <a:t>３加工・７材線工場から</a:t>
            </a:r>
            <a:r>
              <a:rPr lang="en-US" altLang="ja-JP" sz="2100" b="1" dirty="0">
                <a:solidFill>
                  <a:srgbClr val="002060"/>
                </a:solidFill>
                <a:latin typeface="Meiryo UI" pitchFamily="50" charset="-128"/>
                <a:ea typeface="Meiryo UI" pitchFamily="50" charset="-128"/>
                <a:cs typeface="Meiryo UI" pitchFamily="50" charset="-128"/>
              </a:rPr>
              <a:t>No.16</a:t>
            </a:r>
            <a:r>
              <a:rPr lang="ja-JP" altLang="en-US" sz="2100" b="1" dirty="0">
                <a:solidFill>
                  <a:srgbClr val="002060"/>
                </a:solidFill>
                <a:latin typeface="Meiryo UI" pitchFamily="50" charset="-128"/>
                <a:ea typeface="Meiryo UI" pitchFamily="50" charset="-128"/>
                <a:cs typeface="Meiryo UI" pitchFamily="50" charset="-128"/>
              </a:rPr>
              <a:t>水処理施設への送水能力不足</a:t>
            </a:r>
            <a:endParaRPr lang="ja-JP" altLang="en-US" sz="2100" b="1" dirty="0">
              <a:solidFill>
                <a:srgbClr val="002060"/>
              </a:solidFill>
              <a:latin typeface="Meiryo UI" pitchFamily="50" charset="-128"/>
              <a:ea typeface="Meiryo UI" pitchFamily="50" charset="-128"/>
              <a:cs typeface="Meiryo UI" pitchFamily="50" charset="-128"/>
              <a:sym typeface="Meiryo UI" pitchFamily="50" charset="-128"/>
            </a:endParaRPr>
          </a:p>
        </p:txBody>
      </p:sp>
      <p:pic>
        <p:nvPicPr>
          <p:cNvPr id="3" name="Picture 36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630" y="4609871"/>
            <a:ext cx="5079970" cy="20045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テキスト ボックス 11"/>
          <p:cNvSpPr txBox="1">
            <a:spLocks noChangeArrowheads="1"/>
          </p:cNvSpPr>
          <p:nvPr/>
        </p:nvSpPr>
        <p:spPr bwMode="auto">
          <a:xfrm>
            <a:off x="4076033" y="5120352"/>
            <a:ext cx="1224663" cy="3060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800" dirty="0">
                <a:latin typeface="HG丸ｺﾞｼｯｸM-PRO" pitchFamily="50" charset="-128"/>
                <a:ea typeface="HG丸ｺﾞｼｯｸM-PRO" pitchFamily="50" charset="-128"/>
              </a:rPr>
              <a:t>7</a:t>
            </a:r>
            <a:r>
              <a:rPr lang="ja-JP" altLang="en-US" sz="1800" dirty="0">
                <a:latin typeface="HG丸ｺﾞｼｯｸM-PRO" pitchFamily="50" charset="-128"/>
                <a:ea typeface="HG丸ｺﾞｼｯｸM-PRO" pitchFamily="50" charset="-128"/>
              </a:rPr>
              <a:t>線材工場</a:t>
            </a:r>
            <a:endParaRPr lang="en-US" altLang="ja-JP" sz="1800" dirty="0">
              <a:latin typeface="HG丸ｺﾞｼｯｸM-PRO" pitchFamily="50" charset="-128"/>
              <a:ea typeface="HG丸ｺﾞｼｯｸM-PRO" pitchFamily="50" charset="-128"/>
            </a:endParaRPr>
          </a:p>
        </p:txBody>
      </p:sp>
      <p:sp>
        <p:nvSpPr>
          <p:cNvPr id="5" name="テキスト ボックス 11"/>
          <p:cNvSpPr txBox="1">
            <a:spLocks noChangeArrowheads="1"/>
          </p:cNvSpPr>
          <p:nvPr/>
        </p:nvSpPr>
        <p:spPr bwMode="auto">
          <a:xfrm>
            <a:off x="1199402" y="5099648"/>
            <a:ext cx="1335297" cy="2539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HG丸ｺﾞｼｯｸM-PRO" pitchFamily="50" charset="-128"/>
                <a:ea typeface="HG丸ｺﾞｼｯｸM-PRO" pitchFamily="50" charset="-128"/>
              </a:rPr>
              <a:t>鋼片</a:t>
            </a:r>
            <a:r>
              <a:rPr lang="en-US" altLang="ja-JP" sz="1400" dirty="0">
                <a:latin typeface="HG丸ｺﾞｼｯｸM-PRO" pitchFamily="50" charset="-128"/>
                <a:ea typeface="HG丸ｺﾞｼｯｸM-PRO" pitchFamily="50" charset="-128"/>
              </a:rPr>
              <a:t>3</a:t>
            </a:r>
            <a:r>
              <a:rPr lang="ja-JP" altLang="en-US" sz="1400" dirty="0">
                <a:latin typeface="HG丸ｺﾞｼｯｸM-PRO" pitchFamily="50" charset="-128"/>
                <a:ea typeface="HG丸ｺﾞｼｯｸM-PRO" pitchFamily="50" charset="-128"/>
              </a:rPr>
              <a:t>加工工場</a:t>
            </a:r>
            <a:endParaRPr lang="en-US" altLang="ja-JP" sz="1400" dirty="0">
              <a:latin typeface="HG丸ｺﾞｼｯｸM-PRO" pitchFamily="50" charset="-128"/>
              <a:ea typeface="HG丸ｺﾞｼｯｸM-PRO" pitchFamily="50" charset="-128"/>
            </a:endParaRPr>
          </a:p>
        </p:txBody>
      </p:sp>
      <p:sp>
        <p:nvSpPr>
          <p:cNvPr id="6" name="テキスト ボックス 11"/>
          <p:cNvSpPr txBox="1">
            <a:spLocks noChangeArrowheads="1"/>
          </p:cNvSpPr>
          <p:nvPr/>
        </p:nvSpPr>
        <p:spPr bwMode="auto">
          <a:xfrm>
            <a:off x="4777003" y="5773495"/>
            <a:ext cx="439465" cy="3327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72000" rIns="72000" bIns="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lnSpc>
                <a:spcPts val="900"/>
              </a:lnSpc>
              <a:spcBef>
                <a:spcPct val="50000"/>
              </a:spcBef>
              <a:buFontTx/>
              <a:buNone/>
            </a:pPr>
            <a:r>
              <a:rPr lang="ja-JP" altLang="en-US" sz="1200" dirty="0">
                <a:latin typeface="HG丸ｺﾞｼｯｸM-PRO" pitchFamily="50" charset="-128"/>
                <a:ea typeface="HG丸ｺﾞｼｯｸM-PRO" pitchFamily="50" charset="-128"/>
              </a:rPr>
              <a:t>立体</a:t>
            </a:r>
            <a:endParaRPr lang="en-US" altLang="ja-JP" sz="1200" dirty="0">
              <a:latin typeface="HG丸ｺﾞｼｯｸM-PRO" pitchFamily="50" charset="-128"/>
              <a:ea typeface="HG丸ｺﾞｼｯｸM-PRO" pitchFamily="50" charset="-128"/>
            </a:endParaRPr>
          </a:p>
          <a:p>
            <a:pPr eaLnBrk="1" hangingPunct="1">
              <a:lnSpc>
                <a:spcPts val="900"/>
              </a:lnSpc>
              <a:spcBef>
                <a:spcPct val="50000"/>
              </a:spcBef>
              <a:buFontTx/>
              <a:buNone/>
            </a:pPr>
            <a:r>
              <a:rPr lang="ja-JP" altLang="en-US" sz="1200" dirty="0">
                <a:latin typeface="HG丸ｺﾞｼｯｸM-PRO" pitchFamily="50" charset="-128"/>
                <a:ea typeface="HG丸ｺﾞｼｯｸM-PRO" pitchFamily="50" charset="-128"/>
              </a:rPr>
              <a:t>倉庫</a:t>
            </a:r>
            <a:endParaRPr lang="en-US" altLang="ja-JP" sz="1200" dirty="0">
              <a:latin typeface="HG丸ｺﾞｼｯｸM-PRO" pitchFamily="50" charset="-128"/>
              <a:ea typeface="HG丸ｺﾞｼｯｸM-PRO" pitchFamily="50" charset="-128"/>
            </a:endParaRPr>
          </a:p>
        </p:txBody>
      </p:sp>
      <p:pic>
        <p:nvPicPr>
          <p:cNvPr id="1028" name="Picture 4" descr="C:\Users\AA01047\AppData\Local\Microsoft\Windows\Temporary Internet Files\Content.Outlook\VCYEFT9C\2018年7月6日 3加工工場北東部①.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552" y="2240676"/>
            <a:ext cx="2894791" cy="2216075"/>
          </a:xfrm>
          <a:prstGeom prst="rect">
            <a:avLst/>
          </a:prstGeom>
          <a:noFill/>
          <a:extLst>
            <a:ext uri="{909E8E84-426E-40DD-AFC4-6F175D3DCCD1}">
              <a14:hiddenFill xmlns:a14="http://schemas.microsoft.com/office/drawing/2010/main">
                <a:solidFill>
                  <a:srgbClr val="FFFFFF"/>
                </a:solidFill>
              </a14:hiddenFill>
            </a:ext>
          </a:extLst>
        </p:spPr>
      </p:pic>
      <p:sp>
        <p:nvSpPr>
          <p:cNvPr id="13" name="四角形吹き出し 12"/>
          <p:cNvSpPr/>
          <p:nvPr/>
        </p:nvSpPr>
        <p:spPr bwMode="auto">
          <a:xfrm>
            <a:off x="170004" y="2173478"/>
            <a:ext cx="3042815" cy="2359619"/>
          </a:xfrm>
          <a:prstGeom prst="wedgeRectCallout">
            <a:avLst>
              <a:gd name="adj1" fmla="val -8023"/>
              <a:gd name="adj2" fmla="val 67278"/>
            </a:avLst>
          </a:prstGeom>
          <a:noFill/>
          <a:ln w="222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6" name="テキスト ボックス 11"/>
          <p:cNvSpPr txBox="1">
            <a:spLocks noChangeArrowheads="1"/>
          </p:cNvSpPr>
          <p:nvPr/>
        </p:nvSpPr>
        <p:spPr bwMode="auto">
          <a:xfrm>
            <a:off x="431322" y="2390890"/>
            <a:ext cx="2176559" cy="3006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HG丸ｺﾞｼｯｸM-PRO" pitchFamily="50" charset="-128"/>
                <a:ea typeface="HG丸ｺﾞｼｯｸM-PRO" pitchFamily="50" charset="-128"/>
              </a:rPr>
              <a:t>鋼片</a:t>
            </a:r>
            <a:r>
              <a:rPr lang="en-US" altLang="ja-JP" sz="1400" dirty="0">
                <a:latin typeface="HG丸ｺﾞｼｯｸM-PRO" pitchFamily="50" charset="-128"/>
                <a:ea typeface="HG丸ｺﾞｼｯｸM-PRO" pitchFamily="50" charset="-128"/>
              </a:rPr>
              <a:t>3</a:t>
            </a:r>
            <a:r>
              <a:rPr lang="ja-JP" altLang="en-US" sz="1400" dirty="0">
                <a:latin typeface="HG丸ｺﾞｼｯｸM-PRO" pitchFamily="50" charset="-128"/>
                <a:ea typeface="HG丸ｺﾞｼｯｸM-PRO" pitchFamily="50" charset="-128"/>
              </a:rPr>
              <a:t>加工工場（山側）</a:t>
            </a:r>
            <a:endParaRPr lang="en-US" altLang="ja-JP" sz="1400" dirty="0">
              <a:latin typeface="HG丸ｺﾞｼｯｸM-PRO" pitchFamily="50" charset="-128"/>
              <a:ea typeface="HG丸ｺﾞｼｯｸM-PRO" pitchFamily="50" charset="-128"/>
            </a:endParaRPr>
          </a:p>
        </p:txBody>
      </p:sp>
      <p:sp>
        <p:nvSpPr>
          <p:cNvPr id="17" name="角丸四角形 10">
            <a:extLst>
              <a:ext uri="{FF2B5EF4-FFF2-40B4-BE49-F238E27FC236}">
                <a16:creationId xmlns:a16="http://schemas.microsoft.com/office/drawing/2014/main" id="{09171D6B-7209-4ABD-9AC9-51C293596287}"/>
              </a:ext>
            </a:extLst>
          </p:cNvPr>
          <p:cNvSpPr/>
          <p:nvPr/>
        </p:nvSpPr>
        <p:spPr>
          <a:xfrm>
            <a:off x="35525" y="723091"/>
            <a:ext cx="9045526" cy="1095846"/>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600"/>
              </a:lnSpc>
              <a:spcBef>
                <a:spcPts val="0"/>
              </a:spcBef>
              <a:spcAft>
                <a:spcPts val="0"/>
              </a:spcAft>
              <a:defRPr/>
            </a:pPr>
            <a:r>
              <a:rPr lang="en-US" altLang="ja-JP" dirty="0">
                <a:solidFill>
                  <a:schemeClr val="tx1"/>
                </a:solidFill>
                <a:latin typeface="Meiryo UI" pitchFamily="50" charset="-128"/>
                <a:ea typeface="Meiryo UI" pitchFamily="50" charset="-128"/>
                <a:cs typeface="Meiryo UI" pitchFamily="50" charset="-128"/>
              </a:rPr>
              <a:t>No.16</a:t>
            </a:r>
            <a:r>
              <a:rPr lang="ja-JP" altLang="en-US" dirty="0">
                <a:solidFill>
                  <a:schemeClr val="tx1"/>
                </a:solidFill>
                <a:latin typeface="Meiryo UI" pitchFamily="50" charset="-128"/>
                <a:ea typeface="Meiryo UI" pitchFamily="50" charset="-128"/>
                <a:cs typeface="Meiryo UI" pitchFamily="50" charset="-128"/>
              </a:rPr>
              <a:t>水処理施設への送水能力　</a:t>
            </a:r>
            <a:endParaRPr lang="en-US" altLang="ja-JP" dirty="0">
              <a:solidFill>
                <a:schemeClr val="tx1"/>
              </a:solidFill>
              <a:latin typeface="Meiryo UI" pitchFamily="50" charset="-128"/>
              <a:ea typeface="Meiryo UI" pitchFamily="50" charset="-128"/>
              <a:cs typeface="Meiryo UI" pitchFamily="50" charset="-128"/>
            </a:endParaRPr>
          </a:p>
          <a:p>
            <a:pPr>
              <a:lnSpc>
                <a:spcPts val="2600"/>
              </a:lnSpc>
            </a:pPr>
            <a:r>
              <a:rPr lang="ja-JP" altLang="en-US" sz="1600" dirty="0">
                <a:solidFill>
                  <a:schemeClr val="tx1"/>
                </a:solidFill>
                <a:latin typeface="Meiryo UI" pitchFamily="50" charset="-128"/>
                <a:ea typeface="Meiryo UI" pitchFamily="50" charset="-128"/>
                <a:cs typeface="Meiryo UI" pitchFamily="50" charset="-128"/>
              </a:rPr>
              <a:t>　</a:t>
            </a:r>
            <a:r>
              <a:rPr lang="ja-JP" altLang="en-US" dirty="0">
                <a:solidFill>
                  <a:schemeClr val="tx1"/>
                </a:solidFill>
                <a:latin typeface="Meiryo UI" pitchFamily="50" charset="-128"/>
                <a:ea typeface="Meiryo UI" pitchFamily="50" charset="-128"/>
                <a:cs typeface="Meiryo UI" pitchFamily="50" charset="-128"/>
              </a:rPr>
              <a:t>　現状　　　：</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水処理能力に合わせ</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400T/H</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７月豪雨：　冠水深さが上昇し、</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加工山側、</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線材工場浜側から浸水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p:txBody>
      </p:sp>
      <p:sp>
        <p:nvSpPr>
          <p:cNvPr id="20" name="左矢印 15">
            <a:extLst>
              <a:ext uri="{FF2B5EF4-FFF2-40B4-BE49-F238E27FC236}">
                <a16:creationId xmlns:a16="http://schemas.microsoft.com/office/drawing/2014/main" id="{2BE0689B-5C62-490F-A6C9-8FA656BC0523}"/>
              </a:ext>
            </a:extLst>
          </p:cNvPr>
          <p:cNvSpPr>
            <a:spLocks noChangeArrowheads="1"/>
          </p:cNvSpPr>
          <p:nvPr/>
        </p:nvSpPr>
        <p:spPr bwMode="auto">
          <a:xfrm rot="14997525">
            <a:off x="1299288" y="4820784"/>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
        <p:nvSpPr>
          <p:cNvPr id="21" name="左矢印 15">
            <a:extLst>
              <a:ext uri="{FF2B5EF4-FFF2-40B4-BE49-F238E27FC236}">
                <a16:creationId xmlns:a16="http://schemas.microsoft.com/office/drawing/2014/main" id="{3DDF8AFC-C5F9-41F2-A7A7-BF157A2BA042}"/>
              </a:ext>
            </a:extLst>
          </p:cNvPr>
          <p:cNvSpPr>
            <a:spLocks noChangeArrowheads="1"/>
          </p:cNvSpPr>
          <p:nvPr/>
        </p:nvSpPr>
        <p:spPr bwMode="auto">
          <a:xfrm rot="14997525">
            <a:off x="1523571" y="4798110"/>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
        <p:nvSpPr>
          <p:cNvPr id="22" name="左矢印 15">
            <a:extLst>
              <a:ext uri="{FF2B5EF4-FFF2-40B4-BE49-F238E27FC236}">
                <a16:creationId xmlns:a16="http://schemas.microsoft.com/office/drawing/2014/main" id="{96E0E80F-2D4F-4738-B9DA-223E1C304DD9}"/>
              </a:ext>
            </a:extLst>
          </p:cNvPr>
          <p:cNvSpPr>
            <a:spLocks noChangeArrowheads="1"/>
          </p:cNvSpPr>
          <p:nvPr/>
        </p:nvSpPr>
        <p:spPr bwMode="auto">
          <a:xfrm rot="14997525">
            <a:off x="1724351" y="4798109"/>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
        <p:nvSpPr>
          <p:cNvPr id="23" name="左矢印 15">
            <a:extLst>
              <a:ext uri="{FF2B5EF4-FFF2-40B4-BE49-F238E27FC236}">
                <a16:creationId xmlns:a16="http://schemas.microsoft.com/office/drawing/2014/main" id="{12AD75BE-6BD1-4420-96D8-06C8E21C38B0}"/>
              </a:ext>
            </a:extLst>
          </p:cNvPr>
          <p:cNvSpPr>
            <a:spLocks noChangeArrowheads="1"/>
          </p:cNvSpPr>
          <p:nvPr/>
        </p:nvSpPr>
        <p:spPr bwMode="auto">
          <a:xfrm rot="7202174">
            <a:off x="4541802" y="5503129"/>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
        <p:nvSpPr>
          <p:cNvPr id="25" name="四角形吹き出し 4">
            <a:extLst>
              <a:ext uri="{FF2B5EF4-FFF2-40B4-BE49-F238E27FC236}">
                <a16:creationId xmlns:a16="http://schemas.microsoft.com/office/drawing/2014/main" id="{97202517-48A2-471E-B1BB-B5C7104EA5FB}"/>
              </a:ext>
            </a:extLst>
          </p:cNvPr>
          <p:cNvSpPr/>
          <p:nvPr/>
        </p:nvSpPr>
        <p:spPr bwMode="auto">
          <a:xfrm>
            <a:off x="5876101" y="4072177"/>
            <a:ext cx="3042815" cy="2359619"/>
          </a:xfrm>
          <a:prstGeom prst="wedgeRectCallout">
            <a:avLst>
              <a:gd name="adj1" fmla="val -82818"/>
              <a:gd name="adj2" fmla="val 13505"/>
            </a:avLst>
          </a:prstGeom>
          <a:noFill/>
          <a:ln w="2540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pic>
        <p:nvPicPr>
          <p:cNvPr id="28" name="Picture 4" descr="C:\Users\AA01047\AppData\Local\Microsoft\Windows\Temporary Internet Files\Content.Outlook\VCYEFT9C\2018年7月6日 7線材工場結束機出入口（工場内）②.jpg">
            <a:extLst>
              <a:ext uri="{FF2B5EF4-FFF2-40B4-BE49-F238E27FC236}">
                <a16:creationId xmlns:a16="http://schemas.microsoft.com/office/drawing/2014/main" id="{72833B40-E540-4843-994A-43AFD7C9C994}"/>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975876" y="4109082"/>
            <a:ext cx="2905561" cy="2221374"/>
          </a:xfrm>
          <a:prstGeom prst="rect">
            <a:avLst/>
          </a:prstGeom>
          <a:noFill/>
          <a:extLst>
            <a:ext uri="{909E8E84-426E-40DD-AFC4-6F175D3DCCD1}">
              <a14:hiddenFill xmlns:a14="http://schemas.microsoft.com/office/drawing/2010/main">
                <a:solidFill>
                  <a:srgbClr val="FFFFFF"/>
                </a:solidFill>
              </a14:hiddenFill>
            </a:ext>
          </a:extLst>
        </p:spPr>
      </p:pic>
      <p:sp>
        <p:nvSpPr>
          <p:cNvPr id="27" name="テキスト ボックス 11">
            <a:extLst>
              <a:ext uri="{FF2B5EF4-FFF2-40B4-BE49-F238E27FC236}">
                <a16:creationId xmlns:a16="http://schemas.microsoft.com/office/drawing/2014/main" id="{B970591A-7731-439A-9496-71F010A0A013}"/>
              </a:ext>
            </a:extLst>
          </p:cNvPr>
          <p:cNvSpPr txBox="1">
            <a:spLocks noChangeArrowheads="1"/>
          </p:cNvSpPr>
          <p:nvPr/>
        </p:nvSpPr>
        <p:spPr bwMode="auto">
          <a:xfrm>
            <a:off x="6307802" y="4155089"/>
            <a:ext cx="2176559" cy="6238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400" dirty="0">
                <a:latin typeface="HG丸ｺﾞｼｯｸM-PRO" pitchFamily="50" charset="-128"/>
                <a:ea typeface="HG丸ｺﾞｼｯｸM-PRO" pitchFamily="50" charset="-128"/>
              </a:rPr>
              <a:t>7</a:t>
            </a:r>
            <a:r>
              <a:rPr lang="ja-JP" altLang="en-US" sz="1400" dirty="0">
                <a:latin typeface="HG丸ｺﾞｼｯｸM-PRO" pitchFamily="50" charset="-128"/>
                <a:ea typeface="HG丸ｺﾞｼｯｸM-PRO" pitchFamily="50" charset="-128"/>
              </a:rPr>
              <a:t>線材工場（浜側）</a:t>
            </a:r>
            <a:endParaRPr lang="en-US" altLang="ja-JP" sz="1400" dirty="0">
              <a:latin typeface="HG丸ｺﾞｼｯｸM-PRO" pitchFamily="50" charset="-128"/>
              <a:ea typeface="HG丸ｺﾞｼｯｸM-PRO" pitchFamily="50" charset="-128"/>
            </a:endParaRPr>
          </a:p>
          <a:p>
            <a:pPr eaLnBrk="1" hangingPunct="1">
              <a:spcBef>
                <a:spcPct val="50000"/>
              </a:spcBef>
              <a:buFontTx/>
              <a:buNone/>
            </a:pPr>
            <a:r>
              <a:rPr lang="ja-JP" altLang="en-US" sz="1400" dirty="0">
                <a:latin typeface="HG丸ｺﾞｼｯｸM-PRO" pitchFamily="50" charset="-128"/>
                <a:ea typeface="HG丸ｺﾞｼｯｸM-PRO" pitchFamily="50" charset="-128"/>
              </a:rPr>
              <a:t>　　結束機</a:t>
            </a:r>
            <a:endParaRPr lang="en-US" altLang="ja-JP" sz="1400" dirty="0">
              <a:latin typeface="HG丸ｺﾞｼｯｸM-PRO" pitchFamily="50" charset="-128"/>
              <a:ea typeface="HG丸ｺﾞｼｯｸM-PRO" pitchFamily="50" charset="-128"/>
            </a:endParaRPr>
          </a:p>
        </p:txBody>
      </p:sp>
      <p:sp>
        <p:nvSpPr>
          <p:cNvPr id="29" name="左矢印 15">
            <a:extLst>
              <a:ext uri="{FF2B5EF4-FFF2-40B4-BE49-F238E27FC236}">
                <a16:creationId xmlns:a16="http://schemas.microsoft.com/office/drawing/2014/main" id="{83BA9ADC-1A03-4A4E-B835-DB280D11DC1B}"/>
              </a:ext>
            </a:extLst>
          </p:cNvPr>
          <p:cNvSpPr>
            <a:spLocks noChangeArrowheads="1"/>
          </p:cNvSpPr>
          <p:nvPr/>
        </p:nvSpPr>
        <p:spPr bwMode="auto">
          <a:xfrm rot="7202174">
            <a:off x="4706860" y="5503129"/>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
        <p:nvSpPr>
          <p:cNvPr id="30" name="左矢印 15">
            <a:extLst>
              <a:ext uri="{FF2B5EF4-FFF2-40B4-BE49-F238E27FC236}">
                <a16:creationId xmlns:a16="http://schemas.microsoft.com/office/drawing/2014/main" id="{F36B99D2-CC28-4905-90C8-F09BDFA5E4D2}"/>
              </a:ext>
            </a:extLst>
          </p:cNvPr>
          <p:cNvSpPr>
            <a:spLocks noChangeArrowheads="1"/>
          </p:cNvSpPr>
          <p:nvPr/>
        </p:nvSpPr>
        <p:spPr bwMode="auto">
          <a:xfrm rot="7202174">
            <a:off x="4843765" y="5406343"/>
            <a:ext cx="201788" cy="193610"/>
          </a:xfrm>
          <a:prstGeom prst="leftArrow">
            <a:avLst>
              <a:gd name="adj1" fmla="val 50000"/>
              <a:gd name="adj2" fmla="val 49940"/>
            </a:avLst>
          </a:prstGeom>
          <a:solidFill>
            <a:srgbClr val="FF0000"/>
          </a:solidFill>
          <a:ln w="3175"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Verdana" pitchFamily="34" charset="0"/>
            </a:endParaRPr>
          </a:p>
        </p:txBody>
      </p:sp>
    </p:spTree>
    <p:extLst>
      <p:ext uri="{BB962C8B-B14F-4D97-AF65-F5344CB8AC3E}">
        <p14:creationId xmlns:p14="http://schemas.microsoft.com/office/powerpoint/2010/main" val="654299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2-2.</a:t>
            </a:r>
            <a:r>
              <a:rPr lang="ja-JP" altLang="en-US" sz="2400" b="1" dirty="0">
                <a:solidFill>
                  <a:srgbClr val="002060"/>
                </a:solidFill>
                <a:latin typeface="Meiryo UI" pitchFamily="50" charset="-128"/>
                <a:ea typeface="Meiryo UI" pitchFamily="50" charset="-128"/>
                <a:cs typeface="Meiryo UI" pitchFamily="50" charset="-128"/>
                <a:sym typeface="Meiryo UI" pitchFamily="50" charset="-128"/>
              </a:rPr>
              <a:t>③</a:t>
            </a:r>
            <a:r>
              <a:rPr lang="en-US" altLang="ja-JP" sz="2400" b="1" dirty="0">
                <a:solidFill>
                  <a:srgbClr val="002060"/>
                </a:solidFill>
                <a:latin typeface="Meiryo UI" pitchFamily="50" charset="-128"/>
                <a:ea typeface="Meiryo UI" pitchFamily="50" charset="-128"/>
                <a:cs typeface="Meiryo UI" pitchFamily="50" charset="-128"/>
              </a:rPr>
              <a:t> No.16</a:t>
            </a:r>
            <a:r>
              <a:rPr lang="ja-JP" altLang="en-US" sz="2400" b="1" dirty="0">
                <a:solidFill>
                  <a:srgbClr val="002060"/>
                </a:solidFill>
                <a:latin typeface="Meiryo UI" pitchFamily="50" charset="-128"/>
                <a:ea typeface="Meiryo UI" pitchFamily="50" charset="-128"/>
                <a:cs typeface="Meiryo UI" pitchFamily="50" charset="-128"/>
              </a:rPr>
              <a:t>水処理施設から海への排水方式</a:t>
            </a:r>
            <a:endParaRPr lang="ja-JP" altLang="en-US" sz="2400" b="1" dirty="0">
              <a:solidFill>
                <a:srgbClr val="002060"/>
              </a:solidFill>
              <a:latin typeface="Meiryo UI" pitchFamily="50" charset="-128"/>
              <a:ea typeface="Meiryo UI" pitchFamily="50" charset="-128"/>
              <a:cs typeface="Meiryo UI" pitchFamily="50" charset="-128"/>
              <a:sym typeface="Meiryo UI" pitchFamily="50" charset="-128"/>
            </a:endParaRPr>
          </a:p>
        </p:txBody>
      </p:sp>
      <p:sp>
        <p:nvSpPr>
          <p:cNvPr id="56" name="角丸四角形 10">
            <a:extLst>
              <a:ext uri="{FF2B5EF4-FFF2-40B4-BE49-F238E27FC236}">
                <a16:creationId xmlns:a16="http://schemas.microsoft.com/office/drawing/2014/main" id="{B9FB06F3-ED82-4FAD-8DF8-B7C79CD06202}"/>
              </a:ext>
            </a:extLst>
          </p:cNvPr>
          <p:cNvSpPr/>
          <p:nvPr/>
        </p:nvSpPr>
        <p:spPr>
          <a:xfrm>
            <a:off x="71734" y="737451"/>
            <a:ext cx="8889386" cy="1442169"/>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a:lnSpc>
                <a:spcPts val="2600"/>
              </a:lnSpc>
            </a:pPr>
            <a:r>
              <a:rPr lang="ja-JP" altLang="en-US" sz="1600" dirty="0">
                <a:solidFill>
                  <a:schemeClr val="tx1"/>
                </a:solidFill>
                <a:latin typeface="Meiryo UI" pitchFamily="50" charset="-128"/>
                <a:ea typeface="Meiryo UI" pitchFamily="50" charset="-128"/>
                <a:cs typeface="Meiryo UI" pitchFamily="50" charset="-128"/>
              </a:rPr>
              <a:t>　</a:t>
            </a:r>
            <a:r>
              <a:rPr lang="ja-JP" altLang="en-US" dirty="0">
                <a:solidFill>
                  <a:schemeClr val="tx1"/>
                </a:solidFill>
                <a:latin typeface="Meiryo UI" pitchFamily="50" charset="-128"/>
                <a:ea typeface="Meiryo UI" pitchFamily="50" charset="-128"/>
                <a:cs typeface="Meiryo UI" pitchFamily="50" charset="-128"/>
              </a:rPr>
              <a:t>　現状　　　：</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重力式（自然放流式）</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通常なら</a:t>
            </a:r>
            <a:r>
              <a:rPr kumimoji="1" lang="ja-JP" altLang="en-US"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満潮時においても地表面から</a:t>
            </a:r>
            <a:r>
              <a:rPr kumimoji="1" lang="en-US" altLang="ja-JP"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1.5m</a:t>
            </a:r>
            <a:r>
              <a:rPr kumimoji="1" lang="ja-JP" altLang="en-US"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海水面が低く問題はない。</a:t>
            </a:r>
            <a:endParaRPr kumimoji="1" lang="en-US" altLang="ja-JP" dirty="0">
              <a:solidFill>
                <a:srgbClr val="7030A0"/>
              </a:solidFill>
              <a:latin typeface="Meiryo UI" panose="020B0604030504040204" pitchFamily="50" charset="-128"/>
              <a:ea typeface="Meiryo UI" panose="020B0604030504040204" pitchFamily="50" charset="-128"/>
              <a:cs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高潮時　：</a:t>
            </a:r>
            <a:r>
              <a:rPr lang="ja-JP" altLang="en-US" dirty="0">
                <a:latin typeface="Meiryo UI" panose="020B0604030504040204" pitchFamily="50" charset="-128"/>
                <a:ea typeface="Meiryo UI" panose="020B0604030504040204" pitchFamily="50" charset="-128"/>
              </a:rPr>
              <a:t>過去最高潮位の</a:t>
            </a:r>
            <a:r>
              <a:rPr lang="en-US" altLang="ja-JP" dirty="0">
                <a:latin typeface="Meiryo UI" panose="020B0604030504040204" pitchFamily="50" charset="-128"/>
                <a:ea typeface="Meiryo UI" panose="020B0604030504040204" pitchFamily="50" charset="-128"/>
              </a:rPr>
              <a:t>KP</a:t>
            </a:r>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3.7m</a:t>
            </a:r>
            <a:r>
              <a:rPr lang="ja-JP" altLang="en-US" dirty="0">
                <a:latin typeface="Meiryo UI" panose="020B0604030504040204" pitchFamily="50" charset="-128"/>
                <a:ea typeface="Meiryo UI" panose="020B0604030504040204" pitchFamily="50" charset="-128"/>
              </a:rPr>
              <a:t>となり、</a:t>
            </a:r>
            <a:r>
              <a:rPr lang="ja-JP" altLang="en-US" dirty="0">
                <a:solidFill>
                  <a:srgbClr val="FF0000"/>
                </a:solidFill>
                <a:latin typeface="Meiryo UI" panose="020B0604030504040204" pitchFamily="50" charset="-128"/>
                <a:ea typeface="Meiryo UI" panose="020B0604030504040204" pitchFamily="50" charset="-128"/>
              </a:rPr>
              <a:t>地表面より約</a:t>
            </a:r>
            <a:r>
              <a:rPr lang="en-US" altLang="ja-JP" dirty="0">
                <a:solidFill>
                  <a:srgbClr val="FF0000"/>
                </a:solidFill>
                <a:latin typeface="Meiryo UI" panose="020B0604030504040204" pitchFamily="50" charset="-128"/>
                <a:ea typeface="Meiryo UI" panose="020B0604030504040204" pitchFamily="50" charset="-128"/>
              </a:rPr>
              <a:t>44</a:t>
            </a:r>
            <a:r>
              <a:rPr lang="ja-JP" altLang="en-US" dirty="0">
                <a:solidFill>
                  <a:srgbClr val="FF0000"/>
                </a:solidFill>
                <a:latin typeface="Meiryo UI" panose="020B0604030504040204" pitchFamily="50" charset="-128"/>
                <a:ea typeface="Meiryo UI" panose="020B0604030504040204" pitchFamily="50" charset="-128"/>
              </a:rPr>
              <a:t>センチ海面が上昇</a:t>
            </a:r>
            <a:endParaRPr lang="en-US" altLang="ja-JP" dirty="0">
              <a:solidFill>
                <a:srgbClr val="FF0000"/>
              </a:solidFill>
              <a:latin typeface="Meiryo UI" panose="020B0604030504040204" pitchFamily="50" charset="-128"/>
              <a:ea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排水口から海水が逆流し、海への放流が不可（工場周辺に雨水滞留）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p:txBody>
      </p:sp>
      <p:grpSp>
        <p:nvGrpSpPr>
          <p:cNvPr id="13" name="グループ化 12">
            <a:extLst>
              <a:ext uri="{FF2B5EF4-FFF2-40B4-BE49-F238E27FC236}">
                <a16:creationId xmlns:a16="http://schemas.microsoft.com/office/drawing/2014/main" id="{EF9D126D-B0E7-4CE9-AE0E-A90C8DE89E3F}"/>
              </a:ext>
            </a:extLst>
          </p:cNvPr>
          <p:cNvGrpSpPr/>
          <p:nvPr/>
        </p:nvGrpSpPr>
        <p:grpSpPr>
          <a:xfrm>
            <a:off x="564600" y="2789773"/>
            <a:ext cx="8545393" cy="3949853"/>
            <a:chOff x="900334" y="3701356"/>
            <a:chExt cx="8545393" cy="3034221"/>
          </a:xfrm>
        </p:grpSpPr>
        <p:sp>
          <p:nvSpPr>
            <p:cNvPr id="78" name="弦 77"/>
            <p:cNvSpPr/>
            <p:nvPr/>
          </p:nvSpPr>
          <p:spPr bwMode="auto">
            <a:xfrm rot="5249625">
              <a:off x="3933247" y="5091208"/>
              <a:ext cx="668657" cy="470532"/>
            </a:xfrm>
            <a:prstGeom prst="chord">
              <a:avLst>
                <a:gd name="adj1" fmla="val 5679723"/>
                <a:gd name="adj2" fmla="val 16200000"/>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 name="弦 11"/>
            <p:cNvSpPr/>
            <p:nvPr/>
          </p:nvSpPr>
          <p:spPr bwMode="auto">
            <a:xfrm rot="5249625">
              <a:off x="4377090" y="5132907"/>
              <a:ext cx="651134" cy="385430"/>
            </a:xfrm>
            <a:prstGeom prst="chord">
              <a:avLst>
                <a:gd name="adj1" fmla="val 5679723"/>
                <a:gd name="adj2" fmla="val 16296084"/>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 name="正方形/長方形 159"/>
            <p:cNvSpPr>
              <a:spLocks noChangeArrowheads="1"/>
            </p:cNvSpPr>
            <p:nvPr/>
          </p:nvSpPr>
          <p:spPr bwMode="auto">
            <a:xfrm>
              <a:off x="5500184" y="4814672"/>
              <a:ext cx="581217" cy="1797144"/>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100"/>
            <p:cNvSpPr>
              <a:spLocks noChangeArrowheads="1"/>
            </p:cNvSpPr>
            <p:nvPr/>
          </p:nvSpPr>
          <p:spPr bwMode="auto">
            <a:xfrm>
              <a:off x="4793510" y="5311191"/>
              <a:ext cx="473065" cy="660591"/>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93"/>
            <p:cNvSpPr>
              <a:spLocks noChangeArrowheads="1"/>
            </p:cNvSpPr>
            <p:nvPr/>
          </p:nvSpPr>
          <p:spPr bwMode="auto">
            <a:xfrm>
              <a:off x="4613117" y="5311191"/>
              <a:ext cx="184872" cy="761376"/>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3"/>
            <p:cNvSpPr>
              <a:spLocks noChangeArrowheads="1"/>
            </p:cNvSpPr>
            <p:nvPr/>
          </p:nvSpPr>
          <p:spPr bwMode="auto">
            <a:xfrm>
              <a:off x="5271422" y="4237933"/>
              <a:ext cx="228763" cy="2373878"/>
            </a:xfrm>
            <a:prstGeom prst="rect">
              <a:avLst/>
            </a:prstGeom>
            <a:pattFill prst="pct10">
              <a:fgClr>
                <a:schemeClr val="tx1"/>
              </a:fgClr>
              <a:bgClr>
                <a:schemeClr val="bg1"/>
              </a:bgClr>
            </a:pattFill>
            <a:ln w="12700"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2"/>
            <p:cNvSpPr>
              <a:spLocks noChangeArrowheads="1"/>
            </p:cNvSpPr>
            <p:nvPr/>
          </p:nvSpPr>
          <p:spPr bwMode="auto">
            <a:xfrm>
              <a:off x="4844653" y="5942292"/>
              <a:ext cx="747302" cy="262864"/>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7" name="直線コネクタ 101"/>
            <p:cNvCxnSpPr>
              <a:cxnSpLocks noChangeShapeType="1"/>
            </p:cNvCxnSpPr>
            <p:nvPr/>
          </p:nvCxnSpPr>
          <p:spPr bwMode="auto">
            <a:xfrm flipH="1">
              <a:off x="4594497" y="5311191"/>
              <a:ext cx="203493"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8" name="直線矢印コネクタ 31"/>
            <p:cNvCxnSpPr>
              <a:cxnSpLocks noChangeShapeType="1"/>
            </p:cNvCxnSpPr>
            <p:nvPr/>
          </p:nvCxnSpPr>
          <p:spPr bwMode="auto">
            <a:xfrm flipH="1" flipV="1">
              <a:off x="4700898" y="5041960"/>
              <a:ext cx="0" cy="87717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1" name="直線コネクタ 110"/>
            <p:cNvCxnSpPr>
              <a:cxnSpLocks noChangeShapeType="1"/>
            </p:cNvCxnSpPr>
            <p:nvPr/>
          </p:nvCxnSpPr>
          <p:spPr bwMode="auto">
            <a:xfrm flipV="1">
              <a:off x="5532104" y="5919131"/>
              <a:ext cx="2363313" cy="14476"/>
            </a:xfrm>
            <a:prstGeom prst="line">
              <a:avLst/>
            </a:prstGeom>
            <a:noFill/>
            <a:ln w="317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2" name="直線コネクタ 111"/>
            <p:cNvCxnSpPr>
              <a:cxnSpLocks noChangeShapeType="1"/>
            </p:cNvCxnSpPr>
            <p:nvPr/>
          </p:nvCxnSpPr>
          <p:spPr bwMode="auto">
            <a:xfrm>
              <a:off x="5164361" y="5311191"/>
              <a:ext cx="3374728" cy="0"/>
            </a:xfrm>
            <a:prstGeom prst="line">
              <a:avLst/>
            </a:prstGeom>
            <a:noFill/>
            <a:ln w="3175" algn="ctr">
              <a:solidFill>
                <a:schemeClr val="tx1"/>
              </a:solidFill>
              <a:round/>
              <a:headEnd/>
              <a:tailEnd/>
            </a:ln>
            <a:extLst>
              <a:ext uri="{909E8E84-426E-40DD-AFC4-6F175D3DCCD1}">
                <a14:hiddenFill xmlns:a14="http://schemas.microsoft.com/office/drawing/2010/main">
                  <a:noFill/>
                </a14:hiddenFill>
              </a:ext>
            </a:extLst>
          </p:spPr>
        </p:cxnSp>
        <p:cxnSp>
          <p:nvCxnSpPr>
            <p:cNvPr id="23" name="直線コネクタ 112"/>
            <p:cNvCxnSpPr>
              <a:cxnSpLocks noChangeShapeType="1"/>
            </p:cNvCxnSpPr>
            <p:nvPr/>
          </p:nvCxnSpPr>
          <p:spPr bwMode="auto">
            <a:xfrm>
              <a:off x="5532104" y="4243140"/>
              <a:ext cx="581217" cy="0"/>
            </a:xfrm>
            <a:prstGeom prst="line">
              <a:avLst/>
            </a:prstGeom>
            <a:noFill/>
            <a:ln w="317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6" name="テキスト ボックス 137"/>
            <p:cNvSpPr txBox="1">
              <a:spLocks noChangeArrowheads="1"/>
            </p:cNvSpPr>
            <p:nvPr/>
          </p:nvSpPr>
          <p:spPr bwMode="auto">
            <a:xfrm>
              <a:off x="6219791" y="5971782"/>
              <a:ext cx="3170868"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KP+1.6m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No.16</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排水口上面）</a:t>
              </a:r>
            </a:p>
          </p:txBody>
        </p:sp>
        <p:sp>
          <p:nvSpPr>
            <p:cNvPr id="27" name="テキスト ボックス 138"/>
            <p:cNvSpPr txBox="1">
              <a:spLocks noChangeArrowheads="1"/>
            </p:cNvSpPr>
            <p:nvPr/>
          </p:nvSpPr>
          <p:spPr bwMode="auto">
            <a:xfrm>
              <a:off x="6178504" y="5326297"/>
              <a:ext cx="2287806"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en-US" altLang="ja-JP" sz="1600"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KP+3.26m</a:t>
              </a:r>
              <a:r>
                <a:rPr lang="ja-JP" altLang="en-US" sz="1600"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（地表面）</a:t>
              </a:r>
            </a:p>
          </p:txBody>
        </p:sp>
        <p:sp>
          <p:nvSpPr>
            <p:cNvPr id="28" name="テキスト ボックス 140"/>
            <p:cNvSpPr txBox="1">
              <a:spLocks noChangeArrowheads="1"/>
            </p:cNvSpPr>
            <p:nvPr/>
          </p:nvSpPr>
          <p:spPr bwMode="auto">
            <a:xfrm>
              <a:off x="6157158" y="4062186"/>
              <a:ext cx="2364750"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KP+5.7m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（岸壁高さ）</a:t>
              </a:r>
            </a:p>
          </p:txBody>
        </p:sp>
        <p:cxnSp>
          <p:nvCxnSpPr>
            <p:cNvPr id="29" name="直線コネクタ 152"/>
            <p:cNvCxnSpPr>
              <a:cxnSpLocks noChangeShapeType="1"/>
            </p:cNvCxnSpPr>
            <p:nvPr/>
          </p:nvCxnSpPr>
          <p:spPr bwMode="auto">
            <a:xfrm>
              <a:off x="5532104" y="4800493"/>
              <a:ext cx="2497769" cy="0"/>
            </a:xfrm>
            <a:prstGeom prst="line">
              <a:avLst/>
            </a:prstGeom>
            <a:noFill/>
            <a:ln w="3175" algn="ctr">
              <a:solidFill>
                <a:srgbClr val="FF0000"/>
              </a:solidFill>
              <a:prstDash val="dash"/>
              <a:round/>
              <a:headEnd/>
              <a:tailEnd/>
            </a:ln>
            <a:extLst>
              <a:ext uri="{909E8E84-426E-40DD-AFC4-6F175D3DCCD1}">
                <a14:hiddenFill xmlns:a14="http://schemas.microsoft.com/office/drawing/2010/main">
                  <a:noFill/>
                </a14:hiddenFill>
              </a:ext>
            </a:extLst>
          </p:spPr>
        </p:cxnSp>
        <p:sp>
          <p:nvSpPr>
            <p:cNvPr id="30" name="テキスト ボックス 153"/>
            <p:cNvSpPr txBox="1">
              <a:spLocks noChangeArrowheads="1"/>
            </p:cNvSpPr>
            <p:nvPr/>
          </p:nvSpPr>
          <p:spPr bwMode="auto">
            <a:xfrm>
              <a:off x="6186472" y="4611050"/>
              <a:ext cx="3185487"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KP+3.7m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（台風接近時の水位）</a:t>
              </a:r>
            </a:p>
          </p:txBody>
        </p:sp>
        <p:sp>
          <p:nvSpPr>
            <p:cNvPr id="31" name="テキスト ボックス 154"/>
            <p:cNvSpPr txBox="1">
              <a:spLocks noChangeArrowheads="1"/>
            </p:cNvSpPr>
            <p:nvPr/>
          </p:nvSpPr>
          <p:spPr bwMode="auto">
            <a:xfrm>
              <a:off x="3443916" y="3731105"/>
              <a:ext cx="1210588"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製鉄所</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160"/>
            <p:cNvSpPr txBox="1">
              <a:spLocks noChangeArrowheads="1"/>
            </p:cNvSpPr>
            <p:nvPr/>
          </p:nvSpPr>
          <p:spPr bwMode="auto">
            <a:xfrm>
              <a:off x="6851725" y="3701356"/>
              <a:ext cx="1072971"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海側</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161"/>
            <p:cNvSpPr txBox="1">
              <a:spLocks noChangeArrowheads="1"/>
            </p:cNvSpPr>
            <p:nvPr/>
          </p:nvSpPr>
          <p:spPr bwMode="auto">
            <a:xfrm>
              <a:off x="5147652" y="3806489"/>
              <a:ext cx="595035"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岸壁</a:t>
              </a:r>
            </a:p>
          </p:txBody>
        </p:sp>
        <p:sp>
          <p:nvSpPr>
            <p:cNvPr id="38" name="正方形/長方形 100"/>
            <p:cNvSpPr>
              <a:spLocks noChangeArrowheads="1"/>
            </p:cNvSpPr>
            <p:nvPr/>
          </p:nvSpPr>
          <p:spPr bwMode="auto">
            <a:xfrm>
              <a:off x="900334" y="5299839"/>
              <a:ext cx="3711622" cy="1311974"/>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正方形/長方形 100"/>
            <p:cNvSpPr>
              <a:spLocks noChangeArrowheads="1"/>
            </p:cNvSpPr>
            <p:nvPr/>
          </p:nvSpPr>
          <p:spPr bwMode="auto">
            <a:xfrm>
              <a:off x="4581755" y="6205156"/>
              <a:ext cx="684820" cy="406660"/>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bwMode="auto">
            <a:xfrm>
              <a:off x="2431219" y="4557708"/>
              <a:ext cx="997169" cy="75348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ts val="6000"/>
                </a:spcBef>
                <a:spcAft>
                  <a:spcPct val="0"/>
                </a:spcAft>
                <a:buClrTx/>
                <a:buSzTx/>
                <a:buFont typeface="Arial" panose="020B0604020202020204" pitchFamily="34" charset="0"/>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油水分離槽</a:t>
              </a:r>
              <a:endParaRPr kumimoji="0"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正方形/長方形 46"/>
            <p:cNvSpPr/>
            <p:nvPr/>
          </p:nvSpPr>
          <p:spPr bwMode="auto">
            <a:xfrm>
              <a:off x="3394916" y="4559258"/>
              <a:ext cx="207522" cy="251863"/>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正方形/長方形 47"/>
            <p:cNvSpPr/>
            <p:nvPr/>
          </p:nvSpPr>
          <p:spPr bwMode="auto">
            <a:xfrm>
              <a:off x="3562525" y="4564904"/>
              <a:ext cx="103760" cy="899912"/>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p:cNvSpPr/>
            <p:nvPr/>
          </p:nvSpPr>
          <p:spPr bwMode="auto">
            <a:xfrm rot="236551">
              <a:off x="3565738" y="5400912"/>
              <a:ext cx="806873" cy="225178"/>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0" name="正方形/長方形 49"/>
            <p:cNvSpPr/>
            <p:nvPr/>
          </p:nvSpPr>
          <p:spPr bwMode="auto">
            <a:xfrm>
              <a:off x="4181490" y="5305244"/>
              <a:ext cx="187909" cy="899912"/>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bwMode="auto">
            <a:xfrm>
              <a:off x="4181063" y="5956516"/>
              <a:ext cx="708727" cy="248640"/>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2" name="直線矢印コネクタ 31"/>
            <p:cNvCxnSpPr>
              <a:cxnSpLocks noChangeShapeType="1"/>
            </p:cNvCxnSpPr>
            <p:nvPr/>
          </p:nvCxnSpPr>
          <p:spPr bwMode="auto">
            <a:xfrm flipH="1" flipV="1">
              <a:off x="4275443" y="5056436"/>
              <a:ext cx="0" cy="87717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55" name="直線矢印コネクタ 106"/>
            <p:cNvCxnSpPr>
              <a:cxnSpLocks noChangeShapeType="1"/>
            </p:cNvCxnSpPr>
            <p:nvPr/>
          </p:nvCxnSpPr>
          <p:spPr bwMode="auto">
            <a:xfrm flipH="1" flipV="1">
              <a:off x="4738764" y="6009295"/>
              <a:ext cx="449545"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60" name="直線コネクタ 101"/>
            <p:cNvCxnSpPr>
              <a:cxnSpLocks noChangeShapeType="1"/>
            </p:cNvCxnSpPr>
            <p:nvPr/>
          </p:nvCxnSpPr>
          <p:spPr bwMode="auto">
            <a:xfrm flipH="1">
              <a:off x="4173697" y="5305244"/>
              <a:ext cx="203493"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84" name="テキスト ボックス 140"/>
            <p:cNvSpPr txBox="1">
              <a:spLocks noChangeArrowheads="1"/>
            </p:cNvSpPr>
            <p:nvPr/>
          </p:nvSpPr>
          <p:spPr bwMode="auto">
            <a:xfrm>
              <a:off x="6433364" y="4871824"/>
              <a:ext cx="3012363"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海面が約</a:t>
              </a:r>
              <a:r>
                <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0.44m</a:t>
              </a:r>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GL</a:t>
              </a:r>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より上昇</a:t>
              </a:r>
            </a:p>
          </p:txBody>
        </p:sp>
        <p:sp>
          <p:nvSpPr>
            <p:cNvPr id="81" name="上下矢印 80"/>
            <p:cNvSpPr/>
            <p:nvPr/>
          </p:nvSpPr>
          <p:spPr bwMode="auto">
            <a:xfrm>
              <a:off x="6309945" y="4800171"/>
              <a:ext cx="133233" cy="490573"/>
            </a:xfrm>
            <a:prstGeom prst="upDownArrow">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33" name="テキスト ボックス 156"/>
            <p:cNvSpPr txBox="1">
              <a:spLocks noChangeArrowheads="1"/>
            </p:cNvSpPr>
            <p:nvPr/>
          </p:nvSpPr>
          <p:spPr bwMode="auto">
            <a:xfrm>
              <a:off x="4133029" y="4749711"/>
              <a:ext cx="894006" cy="420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排水逆流</a:t>
              </a:r>
            </a:p>
          </p:txBody>
        </p:sp>
        <p:sp>
          <p:nvSpPr>
            <p:cNvPr id="7" name="テキスト ボックス 6">
              <a:extLst>
                <a:ext uri="{FF2B5EF4-FFF2-40B4-BE49-F238E27FC236}">
                  <a16:creationId xmlns:a16="http://schemas.microsoft.com/office/drawing/2014/main" id="{1F1BB3C9-8969-49EF-BD66-B5CBAB0862BD}"/>
                </a:ext>
              </a:extLst>
            </p:cNvPr>
            <p:cNvSpPr txBox="1"/>
            <p:nvPr/>
          </p:nvSpPr>
          <p:spPr>
            <a:xfrm>
              <a:off x="6309945" y="6475505"/>
              <a:ext cx="2426092" cy="260072"/>
            </a:xfrm>
            <a:prstGeom prst="rect">
              <a:avLst/>
            </a:prstGeom>
            <a:noFill/>
          </p:spPr>
          <p:txBody>
            <a:bodyPr wrap="square" rtlCol="0">
              <a:spAutoFit/>
            </a:bodyPr>
            <a:lstStyle/>
            <a:p>
              <a:r>
                <a:rPr lang="zh-TW" altLang="en-US" sz="1600" dirty="0">
                  <a:latin typeface="Meiryo UI" panose="020B0604030504040204" pitchFamily="50" charset="-128"/>
                  <a:ea typeface="Meiryo UI" panose="020B0604030504040204" pitchFamily="50" charset="-128"/>
                </a:rPr>
                <a:t>神戸港基準面（Ｋ</a:t>
              </a:r>
              <a:r>
                <a:rPr lang="en-US" altLang="zh-TW" sz="1600" dirty="0">
                  <a:latin typeface="Meiryo UI" panose="020B0604030504040204" pitchFamily="50" charset="-128"/>
                  <a:ea typeface="Meiryo UI" panose="020B0604030504040204" pitchFamily="50" charset="-128"/>
                </a:rPr>
                <a:t>.</a:t>
              </a:r>
              <a:r>
                <a:rPr lang="zh-TW" altLang="en-US" sz="1600" dirty="0">
                  <a:latin typeface="Meiryo UI" panose="020B0604030504040204" pitchFamily="50" charset="-128"/>
                  <a:ea typeface="Meiryo UI" panose="020B0604030504040204" pitchFamily="50" charset="-128"/>
                </a:rPr>
                <a:t>Ｐ</a:t>
              </a:r>
              <a:r>
                <a:rPr lang="en-US" altLang="zh-TW" sz="1600" dirty="0">
                  <a:latin typeface="Meiryo UI" panose="020B0604030504040204" pitchFamily="50" charset="-128"/>
                  <a:ea typeface="Meiryo UI" panose="020B0604030504040204" pitchFamily="50" charset="-128"/>
                </a:rPr>
                <a:t>.</a:t>
              </a:r>
              <a:r>
                <a:rPr lang="zh-TW" altLang="en-US" sz="1600" dirty="0">
                  <a:latin typeface="Meiryo UI" panose="020B0604030504040204" pitchFamily="50" charset="-128"/>
                  <a:ea typeface="Meiryo UI" panose="020B0604030504040204" pitchFamily="50" charset="-128"/>
                </a:rPr>
                <a:t>）</a:t>
              </a:r>
              <a:endParaRPr kumimoji="1" lang="ja-JP" altLang="en-US" sz="1600" dirty="0">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4B6AE942-F0C4-4F7A-990D-B825F4DB2F70}"/>
                </a:ext>
              </a:extLst>
            </p:cNvPr>
            <p:cNvSpPr/>
            <p:nvPr/>
          </p:nvSpPr>
          <p:spPr bwMode="auto">
            <a:xfrm rot="5400000">
              <a:off x="1410260" y="4178939"/>
              <a:ext cx="841633" cy="818653"/>
            </a:xfrm>
            <a:prstGeom prst="homePlate">
              <a:avLst>
                <a:gd name="adj" fmla="val 1219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50" charset="-128"/>
              </a:endParaRPr>
            </a:p>
          </p:txBody>
        </p:sp>
        <p:sp>
          <p:nvSpPr>
            <p:cNvPr id="53" name="テキスト ボックス 154">
              <a:extLst>
                <a:ext uri="{FF2B5EF4-FFF2-40B4-BE49-F238E27FC236}">
                  <a16:creationId xmlns:a16="http://schemas.microsoft.com/office/drawing/2014/main" id="{690A6AFE-F1FB-4798-B135-6C6DABCF410C}"/>
                </a:ext>
              </a:extLst>
            </p:cNvPr>
            <p:cNvSpPr txBox="1">
              <a:spLocks noChangeArrowheads="1"/>
            </p:cNvSpPr>
            <p:nvPr/>
          </p:nvSpPr>
          <p:spPr bwMode="auto">
            <a:xfrm>
              <a:off x="1392107" y="4403820"/>
              <a:ext cx="72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中和槽</a:t>
              </a:r>
            </a:p>
          </p:txBody>
        </p:sp>
        <p:sp>
          <p:nvSpPr>
            <p:cNvPr id="11" name="矢印: 折線 10">
              <a:extLst>
                <a:ext uri="{FF2B5EF4-FFF2-40B4-BE49-F238E27FC236}">
                  <a16:creationId xmlns:a16="http://schemas.microsoft.com/office/drawing/2014/main" id="{A1063A2A-7DE6-4528-B0C8-4E2D2564CA7A}"/>
                </a:ext>
              </a:extLst>
            </p:cNvPr>
            <p:cNvSpPr/>
            <p:nvPr/>
          </p:nvSpPr>
          <p:spPr bwMode="auto">
            <a:xfrm rot="5400000">
              <a:off x="2232199" y="4185904"/>
              <a:ext cx="366120" cy="377489"/>
            </a:xfrm>
            <a:prstGeom prst="ben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cxnSp>
          <p:nvCxnSpPr>
            <p:cNvPr id="57" name="直線コネクタ 110">
              <a:extLst>
                <a:ext uri="{FF2B5EF4-FFF2-40B4-BE49-F238E27FC236}">
                  <a16:creationId xmlns:a16="http://schemas.microsoft.com/office/drawing/2014/main" id="{D0638F4A-87E9-43D8-BF92-F1C1D5C29A49}"/>
                </a:ext>
              </a:extLst>
            </p:cNvPr>
            <p:cNvCxnSpPr>
              <a:cxnSpLocks noChangeShapeType="1"/>
            </p:cNvCxnSpPr>
            <p:nvPr/>
          </p:nvCxnSpPr>
          <p:spPr bwMode="auto">
            <a:xfrm flipV="1">
              <a:off x="6081401" y="5778669"/>
              <a:ext cx="2363313" cy="14476"/>
            </a:xfrm>
            <a:prstGeom prst="line">
              <a:avLst/>
            </a:prstGeom>
            <a:noFill/>
            <a:ln w="317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58" name="テキスト ボックス 137">
              <a:extLst>
                <a:ext uri="{FF2B5EF4-FFF2-40B4-BE49-F238E27FC236}">
                  <a16:creationId xmlns:a16="http://schemas.microsoft.com/office/drawing/2014/main" id="{23C5F333-A1CE-4CED-B912-AA367841164A}"/>
                </a:ext>
              </a:extLst>
            </p:cNvPr>
            <p:cNvSpPr txBox="1">
              <a:spLocks noChangeArrowheads="1"/>
            </p:cNvSpPr>
            <p:nvPr/>
          </p:nvSpPr>
          <p:spPr bwMode="auto">
            <a:xfrm>
              <a:off x="6164143" y="5590076"/>
              <a:ext cx="2159566" cy="26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en-US" altLang="ja-JP" sz="1600"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KP+1.7m</a:t>
              </a:r>
              <a:r>
                <a:rPr lang="ja-JP" altLang="en-US" sz="1600"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（満潮時）</a:t>
              </a:r>
            </a:p>
          </p:txBody>
        </p:sp>
        <p:sp>
          <p:nvSpPr>
            <p:cNvPr id="59" name="テキスト ボックス 160">
              <a:extLst>
                <a:ext uri="{FF2B5EF4-FFF2-40B4-BE49-F238E27FC236}">
                  <a16:creationId xmlns:a16="http://schemas.microsoft.com/office/drawing/2014/main" id="{A7CF670B-A192-4730-926F-119EF8975B94}"/>
                </a:ext>
              </a:extLst>
            </p:cNvPr>
            <p:cNvSpPr txBox="1">
              <a:spLocks noChangeArrowheads="1"/>
            </p:cNvSpPr>
            <p:nvPr/>
          </p:nvSpPr>
          <p:spPr bwMode="auto">
            <a:xfrm>
              <a:off x="4811755" y="5992773"/>
              <a:ext cx="1245399" cy="236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No.16</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排水口</a:t>
              </a:r>
            </a:p>
          </p:txBody>
        </p:sp>
      </p:grpSp>
    </p:spTree>
    <p:extLst>
      <p:ext uri="{BB962C8B-B14F-4D97-AF65-F5344CB8AC3E}">
        <p14:creationId xmlns:p14="http://schemas.microsoft.com/office/powerpoint/2010/main" val="1958204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解決手段　～冠水対策の前提～</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8" name="テキスト ボックス 7">
            <a:extLst>
              <a:ext uri="{FF2B5EF4-FFF2-40B4-BE49-F238E27FC236}">
                <a16:creationId xmlns:a16="http://schemas.microsoft.com/office/drawing/2014/main" id="{83775D5B-C450-4C8C-8F33-8199E31FA9AA}"/>
              </a:ext>
            </a:extLst>
          </p:cNvPr>
          <p:cNvSpPr txBox="1"/>
          <p:nvPr/>
        </p:nvSpPr>
        <p:spPr>
          <a:xfrm>
            <a:off x="422694" y="750498"/>
            <a:ext cx="8082951" cy="1323439"/>
          </a:xfrm>
          <a:prstGeom prst="rect">
            <a:avLst/>
          </a:prstGeom>
          <a:noFill/>
        </p:spPr>
        <p:txBody>
          <a:bodyPr wrap="square" rtlCol="0">
            <a:spAutoFit/>
          </a:bodyPr>
          <a:lstStyle/>
          <a:p>
            <a:pPr>
              <a:lnSpc>
                <a:spcPts val="2400"/>
              </a:lnSpc>
            </a:pP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基本的な考え方</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a:lnSpc>
                <a:spcPts val="2400"/>
              </a:lnSpc>
            </a:pP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18</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年度</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7</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月西日本豪雨（大雨）並びに台風</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20</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号（高波）、</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21</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号（高潮）を想定し、同等な操業影響（設備冠水による機器取替、長期間排水、水処理施設塩素濃度上昇による水入換）を発生させない。</a:t>
            </a:r>
          </a:p>
        </p:txBody>
      </p:sp>
      <p:sp>
        <p:nvSpPr>
          <p:cNvPr id="9" name="テキスト ボックス 8">
            <a:extLst>
              <a:ext uri="{FF2B5EF4-FFF2-40B4-BE49-F238E27FC236}">
                <a16:creationId xmlns:a16="http://schemas.microsoft.com/office/drawing/2014/main" id="{B2D80B7F-4370-4744-A836-B02C665D1E22}"/>
              </a:ext>
            </a:extLst>
          </p:cNvPr>
          <p:cNvSpPr txBox="1"/>
          <p:nvPr/>
        </p:nvSpPr>
        <p:spPr>
          <a:xfrm>
            <a:off x="233486" y="639322"/>
            <a:ext cx="8677027" cy="2869229"/>
          </a:xfrm>
          <a:prstGeom prst="rect">
            <a:avLst/>
          </a:prstGeom>
          <a:solidFill>
            <a:schemeClr val="accent5">
              <a:lumMod val="20000"/>
              <a:lumOff val="80000"/>
            </a:schemeClr>
          </a:solidFill>
          <a:ln>
            <a:solidFill>
              <a:schemeClr val="tx2"/>
            </a:solidFill>
          </a:ln>
        </p:spPr>
        <p:txBody>
          <a:bodyPr wrap="square" tIns="108000" bIns="36000">
            <a:spAutoFit/>
          </a:bodyPr>
          <a:lstStyle/>
          <a:p>
            <a:pPr>
              <a:spcBef>
                <a:spcPts val="600"/>
              </a:spcBef>
              <a:spcAft>
                <a:spcPts val="600"/>
              </a:spcAft>
              <a:defRPr/>
            </a:pPr>
            <a:r>
              <a:rPr lang="ja-JP" altLang="en-US" dirty="0">
                <a:latin typeface="メイリオ" panose="020B0604030504040204" pitchFamily="50" charset="-128"/>
                <a:ea typeface="メイリオ" panose="020B0604030504040204" pitchFamily="50" charset="-128"/>
              </a:rPr>
              <a:t>１．基本的な考え方</a:t>
            </a:r>
            <a:endParaRPr lang="en-US" altLang="ja-JP" dirty="0">
              <a:latin typeface="メイリオ" panose="020B0604030504040204" pitchFamily="50" charset="-128"/>
              <a:ea typeface="メイリオ" panose="020B0604030504040204" pitchFamily="50" charset="-128"/>
            </a:endParaRPr>
          </a:p>
          <a:p>
            <a:pPr>
              <a:spcBef>
                <a:spcPts val="600"/>
              </a:spcBef>
              <a:spcAft>
                <a:spcPts val="1200"/>
              </a:spcAft>
              <a:defRPr/>
            </a:pP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18</a:t>
            </a:r>
            <a:r>
              <a:rPr lang="ja-JP" altLang="en-US" dirty="0">
                <a:latin typeface="メイリオ" panose="020B0604030504040204" pitchFamily="50" charset="-128"/>
                <a:ea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rPr>
              <a:t>7</a:t>
            </a:r>
            <a:r>
              <a:rPr lang="ja-JP" altLang="en-US" dirty="0">
                <a:latin typeface="メイリオ" panose="020B0604030504040204" pitchFamily="50" charset="-128"/>
                <a:ea typeface="メイリオ" panose="020B0604030504040204" pitchFamily="50" charset="-128"/>
              </a:rPr>
              <a:t>月西日本豪雨（大雨）ならびに台風</a:t>
            </a:r>
            <a:r>
              <a:rPr lang="en-US" altLang="ja-JP" dirty="0">
                <a:latin typeface="メイリオ" panose="020B0604030504040204" pitchFamily="50" charset="-128"/>
                <a:ea typeface="メイリオ" panose="020B0604030504040204" pitchFamily="50" charset="-128"/>
              </a:rPr>
              <a:t>20</a:t>
            </a:r>
            <a:r>
              <a:rPr lang="ja-JP" altLang="en-US" dirty="0">
                <a:latin typeface="メイリオ" panose="020B0604030504040204" pitchFamily="50" charset="-128"/>
                <a:ea typeface="メイリオ" panose="020B0604030504040204" pitchFamily="50" charset="-128"/>
              </a:rPr>
              <a:t>号（高波），</a:t>
            </a:r>
            <a:r>
              <a:rPr lang="en-US" altLang="ja-JP" dirty="0">
                <a:latin typeface="メイリオ" panose="020B0604030504040204" pitchFamily="50" charset="-128"/>
                <a:ea typeface="メイリオ" panose="020B0604030504040204" pitchFamily="50" charset="-128"/>
              </a:rPr>
              <a:t>21</a:t>
            </a:r>
            <a:r>
              <a:rPr lang="ja-JP" altLang="en-US" dirty="0">
                <a:latin typeface="メイリオ" panose="020B0604030504040204" pitchFamily="50" charset="-128"/>
                <a:ea typeface="メイリオ" panose="020B0604030504040204" pitchFamily="50" charset="-128"/>
              </a:rPr>
              <a:t>号（高潮）相当の自然災害においても、</a:t>
            </a:r>
            <a:r>
              <a:rPr lang="ja-JP" altLang="en-US" b="1" dirty="0">
                <a:solidFill>
                  <a:srgbClr val="FF0000"/>
                </a:solidFill>
                <a:latin typeface="メイリオ" panose="020B0604030504040204" pitchFamily="50" charset="-128"/>
                <a:ea typeface="メイリオ" panose="020B0604030504040204" pitchFamily="50" charset="-128"/>
              </a:rPr>
              <a:t>冠水を抑制</a:t>
            </a:r>
            <a:r>
              <a:rPr lang="ja-JP" altLang="en-US" dirty="0">
                <a:latin typeface="メイリオ" panose="020B0604030504040204" pitchFamily="50" charset="-128"/>
                <a:ea typeface="メイリオ" panose="020B0604030504040204" pitchFamily="50" charset="-128"/>
              </a:rPr>
              <a:t>することで、</a:t>
            </a:r>
            <a:r>
              <a:rPr lang="ja-JP" altLang="en-US" b="1" dirty="0">
                <a:solidFill>
                  <a:srgbClr val="FF0000"/>
                </a:solidFill>
                <a:latin typeface="メイリオ" panose="020B0604030504040204" pitchFamily="50" charset="-128"/>
                <a:ea typeface="メイリオ" panose="020B0604030504040204" pitchFamily="50" charset="-128"/>
              </a:rPr>
              <a:t>減産による予定外の機会損失</a:t>
            </a:r>
            <a:r>
              <a:rPr lang="en-US" altLang="ja-JP" dirty="0">
                <a:latin typeface="メイリオ" panose="020B0604030504040204" pitchFamily="50" charset="-128"/>
                <a:ea typeface="メイリオ" panose="020B0604030504040204" pitchFamily="50" charset="-128"/>
              </a:rPr>
              <a:t>(※1)</a:t>
            </a:r>
            <a:r>
              <a:rPr lang="ja-JP" altLang="en-US" b="1" dirty="0">
                <a:solidFill>
                  <a:srgbClr val="FF0000"/>
                </a:solidFill>
                <a:latin typeface="メイリオ" panose="020B0604030504040204" pitchFamily="50" charset="-128"/>
                <a:ea typeface="メイリオ" panose="020B0604030504040204" pitchFamily="50" charset="-128"/>
              </a:rPr>
              <a:t>や設備損傷を発生させない</a:t>
            </a:r>
            <a:r>
              <a:rPr lang="ja-JP" altLang="en-US" dirty="0">
                <a:latin typeface="メイリオ" panose="020B0604030504040204" pitchFamily="50" charset="-128"/>
                <a:ea typeface="メイリオ" panose="020B0604030504040204" pitchFamily="50" charset="-128"/>
              </a:rPr>
              <a:t>ことを目的とする。</a:t>
            </a:r>
            <a:endParaRPr lang="en-US" altLang="ja-JP" dirty="0">
              <a:latin typeface="メイリオ" panose="020B0604030504040204" pitchFamily="50" charset="-128"/>
              <a:ea typeface="メイリオ" panose="020B0604030504040204" pitchFamily="50" charset="-128"/>
            </a:endParaRPr>
          </a:p>
          <a:p>
            <a:pPr>
              <a:spcBef>
                <a:spcPts val="600"/>
              </a:spcBef>
              <a:spcAft>
                <a:spcPts val="1200"/>
              </a:spcAft>
              <a:defRPr/>
            </a:pPr>
            <a:endParaRPr lang="en-US" altLang="ja-JP" dirty="0">
              <a:latin typeface="メイリオ" panose="020B0604030504040204" pitchFamily="50" charset="-128"/>
              <a:ea typeface="メイリオ" panose="020B0604030504040204" pitchFamily="50" charset="-128"/>
            </a:endParaRPr>
          </a:p>
          <a:p>
            <a:pPr>
              <a:spcBef>
                <a:spcPts val="600"/>
              </a:spcBef>
              <a:spcAft>
                <a:spcPts val="1200"/>
              </a:spcAft>
              <a:defRPr/>
            </a:pPr>
            <a:endParaRPr lang="en-US" altLang="ja-JP" dirty="0">
              <a:latin typeface="メイリオ" panose="020B0604030504040204" pitchFamily="50" charset="-128"/>
              <a:ea typeface="メイリオ" panose="020B0604030504040204" pitchFamily="50" charset="-128"/>
            </a:endParaRPr>
          </a:p>
          <a:p>
            <a:pPr>
              <a:spcBef>
                <a:spcPts val="600"/>
              </a:spcBef>
              <a:spcAft>
                <a:spcPts val="1200"/>
              </a:spcAft>
              <a:defRPr/>
            </a:pPr>
            <a:endParaRPr lang="en-US" altLang="ja-JP" sz="14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436D908-1B7D-46F3-9C49-1F9DEC256965}"/>
              </a:ext>
            </a:extLst>
          </p:cNvPr>
          <p:cNvSpPr txBox="1"/>
          <p:nvPr/>
        </p:nvSpPr>
        <p:spPr>
          <a:xfrm>
            <a:off x="233486" y="3762037"/>
            <a:ext cx="8677027" cy="2643577"/>
          </a:xfrm>
          <a:prstGeom prst="rect">
            <a:avLst/>
          </a:prstGeom>
          <a:solidFill>
            <a:schemeClr val="accent5">
              <a:lumMod val="20000"/>
              <a:lumOff val="80000"/>
            </a:schemeClr>
          </a:solidFill>
          <a:ln>
            <a:solidFill>
              <a:schemeClr val="tx2"/>
            </a:solidFill>
          </a:ln>
        </p:spPr>
        <p:txBody>
          <a:bodyPr wrap="square" tIns="216000" bIns="36000">
            <a:spAutoFit/>
          </a:bodyPr>
          <a:lstStyle/>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２．冠水対策検討の前提条件</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降雨量</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　　西日本豪雨と同等　</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高波、高潮</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岸壁を超えて海水流入⇒　台風</a:t>
            </a:r>
            <a:r>
              <a:rPr lang="en-US" altLang="ja-JP" dirty="0">
                <a:latin typeface="メイリオ" panose="020B0604030504040204" pitchFamily="50" charset="-128"/>
                <a:ea typeface="メイリオ" panose="020B0604030504040204" pitchFamily="50" charset="-128"/>
              </a:rPr>
              <a:t>20</a:t>
            </a:r>
            <a:r>
              <a:rPr lang="ja-JP" altLang="en-US" dirty="0">
                <a:latin typeface="メイリオ" panose="020B0604030504040204" pitchFamily="50" charset="-128"/>
                <a:ea typeface="メイリオ" panose="020B0604030504040204" pitchFamily="50" charset="-128"/>
              </a:rPr>
              <a:t>号、</a:t>
            </a:r>
            <a:r>
              <a:rPr lang="en-US" altLang="ja-JP" dirty="0">
                <a:latin typeface="メイリオ" panose="020B0604030504040204" pitchFamily="50" charset="-128"/>
                <a:ea typeface="メイリオ" panose="020B0604030504040204" pitchFamily="50" charset="-128"/>
              </a:rPr>
              <a:t>21</a:t>
            </a:r>
            <a:r>
              <a:rPr lang="ja-JP" altLang="en-US" dirty="0">
                <a:latin typeface="メイリオ" panose="020B0604030504040204" pitchFamily="50" charset="-128"/>
                <a:ea typeface="メイリオ" panose="020B0604030504040204" pitchFamily="50" charset="-128"/>
              </a:rPr>
              <a:t>号と同等</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　　　　　　　　　　　（岸壁の嵩上げは現実的でないため考えない</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　　　　　　　　　　　　⇒高波については、防水板設置により対策済）</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冠水量</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　　上記に対して深さ</a:t>
            </a:r>
            <a:r>
              <a:rPr lang="en-US" altLang="ja-JP" dirty="0">
                <a:latin typeface="メイリオ" panose="020B0604030504040204" pitchFamily="50" charset="-128"/>
                <a:ea typeface="メイリオ" panose="020B0604030504040204" pitchFamily="50" charset="-128"/>
              </a:rPr>
              <a:t>150</a:t>
            </a:r>
            <a:r>
              <a:rPr lang="ja-JP" altLang="en-US" dirty="0">
                <a:latin typeface="メイリオ" panose="020B0604030504040204" pitchFamily="50" charset="-128"/>
                <a:ea typeface="メイリオ" panose="020B0604030504040204" pitchFamily="50" charset="-128"/>
              </a:rPr>
              <a:t>㎜以内（歩行、軌道輸送の限界）</a:t>
            </a:r>
            <a:endParaRPr lang="en-US" altLang="ja-JP" dirty="0">
              <a:latin typeface="メイリオ" panose="020B0604030504040204" pitchFamily="50" charset="-128"/>
              <a:ea typeface="メイリオ" panose="020B0604030504040204" pitchFamily="50" charset="-128"/>
            </a:endParaRPr>
          </a:p>
          <a:p>
            <a:pPr>
              <a:lnSpc>
                <a:spcPct val="50000"/>
              </a:lnSpc>
              <a:spcBef>
                <a:spcPts val="600"/>
              </a:spcBef>
              <a:spcAft>
                <a:spcPts val="1200"/>
              </a:spcAft>
              <a:defRPr/>
            </a:pPr>
            <a:endParaRPr lang="en-US" altLang="ja-JP"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FC59A780-E9BB-4D72-9482-B946908282EE}"/>
              </a:ext>
            </a:extLst>
          </p:cNvPr>
          <p:cNvSpPr txBox="1"/>
          <p:nvPr/>
        </p:nvSpPr>
        <p:spPr>
          <a:xfrm>
            <a:off x="233485" y="2285704"/>
            <a:ext cx="7602219" cy="338554"/>
          </a:xfrm>
          <a:prstGeom prst="rect">
            <a:avLst/>
          </a:prstGeom>
          <a:noFill/>
        </p:spPr>
        <p:txBody>
          <a:bodyPr wrap="square" rtlCol="0">
            <a:spAutoFit/>
          </a:bodyPr>
          <a:lstStyle/>
          <a:p>
            <a:r>
              <a:rPr lang="en-US" altLang="ja-JP" sz="1600" dirty="0">
                <a:latin typeface="メイリオ" panose="020B0604030504040204" pitchFamily="50" charset="-128"/>
                <a:ea typeface="メイリオ" panose="020B0604030504040204" pitchFamily="50" charset="-128"/>
              </a:rPr>
              <a:t>(※1</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7</a:t>
            </a:r>
            <a:r>
              <a:rPr lang="ja-JP" altLang="en-US" sz="1600" dirty="0">
                <a:latin typeface="メイリオ" panose="020B0604030504040204" pitchFamily="50" charset="-128"/>
                <a:ea typeface="メイリオ" panose="020B0604030504040204" pitchFamily="50" charset="-128"/>
              </a:rPr>
              <a:t>線材工場で約</a:t>
            </a:r>
            <a:r>
              <a:rPr lang="en-US" altLang="ja-JP" sz="1600" dirty="0">
                <a:latin typeface="メイリオ" panose="020B0604030504040204" pitchFamily="50" charset="-128"/>
                <a:ea typeface="メイリオ" panose="020B0604030504040204" pitchFamily="50" charset="-128"/>
              </a:rPr>
              <a:t>1</a:t>
            </a:r>
            <a:r>
              <a:rPr lang="ja-JP" altLang="en-US" sz="1600" dirty="0">
                <a:latin typeface="メイリオ" panose="020B0604030504040204" pitchFamily="50" charset="-128"/>
                <a:ea typeface="メイリオ" panose="020B0604030504040204" pitchFamily="50" charset="-128"/>
              </a:rPr>
              <a:t>日の停止は発生する可能性あり⇒　機械損失　約</a:t>
            </a:r>
            <a:r>
              <a:rPr lang="en-US" altLang="ja-JP" sz="1600" dirty="0">
                <a:latin typeface="メイリオ" panose="020B0604030504040204" pitchFamily="50" charset="-128"/>
                <a:ea typeface="メイリオ" panose="020B0604030504040204" pitchFamily="50" charset="-128"/>
              </a:rPr>
              <a:t>1</a:t>
            </a:r>
            <a:r>
              <a:rPr lang="ja-JP" altLang="en-US" sz="1600" dirty="0">
                <a:latin typeface="メイリオ" panose="020B0604030504040204" pitchFamily="50" charset="-128"/>
                <a:ea typeface="メイリオ" panose="020B0604030504040204" pitchFamily="50" charset="-128"/>
              </a:rPr>
              <a:t>億円</a:t>
            </a:r>
            <a:endParaRPr lang="en-US" altLang="ja-JP" sz="16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6BF2EC0E-21BF-45CC-A5DF-B3621AED7F3B}"/>
              </a:ext>
            </a:extLst>
          </p:cNvPr>
          <p:cNvSpPr txBox="1"/>
          <p:nvPr/>
        </p:nvSpPr>
        <p:spPr>
          <a:xfrm>
            <a:off x="890275" y="2600656"/>
            <a:ext cx="8020238" cy="830997"/>
          </a:xfrm>
          <a:prstGeom prst="rect">
            <a:avLst/>
          </a:prstGeom>
          <a:noFill/>
        </p:spPr>
        <p:txBody>
          <a:bodyPr wrap="square" rtlCol="0">
            <a:spAutoFit/>
          </a:bodyPr>
          <a:lstStyle/>
          <a:p>
            <a:r>
              <a:rPr lang="ja-JP" altLang="en-US" sz="1600" dirty="0">
                <a:latin typeface="メイリオ" panose="020B0604030504040204" pitchFamily="50" charset="-128"/>
                <a:ea typeface="メイリオ" panose="020B0604030504040204" pitchFamily="50" charset="-128"/>
              </a:rPr>
              <a:t>昨年以上の大型台風が神戸を直撃する際には、想定以上の豪雨・高波・高潮や、船舶退避による出荷停止も考慮し、事前に重要機器の部品（センサー等）の</a:t>
            </a:r>
            <a:r>
              <a:rPr lang="ja-JP" altLang="ja-JP" sz="1600" dirty="0">
                <a:latin typeface="メイリオ" panose="020B0604030504040204" pitchFamily="50" charset="-128"/>
                <a:ea typeface="メイリオ" panose="020B0604030504040204" pitchFamily="50" charset="-128"/>
              </a:rPr>
              <a:t>取り外し</a:t>
            </a:r>
            <a:r>
              <a:rPr lang="ja-JP" altLang="en-US" sz="1600" dirty="0">
                <a:latin typeface="メイリオ" panose="020B0604030504040204" pitchFamily="50" charset="-128"/>
                <a:ea typeface="メイリオ" panose="020B0604030504040204" pitchFamily="50" charset="-128"/>
              </a:rPr>
              <a:t>、待機、取付に要する時間は停止。</a:t>
            </a:r>
            <a:endParaRPr kumimoji="1" lang="ja-JP" altLang="en-US"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1943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グループ化 22"/>
          <p:cNvGrpSpPr/>
          <p:nvPr/>
        </p:nvGrpSpPr>
        <p:grpSpPr>
          <a:xfrm>
            <a:off x="370979" y="2187577"/>
            <a:ext cx="6305910" cy="3626846"/>
            <a:chOff x="3790950" y="2820674"/>
            <a:chExt cx="5248275" cy="2623657"/>
          </a:xfrm>
        </p:grpSpPr>
        <p:pic>
          <p:nvPicPr>
            <p:cNvPr id="24" name="Picture 36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0" y="3063081"/>
              <a:ext cx="5248275" cy="2381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テキスト ボックス 11"/>
            <p:cNvSpPr txBox="1">
              <a:spLocks noChangeArrowheads="1"/>
            </p:cNvSpPr>
            <p:nvPr/>
          </p:nvSpPr>
          <p:spPr bwMode="auto">
            <a:xfrm>
              <a:off x="6907786" y="3712396"/>
              <a:ext cx="951686" cy="239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線材工場</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テキスト ボックス 11"/>
            <p:cNvSpPr txBox="1">
              <a:spLocks noChangeArrowheads="1"/>
            </p:cNvSpPr>
            <p:nvPr/>
          </p:nvSpPr>
          <p:spPr bwMode="auto">
            <a:xfrm>
              <a:off x="4329113" y="3654425"/>
              <a:ext cx="1131795" cy="2175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鋼片</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加工工場</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テキスト ボックス 11"/>
            <p:cNvSpPr txBox="1">
              <a:spLocks noChangeArrowheads="1"/>
            </p:cNvSpPr>
            <p:nvPr/>
          </p:nvSpPr>
          <p:spPr bwMode="auto">
            <a:xfrm>
              <a:off x="8037472" y="4429149"/>
              <a:ext cx="454025" cy="395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72000" rIns="72000" bIns="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lnSpc>
                  <a:spcPts val="900"/>
                </a:lnSpc>
                <a:spcBef>
                  <a:spcPct val="50000"/>
                </a:spcBef>
                <a:buFontTx/>
                <a:buNone/>
              </a:pPr>
              <a:r>
                <a:rPr lang="ja-JP" altLang="en-US" sz="1200" dirty="0">
                  <a:latin typeface="HG丸ｺﾞｼｯｸM-PRO" pitchFamily="50" charset="-128"/>
                  <a:ea typeface="HG丸ｺﾞｼｯｸM-PRO" pitchFamily="50" charset="-128"/>
                </a:rPr>
                <a:t>立体</a:t>
              </a:r>
              <a:endParaRPr lang="en-US" altLang="ja-JP" sz="1200" dirty="0">
                <a:latin typeface="HG丸ｺﾞｼｯｸM-PRO" pitchFamily="50" charset="-128"/>
                <a:ea typeface="HG丸ｺﾞｼｯｸM-PRO" pitchFamily="50" charset="-128"/>
              </a:endParaRPr>
            </a:p>
            <a:p>
              <a:pPr eaLnBrk="1" hangingPunct="1">
                <a:lnSpc>
                  <a:spcPts val="900"/>
                </a:lnSpc>
                <a:spcBef>
                  <a:spcPct val="50000"/>
                </a:spcBef>
                <a:buFontTx/>
                <a:buNone/>
              </a:pPr>
              <a:r>
                <a:rPr lang="ja-JP" altLang="en-US" sz="1200" dirty="0">
                  <a:latin typeface="HG丸ｺﾞｼｯｸM-PRO" pitchFamily="50" charset="-128"/>
                  <a:ea typeface="HG丸ｺﾞｼｯｸM-PRO" pitchFamily="50" charset="-128"/>
                </a:rPr>
                <a:t>倉庫</a:t>
              </a:r>
              <a:endParaRPr lang="en-US" altLang="ja-JP" sz="1200" dirty="0">
                <a:latin typeface="HG丸ｺﾞｼｯｸM-PRO" pitchFamily="50" charset="-128"/>
                <a:ea typeface="HG丸ｺﾞｼｯｸM-PRO" pitchFamily="50" charset="-128"/>
              </a:endParaRPr>
            </a:p>
          </p:txBody>
        </p:sp>
        <p:sp>
          <p:nvSpPr>
            <p:cNvPr id="30" name="テキスト ボックス 11"/>
            <p:cNvSpPr txBox="1">
              <a:spLocks noChangeArrowheads="1"/>
            </p:cNvSpPr>
            <p:nvPr/>
          </p:nvSpPr>
          <p:spPr bwMode="auto">
            <a:xfrm>
              <a:off x="7875636" y="2969481"/>
              <a:ext cx="677181" cy="328825"/>
            </a:xfrm>
            <a:prstGeom prst="rect">
              <a:avLst/>
            </a:prstGeom>
            <a:solidFill>
              <a:schemeClr val="bg1"/>
            </a:solidFill>
            <a:ln w="9525">
              <a:solidFill>
                <a:srgbClr val="000000"/>
              </a:solidFill>
              <a:miter lim="800000"/>
              <a:headEnd/>
              <a:tailEnd/>
            </a:ln>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NO.16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水処理施設</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テキスト ボックス 11"/>
            <p:cNvSpPr txBox="1">
              <a:spLocks noChangeArrowheads="1"/>
            </p:cNvSpPr>
            <p:nvPr/>
          </p:nvSpPr>
          <p:spPr bwMode="auto">
            <a:xfrm>
              <a:off x="5355794" y="2820674"/>
              <a:ext cx="739556" cy="2175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棒鋼工場</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テキスト ボックス 11"/>
            <p:cNvSpPr txBox="1">
              <a:spLocks noChangeArrowheads="1"/>
            </p:cNvSpPr>
            <p:nvPr/>
          </p:nvSpPr>
          <p:spPr bwMode="auto">
            <a:xfrm>
              <a:off x="4667998" y="4572676"/>
              <a:ext cx="1005558" cy="1360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72000" rIns="72000" bIns="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lnSpc>
                  <a:spcPts val="900"/>
                </a:lnSpc>
                <a:spcBef>
                  <a:spcPct val="50000"/>
                </a:spcBef>
                <a:buFontTx/>
                <a:buNone/>
              </a:pPr>
              <a:r>
                <a:rPr lang="en-US" altLang="ja-JP" sz="1200" dirty="0">
                  <a:latin typeface="HG丸ｺﾞｼｯｸM-PRO" pitchFamily="50" charset="-128"/>
                  <a:ea typeface="HG丸ｺﾞｼｯｸM-PRO" pitchFamily="50" charset="-128"/>
                </a:rPr>
                <a:t>No.3</a:t>
              </a:r>
              <a:r>
                <a:rPr lang="ja-JP" altLang="en-US" sz="1200" dirty="0">
                  <a:latin typeface="HG丸ｺﾞｼｯｸM-PRO" pitchFamily="50" charset="-128"/>
                  <a:ea typeface="HG丸ｺﾞｼｯｸM-PRO" pitchFamily="50" charset="-128"/>
                </a:rPr>
                <a:t>ﾋﾞﾚｯﾄﾔｰﾄﾞ</a:t>
              </a:r>
              <a:endParaRPr lang="en-US" altLang="ja-JP" sz="1200" dirty="0">
                <a:latin typeface="HG丸ｺﾞｼｯｸM-PRO" pitchFamily="50" charset="-128"/>
                <a:ea typeface="HG丸ｺﾞｼｯｸM-PRO" pitchFamily="50" charset="-128"/>
              </a:endParaRPr>
            </a:p>
          </p:txBody>
        </p:sp>
      </p:grpSp>
      <p:sp>
        <p:nvSpPr>
          <p:cNvPr id="2048" name="テキスト ボックス 2047"/>
          <p:cNvSpPr txBox="1"/>
          <p:nvPr/>
        </p:nvSpPr>
        <p:spPr>
          <a:xfrm>
            <a:off x="189782" y="1682131"/>
            <a:ext cx="4097546" cy="584775"/>
          </a:xfrm>
          <a:prstGeom prst="rect">
            <a:avLst/>
          </a:prstGeom>
          <a:solidFill>
            <a:schemeClr val="accent2">
              <a:lumMod val="40000"/>
              <a:lumOff val="60000"/>
            </a:schemeClr>
          </a:solidFill>
          <a:ln w="15875">
            <a:solidFill>
              <a:schemeClr val="tx1"/>
            </a:solidFill>
          </a:ln>
        </p:spPr>
        <p:txBody>
          <a:bodyPr wrap="square" rtlCol="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②</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No.16</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水処理施設への送水能力増強</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加工工場山側からの浸水防止</a:t>
            </a:r>
            <a:endParaRPr kumimoji="1" lang="ja-JP" altLang="en-US" sz="1400" dirty="0"/>
          </a:p>
        </p:txBody>
      </p:sp>
      <p:sp>
        <p:nvSpPr>
          <p:cNvPr id="40" name="テキスト ボックス 39"/>
          <p:cNvSpPr txBox="1"/>
          <p:nvPr/>
        </p:nvSpPr>
        <p:spPr>
          <a:xfrm>
            <a:off x="4414423" y="1465308"/>
            <a:ext cx="3409735" cy="861774"/>
          </a:xfrm>
          <a:prstGeom prst="rect">
            <a:avLst/>
          </a:prstGeom>
          <a:solidFill>
            <a:schemeClr val="accent2">
              <a:lumMod val="40000"/>
              <a:lumOff val="60000"/>
            </a:schemeClr>
          </a:solidFill>
          <a:ln w="15875">
            <a:solidFill>
              <a:schemeClr val="tx1"/>
            </a:solidFill>
          </a:ln>
        </p:spPr>
        <p:txBody>
          <a:bodyPr wrap="square" rtlCol="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①</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No.16 </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水処理能力不足解消</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　</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西日本豪雨同等でも冠水深さ</a:t>
            </a:r>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150㎜</a:t>
            </a:r>
          </a:p>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　以下</a:t>
            </a:r>
          </a:p>
        </p:txBody>
      </p:sp>
      <p:sp>
        <p:nvSpPr>
          <p:cNvPr id="41" name="テキスト ボックス 40"/>
          <p:cNvSpPr txBox="1"/>
          <p:nvPr/>
        </p:nvSpPr>
        <p:spPr>
          <a:xfrm>
            <a:off x="5875412" y="3496739"/>
            <a:ext cx="3088495" cy="646331"/>
          </a:xfrm>
          <a:prstGeom prst="rect">
            <a:avLst/>
          </a:prstGeom>
          <a:solidFill>
            <a:schemeClr val="accent2">
              <a:lumMod val="40000"/>
              <a:lumOff val="60000"/>
            </a:schemeClr>
          </a:solidFill>
          <a:ln w="15875">
            <a:solidFill>
              <a:schemeClr val="tx1"/>
            </a:solidFill>
          </a:ln>
        </p:spPr>
        <p:txBody>
          <a:bodyPr wrap="square" rtlCol="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③排水方式の改善</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　</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高潮においても排水できる</a:t>
            </a:r>
          </a:p>
        </p:txBody>
      </p:sp>
      <p:sp>
        <p:nvSpPr>
          <p:cNvPr id="42" name="テキスト ボックス 41"/>
          <p:cNvSpPr txBox="1"/>
          <p:nvPr/>
        </p:nvSpPr>
        <p:spPr>
          <a:xfrm>
            <a:off x="2407107" y="6125213"/>
            <a:ext cx="4623422" cy="584775"/>
          </a:xfrm>
          <a:prstGeom prst="rect">
            <a:avLst/>
          </a:prstGeom>
          <a:solidFill>
            <a:schemeClr val="accent2">
              <a:lumMod val="40000"/>
              <a:lumOff val="60000"/>
            </a:schemeClr>
          </a:solidFill>
          <a:ln w="15875">
            <a:solidFill>
              <a:schemeClr val="tx1"/>
            </a:solidFill>
          </a:ln>
        </p:spPr>
        <p:txBody>
          <a:bodyPr wrap="square" rtlCol="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②</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No.16</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水処理施設への送水能力増強</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7</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線材工場浜側からの浸水防止</a:t>
            </a:r>
          </a:p>
        </p:txBody>
      </p:sp>
      <p:sp>
        <p:nvSpPr>
          <p:cNvPr id="2052" name="フリーフォーム 2051"/>
          <p:cNvSpPr/>
          <p:nvPr/>
        </p:nvSpPr>
        <p:spPr bwMode="auto">
          <a:xfrm>
            <a:off x="4837668" y="2337911"/>
            <a:ext cx="441145" cy="334483"/>
          </a:xfrm>
          <a:custGeom>
            <a:avLst/>
            <a:gdLst>
              <a:gd name="connsiteX0" fmla="*/ 0 w 560717"/>
              <a:gd name="connsiteY0" fmla="*/ 0 h 353683"/>
              <a:gd name="connsiteX1" fmla="*/ 560717 w 560717"/>
              <a:gd name="connsiteY1" fmla="*/ 353683 h 353683"/>
            </a:gdLst>
            <a:ahLst/>
            <a:cxnLst>
              <a:cxn ang="0">
                <a:pos x="connsiteX0" y="connsiteY0"/>
              </a:cxn>
              <a:cxn ang="0">
                <a:pos x="connsiteX1" y="connsiteY1"/>
              </a:cxn>
            </a:cxnLst>
            <a:rect l="l" t="t" r="r" b="b"/>
            <a:pathLst>
              <a:path w="560717" h="353683">
                <a:moveTo>
                  <a:pt x="0" y="0"/>
                </a:moveTo>
                <a:lnTo>
                  <a:pt x="560717" y="353683"/>
                </a:lnTo>
              </a:path>
            </a:pathLst>
          </a:custGeom>
          <a:noFill/>
          <a:ln w="1905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6" name="フリーフォーム 45"/>
          <p:cNvSpPr/>
          <p:nvPr/>
        </p:nvSpPr>
        <p:spPr bwMode="auto">
          <a:xfrm>
            <a:off x="1697530" y="2266906"/>
            <a:ext cx="553641" cy="804075"/>
          </a:xfrm>
          <a:custGeom>
            <a:avLst/>
            <a:gdLst>
              <a:gd name="connsiteX0" fmla="*/ 0 w 560717"/>
              <a:gd name="connsiteY0" fmla="*/ 0 h 353683"/>
              <a:gd name="connsiteX1" fmla="*/ 560717 w 560717"/>
              <a:gd name="connsiteY1" fmla="*/ 353683 h 353683"/>
            </a:gdLst>
            <a:ahLst/>
            <a:cxnLst>
              <a:cxn ang="0">
                <a:pos x="connsiteX0" y="connsiteY0"/>
              </a:cxn>
              <a:cxn ang="0">
                <a:pos x="connsiteX1" y="connsiteY1"/>
              </a:cxn>
            </a:cxnLst>
            <a:rect l="l" t="t" r="r" b="b"/>
            <a:pathLst>
              <a:path w="560717" h="353683">
                <a:moveTo>
                  <a:pt x="0" y="0"/>
                </a:moveTo>
                <a:lnTo>
                  <a:pt x="560717" y="353683"/>
                </a:lnTo>
              </a:path>
            </a:pathLst>
          </a:custGeom>
          <a:noFill/>
          <a:ln w="1905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7" name="フリーフォーム 46"/>
          <p:cNvSpPr/>
          <p:nvPr/>
        </p:nvSpPr>
        <p:spPr bwMode="auto">
          <a:xfrm flipV="1">
            <a:off x="6018781" y="2734559"/>
            <a:ext cx="73679" cy="755897"/>
          </a:xfrm>
          <a:custGeom>
            <a:avLst/>
            <a:gdLst>
              <a:gd name="connsiteX0" fmla="*/ 0 w 560717"/>
              <a:gd name="connsiteY0" fmla="*/ 0 h 353683"/>
              <a:gd name="connsiteX1" fmla="*/ 560717 w 560717"/>
              <a:gd name="connsiteY1" fmla="*/ 353683 h 353683"/>
            </a:gdLst>
            <a:ahLst/>
            <a:cxnLst>
              <a:cxn ang="0">
                <a:pos x="connsiteX0" y="connsiteY0"/>
              </a:cxn>
              <a:cxn ang="0">
                <a:pos x="connsiteX1" y="connsiteY1"/>
              </a:cxn>
            </a:cxnLst>
            <a:rect l="l" t="t" r="r" b="b"/>
            <a:pathLst>
              <a:path w="560717" h="353683">
                <a:moveTo>
                  <a:pt x="0" y="0"/>
                </a:moveTo>
                <a:lnTo>
                  <a:pt x="560717" y="353683"/>
                </a:lnTo>
              </a:path>
            </a:pathLst>
          </a:custGeom>
          <a:noFill/>
          <a:ln w="1905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8" name="フリーフォーム 47"/>
          <p:cNvSpPr/>
          <p:nvPr/>
        </p:nvSpPr>
        <p:spPr bwMode="auto">
          <a:xfrm flipV="1">
            <a:off x="4535819" y="4265148"/>
            <a:ext cx="603699" cy="1860064"/>
          </a:xfrm>
          <a:custGeom>
            <a:avLst/>
            <a:gdLst>
              <a:gd name="connsiteX0" fmla="*/ 0 w 560717"/>
              <a:gd name="connsiteY0" fmla="*/ 0 h 353683"/>
              <a:gd name="connsiteX1" fmla="*/ 560717 w 560717"/>
              <a:gd name="connsiteY1" fmla="*/ 353683 h 353683"/>
            </a:gdLst>
            <a:ahLst/>
            <a:cxnLst>
              <a:cxn ang="0">
                <a:pos x="connsiteX0" y="connsiteY0"/>
              </a:cxn>
              <a:cxn ang="0">
                <a:pos x="connsiteX1" y="connsiteY1"/>
              </a:cxn>
            </a:cxnLst>
            <a:rect l="l" t="t" r="r" b="b"/>
            <a:pathLst>
              <a:path w="560717" h="353683">
                <a:moveTo>
                  <a:pt x="0" y="0"/>
                </a:moveTo>
                <a:lnTo>
                  <a:pt x="560717" y="353683"/>
                </a:lnTo>
              </a:path>
            </a:pathLst>
          </a:custGeom>
          <a:noFill/>
          <a:ln w="1905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49"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解決手段　～今回の対策～</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20" name="角丸四角形 10">
            <a:extLst>
              <a:ext uri="{FF2B5EF4-FFF2-40B4-BE49-F238E27FC236}">
                <a16:creationId xmlns:a16="http://schemas.microsoft.com/office/drawing/2014/main" id="{144C31CD-4AEC-47B0-8E21-1087DEB76541}"/>
              </a:ext>
            </a:extLst>
          </p:cNvPr>
          <p:cNvSpPr/>
          <p:nvPr/>
        </p:nvSpPr>
        <p:spPr>
          <a:xfrm>
            <a:off x="69600" y="672963"/>
            <a:ext cx="8970631" cy="383619"/>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r>
              <a:rPr kumimoji="1" lang="ja-JP" altLang="en-US">
                <a:latin typeface="Meiryo UI" panose="020B0604030504040204" pitchFamily="50" charset="-128"/>
                <a:ea typeface="Meiryo UI" panose="020B0604030504040204" pitchFamily="50" charset="-128"/>
                <a:cs typeface="メイリオ" panose="020B0604030504040204" pitchFamily="50" charset="-128"/>
              </a:rPr>
              <a:t>①～③を実施することで、</a:t>
            </a:r>
            <a:r>
              <a:rPr kumimoji="1" lang="en-US" altLang="ja-JP">
                <a:latin typeface="Meiryo UI" panose="020B0604030504040204" pitchFamily="50" charset="-128"/>
                <a:ea typeface="Meiryo UI" panose="020B0604030504040204" pitchFamily="50" charset="-128"/>
                <a:cs typeface="メイリオ" panose="020B0604030504040204" pitchFamily="50" charset="-128"/>
              </a:rPr>
              <a:t>3</a:t>
            </a:r>
            <a:r>
              <a:rPr kumimoji="1" lang="ja-JP" altLang="en-US">
                <a:latin typeface="Meiryo UI" panose="020B0604030504040204" pitchFamily="50" charset="-128"/>
                <a:ea typeface="Meiryo UI" panose="020B0604030504040204" pitchFamily="50" charset="-128"/>
                <a:cs typeface="メイリオ" panose="020B0604030504040204" pitchFamily="50" charset="-128"/>
              </a:rPr>
              <a:t>加工、</a:t>
            </a:r>
            <a:r>
              <a:rPr kumimoji="1" lang="en-US" altLang="ja-JP">
                <a:latin typeface="Meiryo UI" panose="020B0604030504040204" pitchFamily="50" charset="-128"/>
                <a:ea typeface="Meiryo UI" panose="020B0604030504040204" pitchFamily="50" charset="-128"/>
                <a:cs typeface="メイリオ" panose="020B0604030504040204" pitchFamily="50" charset="-128"/>
              </a:rPr>
              <a:t>7</a:t>
            </a:r>
            <a:r>
              <a:rPr kumimoji="1" lang="ja-JP" altLang="en-US">
                <a:latin typeface="Meiryo UI" panose="020B0604030504040204" pitchFamily="50" charset="-128"/>
                <a:ea typeface="Meiryo UI" panose="020B0604030504040204" pitchFamily="50" charset="-128"/>
                <a:cs typeface="メイリオ" panose="020B0604030504040204" pitchFamily="50" charset="-128"/>
              </a:rPr>
              <a:t>線材工場の雨水による冠水を防止する。</a:t>
            </a:r>
            <a:endParaRPr kumimoji="1" lang="ja-JP" altLang="en-US" dirty="0">
              <a:latin typeface="Meiryo UI" panose="020B0604030504040204" pitchFamily="50" charset="-128"/>
              <a:ea typeface="Meiryo UI"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978857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26" name="グループ化 3425">
            <a:extLst>
              <a:ext uri="{FF2B5EF4-FFF2-40B4-BE49-F238E27FC236}">
                <a16:creationId xmlns:a16="http://schemas.microsoft.com/office/drawing/2014/main" id="{01536386-B3DF-4DF6-93F2-E6FCC80FF693}"/>
              </a:ext>
            </a:extLst>
          </p:cNvPr>
          <p:cNvGrpSpPr/>
          <p:nvPr/>
        </p:nvGrpSpPr>
        <p:grpSpPr>
          <a:xfrm>
            <a:off x="860707" y="2470483"/>
            <a:ext cx="7814220" cy="4308276"/>
            <a:chOff x="-654764" y="1899033"/>
            <a:chExt cx="7925353" cy="4643352"/>
          </a:xfrm>
        </p:grpSpPr>
        <p:grpSp>
          <p:nvGrpSpPr>
            <p:cNvPr id="3410" name="グループ化 3409">
              <a:extLst>
                <a:ext uri="{FF2B5EF4-FFF2-40B4-BE49-F238E27FC236}">
                  <a16:creationId xmlns:a16="http://schemas.microsoft.com/office/drawing/2014/main" id="{5680AD8E-2FB7-4069-84B5-45FDC547A95A}"/>
                </a:ext>
              </a:extLst>
            </p:cNvPr>
            <p:cNvGrpSpPr/>
            <p:nvPr/>
          </p:nvGrpSpPr>
          <p:grpSpPr>
            <a:xfrm>
              <a:off x="143227" y="1899033"/>
              <a:ext cx="5777862" cy="4068000"/>
              <a:chOff x="143227" y="2268001"/>
              <a:chExt cx="5777862" cy="4068000"/>
            </a:xfrm>
          </p:grpSpPr>
          <p:pic>
            <p:nvPicPr>
              <p:cNvPr id="3399" name="図 3398">
                <a:extLst>
                  <a:ext uri="{FF2B5EF4-FFF2-40B4-BE49-F238E27FC236}">
                    <a16:creationId xmlns:a16="http://schemas.microsoft.com/office/drawing/2014/main" id="{796AB18A-86C6-4327-9B25-D8BD61E6757B}"/>
                  </a:ext>
                </a:extLst>
              </p:cNvPr>
              <p:cNvPicPr>
                <a:picLocks noChangeAspect="1"/>
              </p:cNvPicPr>
              <p:nvPr/>
            </p:nvPicPr>
            <p:blipFill rotWithShape="1">
              <a:blip r:embed="rId2"/>
              <a:srcRect l="8699" t="16857" r="-8699" b="662"/>
              <a:stretch/>
            </p:blipFill>
            <p:spPr>
              <a:xfrm>
                <a:off x="143227" y="2268001"/>
                <a:ext cx="5777862" cy="4068000"/>
              </a:xfrm>
              <a:prstGeom prst="rect">
                <a:avLst/>
              </a:prstGeom>
            </p:spPr>
          </p:pic>
          <p:sp>
            <p:nvSpPr>
              <p:cNvPr id="3400" name="テキスト ボックス 3399">
                <a:extLst>
                  <a:ext uri="{FF2B5EF4-FFF2-40B4-BE49-F238E27FC236}">
                    <a16:creationId xmlns:a16="http://schemas.microsoft.com/office/drawing/2014/main" id="{25BA6239-B350-4C1B-838D-0515AA69753A}"/>
                  </a:ext>
                </a:extLst>
              </p:cNvPr>
              <p:cNvSpPr txBox="1"/>
              <p:nvPr/>
            </p:nvSpPr>
            <p:spPr>
              <a:xfrm>
                <a:off x="2166427" y="2785401"/>
                <a:ext cx="1461770"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棒鋼工場</a:t>
                </a:r>
              </a:p>
            </p:txBody>
          </p:sp>
          <p:sp>
            <p:nvSpPr>
              <p:cNvPr id="3401" name="テキスト ボックス 3400">
                <a:extLst>
                  <a:ext uri="{FF2B5EF4-FFF2-40B4-BE49-F238E27FC236}">
                    <a16:creationId xmlns:a16="http://schemas.microsoft.com/office/drawing/2014/main" id="{A708922C-0756-4DA6-91F0-F536B1362E10}"/>
                  </a:ext>
                </a:extLst>
              </p:cNvPr>
              <p:cNvSpPr txBox="1"/>
              <p:nvPr/>
            </p:nvSpPr>
            <p:spPr>
              <a:xfrm>
                <a:off x="1014412" y="4312593"/>
                <a:ext cx="1852785"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鋼片</a:t>
                </a:r>
                <a:r>
                  <a:rPr kumimoji="1" lang="en-US" altLang="ja-JP" dirty="0">
                    <a:latin typeface="Meiryo UI" panose="020B0604030504040204" pitchFamily="50" charset="-128"/>
                    <a:ea typeface="Meiryo UI" panose="020B0604030504040204" pitchFamily="50" charset="-128"/>
                  </a:rPr>
                  <a:t>3</a:t>
                </a:r>
                <a:r>
                  <a:rPr kumimoji="1" lang="ja-JP" altLang="en-US" dirty="0">
                    <a:latin typeface="Meiryo UI" panose="020B0604030504040204" pitchFamily="50" charset="-128"/>
                    <a:ea typeface="Meiryo UI" panose="020B0604030504040204" pitchFamily="50" charset="-128"/>
                  </a:rPr>
                  <a:t>加工工場</a:t>
                </a:r>
              </a:p>
            </p:txBody>
          </p:sp>
          <p:sp>
            <p:nvSpPr>
              <p:cNvPr id="3402" name="テキスト ボックス 3401">
                <a:extLst>
                  <a:ext uri="{FF2B5EF4-FFF2-40B4-BE49-F238E27FC236}">
                    <a16:creationId xmlns:a16="http://schemas.microsoft.com/office/drawing/2014/main" id="{BBFD3EBD-E06D-4752-B723-23E712E20AD4}"/>
                  </a:ext>
                </a:extLst>
              </p:cNvPr>
              <p:cNvSpPr txBox="1"/>
              <p:nvPr/>
            </p:nvSpPr>
            <p:spPr>
              <a:xfrm>
                <a:off x="3530525" y="4307037"/>
                <a:ext cx="1461771"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7</a:t>
                </a:r>
                <a:r>
                  <a:rPr kumimoji="1" lang="ja-JP" altLang="en-US" dirty="0">
                    <a:latin typeface="Meiryo UI" panose="020B0604030504040204" pitchFamily="50" charset="-128"/>
                    <a:ea typeface="Meiryo UI" panose="020B0604030504040204" pitchFamily="50" charset="-128"/>
                  </a:rPr>
                  <a:t>線材工場</a:t>
                </a:r>
              </a:p>
            </p:txBody>
          </p:sp>
          <p:sp>
            <p:nvSpPr>
              <p:cNvPr id="3403" name="テキスト ボックス 3402">
                <a:extLst>
                  <a:ext uri="{FF2B5EF4-FFF2-40B4-BE49-F238E27FC236}">
                    <a16:creationId xmlns:a16="http://schemas.microsoft.com/office/drawing/2014/main" id="{12428DF5-3FD1-48E8-A9CE-57DB1CAF7300}"/>
                  </a:ext>
                </a:extLst>
              </p:cNvPr>
              <p:cNvSpPr txBox="1"/>
              <p:nvPr/>
            </p:nvSpPr>
            <p:spPr>
              <a:xfrm>
                <a:off x="572803" y="5242038"/>
                <a:ext cx="2100609" cy="369332"/>
              </a:xfrm>
              <a:prstGeom prst="rect">
                <a:avLst/>
              </a:prstGeom>
              <a:solidFill>
                <a:schemeClr val="bg1">
                  <a:alpha val="79000"/>
                </a:schemeClr>
              </a:solid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No.3</a:t>
                </a:r>
                <a:r>
                  <a:rPr kumimoji="1" lang="ja-JP" altLang="en-US" dirty="0">
                    <a:latin typeface="Meiryo UI" panose="020B0604030504040204" pitchFamily="50" charset="-128"/>
                    <a:ea typeface="Meiryo UI" panose="020B0604030504040204" pitchFamily="50" charset="-128"/>
                  </a:rPr>
                  <a:t>ビレットヤード</a:t>
                </a:r>
              </a:p>
            </p:txBody>
          </p:sp>
          <p:sp>
            <p:nvSpPr>
              <p:cNvPr id="3408" name="フリーフォーム: 図形 3407">
                <a:extLst>
                  <a:ext uri="{FF2B5EF4-FFF2-40B4-BE49-F238E27FC236}">
                    <a16:creationId xmlns:a16="http://schemas.microsoft.com/office/drawing/2014/main" id="{F531F531-D1C7-4711-9804-E19093CFB9FD}"/>
                  </a:ext>
                </a:extLst>
              </p:cNvPr>
              <p:cNvSpPr/>
              <p:nvPr/>
            </p:nvSpPr>
            <p:spPr bwMode="auto">
              <a:xfrm>
                <a:off x="593558" y="2406316"/>
                <a:ext cx="4411579" cy="3400926"/>
              </a:xfrm>
              <a:custGeom>
                <a:avLst/>
                <a:gdLst>
                  <a:gd name="connsiteX0" fmla="*/ 0 w 4411579"/>
                  <a:gd name="connsiteY0" fmla="*/ 16042 h 3400926"/>
                  <a:gd name="connsiteX1" fmla="*/ 4411579 w 4411579"/>
                  <a:gd name="connsiteY1" fmla="*/ 0 h 3400926"/>
                  <a:gd name="connsiteX2" fmla="*/ 4411579 w 4411579"/>
                  <a:gd name="connsiteY2" fmla="*/ 3400926 h 3400926"/>
                  <a:gd name="connsiteX3" fmla="*/ 2213810 w 4411579"/>
                  <a:gd name="connsiteY3" fmla="*/ 3400926 h 3400926"/>
                  <a:gd name="connsiteX4" fmla="*/ 2213810 w 4411579"/>
                  <a:gd name="connsiteY4" fmla="*/ 2534652 h 3400926"/>
                  <a:gd name="connsiteX5" fmla="*/ 0 w 4411579"/>
                  <a:gd name="connsiteY5" fmla="*/ 2534652 h 3400926"/>
                  <a:gd name="connsiteX6" fmla="*/ 0 w 4411579"/>
                  <a:gd name="connsiteY6" fmla="*/ 16042 h 340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1579" h="3400926">
                    <a:moveTo>
                      <a:pt x="0" y="16042"/>
                    </a:moveTo>
                    <a:lnTo>
                      <a:pt x="4411579" y="0"/>
                    </a:lnTo>
                    <a:lnTo>
                      <a:pt x="4411579" y="3400926"/>
                    </a:lnTo>
                    <a:lnTo>
                      <a:pt x="2213810" y="3400926"/>
                    </a:lnTo>
                    <a:lnTo>
                      <a:pt x="2213810" y="2534652"/>
                    </a:lnTo>
                    <a:lnTo>
                      <a:pt x="0" y="2534652"/>
                    </a:lnTo>
                    <a:lnTo>
                      <a:pt x="0" y="16042"/>
                    </a:lnTo>
                    <a:close/>
                  </a:path>
                </a:pathLst>
              </a:custGeom>
              <a:solidFill>
                <a:schemeClr val="accent1">
                  <a:alpha val="2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3409" name="フリーフォーム: 図形 3408">
                <a:extLst>
                  <a:ext uri="{FF2B5EF4-FFF2-40B4-BE49-F238E27FC236}">
                    <a16:creationId xmlns:a16="http://schemas.microsoft.com/office/drawing/2014/main" id="{F2BF559A-8911-41F8-A8CE-1C764569D4F9}"/>
                  </a:ext>
                </a:extLst>
              </p:cNvPr>
              <p:cNvSpPr/>
              <p:nvPr/>
            </p:nvSpPr>
            <p:spPr bwMode="auto">
              <a:xfrm>
                <a:off x="143228" y="4957011"/>
                <a:ext cx="4589194" cy="1011417"/>
              </a:xfrm>
              <a:custGeom>
                <a:avLst/>
                <a:gdLst>
                  <a:gd name="connsiteX0" fmla="*/ 0 w 4411579"/>
                  <a:gd name="connsiteY0" fmla="*/ 0 h 978568"/>
                  <a:gd name="connsiteX1" fmla="*/ 2534652 w 4411579"/>
                  <a:gd name="connsiteY1" fmla="*/ 64168 h 978568"/>
                  <a:gd name="connsiteX2" fmla="*/ 2534652 w 4411579"/>
                  <a:gd name="connsiteY2" fmla="*/ 850231 h 978568"/>
                  <a:gd name="connsiteX3" fmla="*/ 4395536 w 4411579"/>
                  <a:gd name="connsiteY3" fmla="*/ 834189 h 978568"/>
                  <a:gd name="connsiteX4" fmla="*/ 4411579 w 4411579"/>
                  <a:gd name="connsiteY4" fmla="*/ 962526 h 978568"/>
                  <a:gd name="connsiteX5" fmla="*/ 16042 w 4411579"/>
                  <a:gd name="connsiteY5" fmla="*/ 978568 h 978568"/>
                  <a:gd name="connsiteX6" fmla="*/ 0 w 4411579"/>
                  <a:gd name="connsiteY6" fmla="*/ 0 h 97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1579" h="978568">
                    <a:moveTo>
                      <a:pt x="0" y="0"/>
                    </a:moveTo>
                    <a:lnTo>
                      <a:pt x="2534652" y="64168"/>
                    </a:lnTo>
                    <a:lnTo>
                      <a:pt x="2534652" y="850231"/>
                    </a:lnTo>
                    <a:lnTo>
                      <a:pt x="4395536" y="834189"/>
                    </a:lnTo>
                    <a:lnTo>
                      <a:pt x="4411579" y="962526"/>
                    </a:lnTo>
                    <a:lnTo>
                      <a:pt x="16042" y="978568"/>
                    </a:lnTo>
                    <a:lnTo>
                      <a:pt x="0" y="0"/>
                    </a:lnTo>
                    <a:close/>
                  </a:path>
                </a:pathLst>
              </a:custGeom>
              <a:solidFill>
                <a:schemeClr val="accent2">
                  <a:alpha val="35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pSp>
        <p:sp>
          <p:nvSpPr>
            <p:cNvPr id="3411" name="矢印: V 字型 3410">
              <a:extLst>
                <a:ext uri="{FF2B5EF4-FFF2-40B4-BE49-F238E27FC236}">
                  <a16:creationId xmlns:a16="http://schemas.microsoft.com/office/drawing/2014/main" id="{46A5D05B-FA99-4C73-ADB2-50BAE82DC26B}"/>
                </a:ext>
              </a:extLst>
            </p:cNvPr>
            <p:cNvSpPr/>
            <p:nvPr/>
          </p:nvSpPr>
          <p:spPr bwMode="auto">
            <a:xfrm>
              <a:off x="4658352" y="3533920"/>
              <a:ext cx="693569" cy="369332"/>
            </a:xfrm>
            <a:prstGeom prst="notched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3422" name="矢印: V 字型 3421">
              <a:extLst>
                <a:ext uri="{FF2B5EF4-FFF2-40B4-BE49-F238E27FC236}">
                  <a16:creationId xmlns:a16="http://schemas.microsoft.com/office/drawing/2014/main" id="{39FA6B89-66E4-406B-A2D7-D2BC24C9FF1D}"/>
                </a:ext>
              </a:extLst>
            </p:cNvPr>
            <p:cNvSpPr/>
            <p:nvPr/>
          </p:nvSpPr>
          <p:spPr bwMode="auto">
            <a:xfrm rot="5400000">
              <a:off x="482961" y="5388285"/>
              <a:ext cx="693569" cy="369332"/>
            </a:xfrm>
            <a:prstGeom prst="notchedRightArrow">
              <a:avLst/>
            </a:prstGeom>
            <a:solidFill>
              <a:schemeClr val="accent6"/>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3424" name="テキスト ボックス 3423">
              <a:extLst>
                <a:ext uri="{FF2B5EF4-FFF2-40B4-BE49-F238E27FC236}">
                  <a16:creationId xmlns:a16="http://schemas.microsoft.com/office/drawing/2014/main" id="{9FD5BC24-1428-46C2-8EA5-C4C1D63D1A04}"/>
                </a:ext>
              </a:extLst>
            </p:cNvPr>
            <p:cNvSpPr txBox="1"/>
            <p:nvPr/>
          </p:nvSpPr>
          <p:spPr>
            <a:xfrm>
              <a:off x="5292375" y="3533920"/>
              <a:ext cx="1978214" cy="398057"/>
            </a:xfrm>
            <a:prstGeom prst="rect">
              <a:avLst/>
            </a:prstGeom>
            <a:noFill/>
          </p:spPr>
          <p:txBody>
            <a:bodyPr wrap="square" rtlCol="0">
              <a:spAutoFit/>
            </a:bodyPr>
            <a:lstStyle/>
            <a:p>
              <a:r>
                <a:rPr kumimoji="1" lang="en-US" altLang="ja-JP" dirty="0"/>
                <a:t>No.16</a:t>
              </a:r>
              <a:r>
                <a:rPr kumimoji="1" lang="ja-JP" altLang="en-US" dirty="0"/>
                <a:t>排水口</a:t>
              </a:r>
            </a:p>
          </p:txBody>
        </p:sp>
        <p:sp>
          <p:nvSpPr>
            <p:cNvPr id="3425" name="テキスト ボックス 3424">
              <a:extLst>
                <a:ext uri="{FF2B5EF4-FFF2-40B4-BE49-F238E27FC236}">
                  <a16:creationId xmlns:a16="http://schemas.microsoft.com/office/drawing/2014/main" id="{4D9BA766-3ADC-41BA-A86A-4B178096367C}"/>
                </a:ext>
              </a:extLst>
            </p:cNvPr>
            <p:cNvSpPr txBox="1"/>
            <p:nvPr/>
          </p:nvSpPr>
          <p:spPr>
            <a:xfrm>
              <a:off x="-654764" y="5845786"/>
              <a:ext cx="2827594" cy="696599"/>
            </a:xfrm>
            <a:prstGeom prst="rect">
              <a:avLst/>
            </a:prstGeom>
            <a:noFill/>
          </p:spPr>
          <p:txBody>
            <a:bodyPr wrap="square" rtlCol="0">
              <a:spAutoFit/>
            </a:bodyPr>
            <a:lstStyle/>
            <a:p>
              <a:pPr algn="ctr"/>
              <a:r>
                <a:rPr kumimoji="1" lang="en-US" altLang="ja-JP" dirty="0">
                  <a:latin typeface="Meiryo UI" panose="020B0604030504040204" pitchFamily="50" charset="-128"/>
                  <a:ea typeface="Meiryo UI" panose="020B0604030504040204" pitchFamily="50" charset="-128"/>
                </a:rPr>
                <a:t>G2</a:t>
              </a:r>
              <a:r>
                <a:rPr kumimoji="1" lang="ja-JP" altLang="en-US" dirty="0">
                  <a:latin typeface="Meiryo UI" panose="020B0604030504040204" pitchFamily="50" charset="-128"/>
                  <a:ea typeface="Meiryo UI" panose="020B0604030504040204" pitchFamily="50" charset="-128"/>
                </a:rPr>
                <a:t>排水口</a:t>
              </a:r>
              <a:endParaRPr kumimoji="1" lang="en-US" altLang="ja-JP" dirty="0">
                <a:latin typeface="Meiryo UI" panose="020B0604030504040204" pitchFamily="50" charset="-128"/>
                <a:ea typeface="Meiryo UI" panose="020B0604030504040204" pitchFamily="50" charset="-128"/>
              </a:endParaRPr>
            </a:p>
            <a:p>
              <a:pPr algn="ctr"/>
              <a:r>
                <a:rPr kumimoji="1"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９年６月末　稼働）</a:t>
              </a:r>
              <a:endParaRPr kumimoji="1" lang="en-US" altLang="ja-JP" dirty="0">
                <a:latin typeface="Meiryo UI" panose="020B0604030504040204" pitchFamily="50" charset="-128"/>
                <a:ea typeface="Meiryo UI" panose="020B0604030504040204" pitchFamily="50" charset="-128"/>
              </a:endParaRPr>
            </a:p>
          </p:txBody>
        </p:sp>
        <p:sp>
          <p:nvSpPr>
            <p:cNvPr id="3430" name="テキスト ボックス 3429">
              <a:extLst>
                <a:ext uri="{FF2B5EF4-FFF2-40B4-BE49-F238E27FC236}">
                  <a16:creationId xmlns:a16="http://schemas.microsoft.com/office/drawing/2014/main" id="{7898C33C-E030-437A-AB52-76605E7B445F}"/>
                </a:ext>
              </a:extLst>
            </p:cNvPr>
            <p:cNvSpPr txBox="1"/>
            <p:nvPr/>
          </p:nvSpPr>
          <p:spPr>
            <a:xfrm>
              <a:off x="1689486" y="5646757"/>
              <a:ext cx="1967851" cy="398057"/>
            </a:xfrm>
            <a:prstGeom prst="rect">
              <a:avLst/>
            </a:prstGeom>
            <a:noFill/>
          </p:spPr>
          <p:txBody>
            <a:bodyPr wrap="square" rtlCol="0">
              <a:spAutoFit/>
            </a:bodyPr>
            <a:lstStyle/>
            <a:p>
              <a:pPr algn="ctr"/>
              <a:r>
                <a:rPr kumimoji="1" lang="en-US" altLang="ja-JP" dirty="0">
                  <a:latin typeface="Meiryo UI" panose="020B0604030504040204" pitchFamily="50" charset="-128"/>
                  <a:ea typeface="Meiryo UI" panose="020B0604030504040204" pitchFamily="50" charset="-128"/>
                </a:rPr>
                <a:t>KS4,5</a:t>
              </a:r>
              <a:r>
                <a:rPr kumimoji="1" lang="ja-JP" altLang="en-US" dirty="0">
                  <a:latin typeface="Meiryo UI" panose="020B0604030504040204" pitchFamily="50" charset="-128"/>
                  <a:ea typeface="Meiryo UI" panose="020B0604030504040204" pitchFamily="50" charset="-128"/>
                </a:rPr>
                <a:t>岸壁</a:t>
              </a:r>
              <a:endParaRPr kumimoji="1" lang="en-US" altLang="ja-JP" dirty="0">
                <a:latin typeface="Meiryo UI" panose="020B0604030504040204" pitchFamily="50" charset="-128"/>
                <a:ea typeface="Meiryo UI" panose="020B0604030504040204" pitchFamily="50" charset="-128"/>
              </a:endParaRPr>
            </a:p>
          </p:txBody>
        </p:sp>
        <p:sp>
          <p:nvSpPr>
            <p:cNvPr id="3431" name="テキスト ボックス 3430">
              <a:extLst>
                <a:ext uri="{FF2B5EF4-FFF2-40B4-BE49-F238E27FC236}">
                  <a16:creationId xmlns:a16="http://schemas.microsoft.com/office/drawing/2014/main" id="{27C07D4F-92B1-41FE-9903-EFA2EA069E7F}"/>
                </a:ext>
              </a:extLst>
            </p:cNvPr>
            <p:cNvSpPr txBox="1"/>
            <p:nvPr/>
          </p:nvSpPr>
          <p:spPr>
            <a:xfrm>
              <a:off x="3644063" y="4765385"/>
              <a:ext cx="1967851" cy="398057"/>
            </a:xfrm>
            <a:prstGeom prst="rect">
              <a:avLst/>
            </a:prstGeom>
            <a:noFill/>
          </p:spPr>
          <p:txBody>
            <a:bodyPr wrap="square" rtlCol="0">
              <a:spAutoFit/>
            </a:bodyPr>
            <a:lstStyle/>
            <a:p>
              <a:pPr algn="ctr"/>
              <a:r>
                <a:rPr kumimoji="1" lang="ja-JP" altLang="en-US" dirty="0">
                  <a:latin typeface="Meiryo UI" panose="020B0604030504040204" pitchFamily="50" charset="-128"/>
                  <a:ea typeface="Meiryo UI" panose="020B0604030504040204" pitchFamily="50" charset="-128"/>
                </a:rPr>
                <a:t>立体倉庫</a:t>
              </a:r>
              <a:endParaRPr kumimoji="1" lang="en-US" altLang="ja-JP" dirty="0">
                <a:latin typeface="Meiryo UI" panose="020B0604030504040204" pitchFamily="50" charset="-128"/>
                <a:ea typeface="Meiryo UI" panose="020B0604030504040204" pitchFamily="50" charset="-128"/>
              </a:endParaRPr>
            </a:p>
          </p:txBody>
        </p:sp>
      </p:grpSp>
      <p:sp>
        <p:nvSpPr>
          <p:cNvPr id="3428" name="角丸四角形 10">
            <a:extLst>
              <a:ext uri="{FF2B5EF4-FFF2-40B4-BE49-F238E27FC236}">
                <a16:creationId xmlns:a16="http://schemas.microsoft.com/office/drawing/2014/main" id="{2A6C38A1-FF9C-4903-B389-8B7E5FAC3E70}"/>
              </a:ext>
            </a:extLst>
          </p:cNvPr>
          <p:cNvSpPr/>
          <p:nvPr/>
        </p:nvSpPr>
        <p:spPr>
          <a:xfrm>
            <a:off x="143227" y="654219"/>
            <a:ext cx="8531700" cy="1442169"/>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600"/>
              </a:lnSpc>
              <a:spcBef>
                <a:spcPts val="0"/>
              </a:spcBef>
              <a:spcAft>
                <a:spcPts val="0"/>
              </a:spcAft>
              <a:defRPr/>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・棒鋼、３加工、７線材、立体倉庫は、</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排水口から放流</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pPr eaLnBrk="1" fontAlgn="auto" hangingPunct="1">
              <a:lnSpc>
                <a:spcPts val="2600"/>
              </a:lnSpc>
              <a:spcBef>
                <a:spcPts val="0"/>
              </a:spcBef>
              <a:spcAft>
                <a:spcPts val="0"/>
              </a:spcAft>
              <a:defRPr/>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　⇒埋設配管を経由するため、</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pH</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上昇の可能性あり。（中和装置が必要）</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eaLnBrk="1" fontAlgn="auto" hangingPunct="1">
              <a:lnSpc>
                <a:spcPts val="2600"/>
              </a:lnSpc>
              <a:spcBef>
                <a:spcPts val="0"/>
              </a:spcBef>
              <a:spcAft>
                <a:spcPts val="0"/>
              </a:spcAft>
              <a:defRPr/>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NO.3</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ビレットヤード、</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KS4,5</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岸壁は、</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G2</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排水口より放流</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pPr eaLnBrk="1" fontAlgn="auto" hangingPunct="1">
              <a:lnSpc>
                <a:spcPts val="2600"/>
              </a:lnSpc>
              <a:spcBef>
                <a:spcPts val="0"/>
              </a:spcBef>
              <a:spcAft>
                <a:spcPts val="0"/>
              </a:spcAft>
              <a:defRPr/>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⇒コンクリート土間からの雨水であり、</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pH</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調整は不要</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p:txBody>
      </p:sp>
      <p:sp>
        <p:nvSpPr>
          <p:cNvPr id="3429" name="タイトル 2">
            <a:extLst>
              <a:ext uri="{FF2B5EF4-FFF2-40B4-BE49-F238E27FC236}">
                <a16:creationId xmlns:a16="http://schemas.microsoft.com/office/drawing/2014/main" id="{E74672BB-2FE1-4361-8BF5-62EEFA6E22B7}"/>
              </a:ext>
            </a:extLst>
          </p:cNvPr>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rgbClr val="002060"/>
                </a:solidFill>
                <a:latin typeface="Meiryo UI" pitchFamily="50" charset="-128"/>
                <a:ea typeface="Meiryo UI" pitchFamily="50" charset="-128"/>
                <a:cs typeface="Meiryo UI" pitchFamily="50" charset="-128"/>
              </a:rPr>
              <a:t>①排水能力の検討</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Tree>
    <p:extLst>
      <p:ext uri="{BB962C8B-B14F-4D97-AF65-F5344CB8AC3E}">
        <p14:creationId xmlns:p14="http://schemas.microsoft.com/office/powerpoint/2010/main" val="73806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角丸四角形 10">
            <a:extLst>
              <a:ext uri="{FF2B5EF4-FFF2-40B4-BE49-F238E27FC236}">
                <a16:creationId xmlns:a16="http://schemas.microsoft.com/office/drawing/2014/main" id="{F54DF251-89D1-4010-9682-6224373FED1D}"/>
              </a:ext>
            </a:extLst>
          </p:cNvPr>
          <p:cNvSpPr/>
          <p:nvPr/>
        </p:nvSpPr>
        <p:spPr>
          <a:xfrm>
            <a:off x="143227" y="557967"/>
            <a:ext cx="8791464" cy="1090585"/>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600"/>
              </a:lnSpc>
              <a:spcBef>
                <a:spcPts val="0"/>
              </a:spcBef>
              <a:spcAft>
                <a:spcPts val="0"/>
              </a:spcAft>
              <a:defRPr/>
            </a:pPr>
            <a:r>
              <a:rPr kumimoji="1" lang="en-US" altLang="ja-JP" u="sng" dirty="0">
                <a:latin typeface="Meiryo UI" panose="020B0604030504040204" pitchFamily="50" charset="-128"/>
                <a:ea typeface="Meiryo UI" panose="020B0604030504040204" pitchFamily="50" charset="-128"/>
                <a:cs typeface="Meiryo UI" panose="020B0604030504040204" pitchFamily="50" charset="-128"/>
              </a:rPr>
              <a:t>Σ{</a:t>
            </a:r>
            <a:r>
              <a:rPr kumimoji="1" lang="ja-JP" altLang="en-US" u="sng" dirty="0">
                <a:latin typeface="Meiryo UI" panose="020B0604030504040204" pitchFamily="50" charset="-128"/>
                <a:ea typeface="Meiryo UI" panose="020B0604030504040204" pitchFamily="50" charset="-128"/>
                <a:cs typeface="Meiryo UI" panose="020B0604030504040204" pitchFamily="50" charset="-128"/>
              </a:rPr>
              <a:t>（建屋面積＋道路面積＋土壌面積）</a:t>
            </a:r>
            <a:r>
              <a:rPr kumimoji="1" lang="en-US" altLang="ja-JP" u="sng"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u="sng" dirty="0">
                <a:latin typeface="Meiryo UI" panose="020B0604030504040204" pitchFamily="50" charset="-128"/>
                <a:ea typeface="Meiryo UI" panose="020B0604030504040204" pitchFamily="50" charset="-128"/>
                <a:cs typeface="Meiryo UI" panose="020B0604030504040204" pitchFamily="50" charset="-128"/>
              </a:rPr>
              <a:t>雨量</a:t>
            </a:r>
            <a:r>
              <a:rPr kumimoji="1" lang="en-US" altLang="ja-JP" u="sng"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u="sng" dirty="0">
                <a:latin typeface="Meiryo UI" panose="020B0604030504040204" pitchFamily="50" charset="-128"/>
                <a:ea typeface="Meiryo UI" panose="020B0604030504040204" pitchFamily="50" charset="-128"/>
                <a:cs typeface="Meiryo UI" panose="020B0604030504040204" pitchFamily="50" charset="-128"/>
              </a:rPr>
              <a:t>排水量</a:t>
            </a:r>
            <a:r>
              <a:rPr kumimoji="1" lang="en-US" altLang="ja-JP" u="sng" dirty="0">
                <a:latin typeface="Meiryo UI" panose="020B0604030504040204" pitchFamily="50" charset="-128"/>
                <a:ea typeface="Meiryo UI" panose="020B0604030504040204" pitchFamily="50" charset="-128"/>
                <a:cs typeface="Meiryo UI" panose="020B0604030504040204" pitchFamily="50" charset="-128"/>
              </a:rPr>
              <a:t>}</a:t>
            </a:r>
          </a:p>
          <a:p>
            <a:pPr eaLnBrk="1" fontAlgn="auto" hangingPunct="1">
              <a:lnSpc>
                <a:spcPts val="2600"/>
              </a:lnSpc>
              <a:spcBef>
                <a:spcPts val="0"/>
              </a:spcBef>
              <a:spcAft>
                <a:spcPts val="0"/>
              </a:spcAft>
              <a:defRPr/>
            </a:pPr>
            <a:r>
              <a:rPr lang="ja-JP" altLang="en-US" sz="1600" dirty="0">
                <a:solidFill>
                  <a:schemeClr val="tx1"/>
                </a:solidFill>
                <a:latin typeface="Meiryo UI" pitchFamily="50" charset="-128"/>
                <a:ea typeface="Meiryo UI" pitchFamily="50" charset="-128"/>
                <a:cs typeface="Meiryo UI" pitchFamily="50" charset="-128"/>
              </a:rPr>
              <a:t>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道路面積＋土壌面積）</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eaLnBrk="1" fontAlgn="auto" hangingPunct="1">
              <a:lnSpc>
                <a:spcPts val="2600"/>
              </a:lnSpc>
              <a:spcBef>
                <a:spcPts val="0"/>
              </a:spcBef>
              <a:spcAft>
                <a:spcPts val="0"/>
              </a:spcAft>
              <a:defRPr/>
            </a:pPr>
            <a:r>
              <a:rPr kumimoji="1" lang="en-US" altLang="ja-JP" sz="1600" b="1" dirty="0">
                <a:solidFill>
                  <a:schemeClr val="tx1"/>
                </a:solidFill>
                <a:latin typeface="Meiryo UI" panose="020B0604030504040204" pitchFamily="50" charset="-128"/>
                <a:ea typeface="Meiryo UI" panose="020B0604030504040204" pitchFamily="50" charset="-128"/>
                <a:cs typeface="Meiryo UI" pitchFamily="50" charset="-128"/>
              </a:rPr>
              <a:t>No.16</a:t>
            </a:r>
            <a:r>
              <a:rPr kumimoji="1" lang="ja-JP" altLang="en-US" sz="1600" b="1" dirty="0">
                <a:solidFill>
                  <a:schemeClr val="tx1"/>
                </a:solidFill>
                <a:latin typeface="Meiryo UI" panose="020B0604030504040204" pitchFamily="50" charset="-128"/>
                <a:ea typeface="Meiryo UI" panose="020B0604030504040204" pitchFamily="50" charset="-128"/>
                <a:cs typeface="Meiryo UI" pitchFamily="50" charset="-128"/>
              </a:rPr>
              <a:t>排水口から</a:t>
            </a:r>
            <a:r>
              <a:rPr kumimoji="1" lang="en-US" altLang="ja-JP" sz="1600" b="1" dirty="0">
                <a:solidFill>
                  <a:schemeClr val="tx1"/>
                </a:solidFill>
                <a:latin typeface="Meiryo UI" panose="020B0604030504040204" pitchFamily="50" charset="-128"/>
                <a:ea typeface="Meiryo UI" panose="020B0604030504040204" pitchFamily="50" charset="-128"/>
                <a:cs typeface="Meiryo UI" pitchFamily="50" charset="-128"/>
              </a:rPr>
              <a:t>940t/h</a:t>
            </a:r>
            <a:r>
              <a:rPr kumimoji="1" lang="ja-JP" altLang="en-US" sz="1600" b="1" dirty="0" err="1">
                <a:solidFill>
                  <a:schemeClr val="tx1"/>
                </a:solidFill>
                <a:latin typeface="Meiryo UI" panose="020B0604030504040204" pitchFamily="50" charset="-128"/>
                <a:ea typeface="Meiryo UI" panose="020B0604030504040204" pitchFamily="50" charset="-128"/>
                <a:cs typeface="Meiryo UI" pitchFamily="50" charset="-128"/>
              </a:rPr>
              <a:t>、</a:t>
            </a:r>
            <a:r>
              <a:rPr kumimoji="1" lang="en-US" altLang="ja-JP" sz="1600" b="1" dirty="0">
                <a:solidFill>
                  <a:schemeClr val="tx1"/>
                </a:solidFill>
                <a:latin typeface="Meiryo UI" panose="020B0604030504040204" pitchFamily="50" charset="-128"/>
                <a:ea typeface="Meiryo UI" panose="020B0604030504040204" pitchFamily="50" charset="-128"/>
                <a:cs typeface="Meiryo UI" pitchFamily="50" charset="-128"/>
              </a:rPr>
              <a:t>G2</a:t>
            </a:r>
            <a:r>
              <a:rPr kumimoji="1" lang="ja-JP" altLang="en-US" sz="1600" b="1" dirty="0">
                <a:solidFill>
                  <a:schemeClr val="tx1"/>
                </a:solidFill>
                <a:latin typeface="Meiryo UI" panose="020B0604030504040204" pitchFamily="50" charset="-128"/>
                <a:ea typeface="Meiryo UI" panose="020B0604030504040204" pitchFamily="50" charset="-128"/>
                <a:cs typeface="Meiryo UI" pitchFamily="50" charset="-128"/>
              </a:rPr>
              <a:t>排水口から</a:t>
            </a:r>
            <a:r>
              <a:rPr kumimoji="1" lang="en-US" altLang="ja-JP" sz="1600" b="1" dirty="0">
                <a:solidFill>
                  <a:schemeClr val="tx1"/>
                </a:solidFill>
                <a:latin typeface="Meiryo UI" panose="020B0604030504040204" pitchFamily="50" charset="-128"/>
                <a:ea typeface="Meiryo UI" panose="020B0604030504040204" pitchFamily="50" charset="-128"/>
                <a:cs typeface="Meiryo UI" pitchFamily="50" charset="-128"/>
              </a:rPr>
              <a:t>320t/h</a:t>
            </a:r>
            <a:r>
              <a:rPr kumimoji="1" lang="ja-JP" altLang="en-US" sz="1600" b="1" dirty="0">
                <a:solidFill>
                  <a:schemeClr val="tx1"/>
                </a:solidFill>
                <a:latin typeface="Meiryo UI" panose="020B0604030504040204" pitchFamily="50" charset="-128"/>
                <a:ea typeface="Meiryo UI" panose="020B0604030504040204" pitchFamily="50" charset="-128"/>
                <a:cs typeface="Meiryo UI" pitchFamily="50" charset="-128"/>
              </a:rPr>
              <a:t>放流することで冠水深さが</a:t>
            </a:r>
            <a:r>
              <a:rPr kumimoji="1" lang="en-US" altLang="ja-JP" sz="1600" b="1" dirty="0">
                <a:solidFill>
                  <a:schemeClr val="tx1"/>
                </a:solidFill>
                <a:latin typeface="Meiryo UI" panose="020B0604030504040204" pitchFamily="50" charset="-128"/>
                <a:ea typeface="Meiryo UI" panose="020B0604030504040204" pitchFamily="50" charset="-128"/>
                <a:cs typeface="Meiryo UI" pitchFamily="50" charset="-128"/>
              </a:rPr>
              <a:t>150</a:t>
            </a:r>
            <a:r>
              <a:rPr kumimoji="1" lang="ja-JP" altLang="en-US" sz="1600" b="1" dirty="0">
                <a:solidFill>
                  <a:schemeClr val="tx1"/>
                </a:solidFill>
                <a:latin typeface="Meiryo UI" panose="020B0604030504040204" pitchFamily="50" charset="-128"/>
                <a:ea typeface="Meiryo UI" panose="020B0604030504040204" pitchFamily="50" charset="-128"/>
                <a:cs typeface="Meiryo UI" pitchFamily="50" charset="-128"/>
              </a:rPr>
              <a:t>㎜となる。</a:t>
            </a:r>
            <a:endParaRPr kumimoji="1" lang="en-US" altLang="ja-JP" sz="1600" b="1" dirty="0">
              <a:solidFill>
                <a:schemeClr val="tx1"/>
              </a:solidFill>
              <a:latin typeface="Meiryo UI" pitchFamily="50" charset="-128"/>
              <a:ea typeface="Meiryo UI" pitchFamily="50" charset="-128"/>
              <a:cs typeface="Meiryo UI" pitchFamily="50" charset="-128"/>
            </a:endParaRPr>
          </a:p>
        </p:txBody>
      </p:sp>
      <p:sp>
        <p:nvSpPr>
          <p:cNvPr id="17" name="テキスト ボックス 16">
            <a:extLst>
              <a:ext uri="{FF2B5EF4-FFF2-40B4-BE49-F238E27FC236}">
                <a16:creationId xmlns:a16="http://schemas.microsoft.com/office/drawing/2014/main" id="{5498C053-DA29-4B70-939B-8DE574917B52}"/>
              </a:ext>
            </a:extLst>
          </p:cNvPr>
          <p:cNvSpPr txBox="1"/>
          <p:nvPr/>
        </p:nvSpPr>
        <p:spPr>
          <a:xfrm>
            <a:off x="5903495" y="737937"/>
            <a:ext cx="2771432"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で冠水深さ（平均）を算出</a:t>
            </a:r>
          </a:p>
        </p:txBody>
      </p:sp>
      <p:grpSp>
        <p:nvGrpSpPr>
          <p:cNvPr id="22" name="グループ化 21">
            <a:extLst>
              <a:ext uri="{FF2B5EF4-FFF2-40B4-BE49-F238E27FC236}">
                <a16:creationId xmlns:a16="http://schemas.microsoft.com/office/drawing/2014/main" id="{2AAE0920-0160-46CE-AD70-9059AFD52777}"/>
              </a:ext>
            </a:extLst>
          </p:cNvPr>
          <p:cNvGrpSpPr/>
          <p:nvPr/>
        </p:nvGrpSpPr>
        <p:grpSpPr>
          <a:xfrm>
            <a:off x="143227" y="1828800"/>
            <a:ext cx="9465349" cy="5060863"/>
            <a:chOff x="143227" y="1360078"/>
            <a:chExt cx="9465349" cy="5529585"/>
          </a:xfrm>
        </p:grpSpPr>
        <p:sp>
          <p:nvSpPr>
            <p:cNvPr id="19" name="正方形/長方形 18">
              <a:extLst>
                <a:ext uri="{FF2B5EF4-FFF2-40B4-BE49-F238E27FC236}">
                  <a16:creationId xmlns:a16="http://schemas.microsoft.com/office/drawing/2014/main" id="{E86B9C78-CC64-4AE5-B6A0-6E36679DB5FD}"/>
                </a:ext>
              </a:extLst>
            </p:cNvPr>
            <p:cNvSpPr/>
            <p:nvPr/>
          </p:nvSpPr>
          <p:spPr bwMode="auto">
            <a:xfrm>
              <a:off x="143227" y="1392162"/>
              <a:ext cx="8887716" cy="2965123"/>
            </a:xfrm>
            <a:prstGeom prst="rect">
              <a:avLst/>
            </a:prstGeom>
            <a:solidFill>
              <a:schemeClr val="accent1">
                <a:alpha val="16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20" name="正方形/長方形 19">
              <a:extLst>
                <a:ext uri="{FF2B5EF4-FFF2-40B4-BE49-F238E27FC236}">
                  <a16:creationId xmlns:a16="http://schemas.microsoft.com/office/drawing/2014/main" id="{D7836CC3-929D-4F18-9942-EF66B4AADA61}"/>
                </a:ext>
              </a:extLst>
            </p:cNvPr>
            <p:cNvSpPr/>
            <p:nvPr/>
          </p:nvSpPr>
          <p:spPr bwMode="auto">
            <a:xfrm>
              <a:off x="144378" y="4347919"/>
              <a:ext cx="8887716" cy="2541744"/>
            </a:xfrm>
            <a:prstGeom prst="rect">
              <a:avLst/>
            </a:prstGeom>
            <a:solidFill>
              <a:schemeClr val="accent2">
                <a:alpha val="16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aphicFrame>
          <p:nvGraphicFramePr>
            <p:cNvPr id="2" name="グラフ 1">
              <a:extLst>
                <a:ext uri="{FF2B5EF4-FFF2-40B4-BE49-F238E27FC236}">
                  <a16:creationId xmlns:a16="http://schemas.microsoft.com/office/drawing/2014/main" id="{C0A5D30F-F69D-4C41-ACDF-F1A1F98B56D5}"/>
                </a:ext>
              </a:extLst>
            </p:cNvPr>
            <p:cNvGraphicFramePr>
              <a:graphicFrameLocks/>
            </p:cNvGraphicFramePr>
            <p:nvPr>
              <p:extLst>
                <p:ext uri="{D42A27DB-BD31-4B8C-83A1-F6EECF244321}">
                  <p14:modId xmlns:p14="http://schemas.microsoft.com/office/powerpoint/2010/main" val="2359103043"/>
                </p:ext>
              </p:extLst>
            </p:nvPr>
          </p:nvGraphicFramePr>
          <p:xfrm>
            <a:off x="209308" y="1603353"/>
            <a:ext cx="8725383" cy="2581501"/>
          </p:xfrm>
          <a:graphic>
            <a:graphicData uri="http://schemas.openxmlformats.org/drawingml/2006/chart">
              <c:chart xmlns:c="http://schemas.openxmlformats.org/drawingml/2006/chart" xmlns:r="http://schemas.openxmlformats.org/officeDocument/2006/relationships" r:id="rId2"/>
            </a:graphicData>
          </a:graphic>
        </p:graphicFrame>
        <p:sp>
          <p:nvSpPr>
            <p:cNvPr id="3" name="下矢印 3">
              <a:extLst>
                <a:ext uri="{FF2B5EF4-FFF2-40B4-BE49-F238E27FC236}">
                  <a16:creationId xmlns:a16="http://schemas.microsoft.com/office/drawing/2014/main" id="{6AAFFDFE-9FC5-4C0F-B4BB-5E53695A70B4}"/>
                </a:ext>
              </a:extLst>
            </p:cNvPr>
            <p:cNvSpPr/>
            <p:nvPr/>
          </p:nvSpPr>
          <p:spPr bwMode="auto">
            <a:xfrm>
              <a:off x="3836068" y="2224392"/>
              <a:ext cx="161925" cy="762000"/>
            </a:xfrm>
            <a:prstGeom prst="down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5" name="テキスト ボックス 4">
              <a:extLst>
                <a:ext uri="{FF2B5EF4-FFF2-40B4-BE49-F238E27FC236}">
                  <a16:creationId xmlns:a16="http://schemas.microsoft.com/office/drawing/2014/main" id="{92A13272-F30E-4B2C-AC64-5D91A4A67592}"/>
                </a:ext>
              </a:extLst>
            </p:cNvPr>
            <p:cNvSpPr txBox="1"/>
            <p:nvPr/>
          </p:nvSpPr>
          <p:spPr>
            <a:xfrm>
              <a:off x="481262" y="1360078"/>
              <a:ext cx="5991598"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棒鋼、３加工、７線材、立体倉庫エリア（</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排水口）</a:t>
              </a:r>
              <a:endParaRPr kumimoji="1" lang="ja-JP" altLang="en-US" dirty="0"/>
            </a:p>
          </p:txBody>
        </p:sp>
        <p:graphicFrame>
          <p:nvGraphicFramePr>
            <p:cNvPr id="7" name="グラフ 6">
              <a:extLst>
                <a:ext uri="{FF2B5EF4-FFF2-40B4-BE49-F238E27FC236}">
                  <a16:creationId xmlns:a16="http://schemas.microsoft.com/office/drawing/2014/main" id="{00000000-0008-0000-0100-00008B000000}"/>
                </a:ext>
              </a:extLst>
            </p:cNvPr>
            <p:cNvGraphicFramePr>
              <a:graphicFrameLocks/>
            </p:cNvGraphicFramePr>
            <p:nvPr>
              <p:extLst>
                <p:ext uri="{D42A27DB-BD31-4B8C-83A1-F6EECF244321}">
                  <p14:modId xmlns:p14="http://schemas.microsoft.com/office/powerpoint/2010/main" val="4110895779"/>
                </p:ext>
              </p:extLst>
            </p:nvPr>
          </p:nvGraphicFramePr>
          <p:xfrm>
            <a:off x="209308" y="4042608"/>
            <a:ext cx="8821635" cy="2426607"/>
          </p:xfrm>
          <a:graphic>
            <a:graphicData uri="http://schemas.openxmlformats.org/drawingml/2006/chart">
              <c:chart xmlns:c="http://schemas.openxmlformats.org/drawingml/2006/chart" xmlns:r="http://schemas.openxmlformats.org/officeDocument/2006/relationships" r:id="rId3"/>
            </a:graphicData>
          </a:graphic>
        </p:graphicFrame>
        <p:sp>
          <p:nvSpPr>
            <p:cNvPr id="8" name="テキスト ボックス 139">
              <a:extLst>
                <a:ext uri="{FF2B5EF4-FFF2-40B4-BE49-F238E27FC236}">
                  <a16:creationId xmlns:a16="http://schemas.microsoft.com/office/drawing/2014/main" id="{00000000-0008-0000-0100-00008C000000}"/>
                </a:ext>
              </a:extLst>
            </p:cNvPr>
            <p:cNvSpPr txBox="1"/>
            <p:nvPr/>
          </p:nvSpPr>
          <p:spPr>
            <a:xfrm>
              <a:off x="6697948" y="4410039"/>
              <a:ext cx="2910628" cy="27647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kumimoji="1" lang="ja-JP" altLang="ja-JP" sz="1400" dirty="0">
                  <a:solidFill>
                    <a:schemeClr val="dk1"/>
                  </a:solidFill>
                  <a:effectLst/>
                  <a:latin typeface="Meiryo UI" panose="020B0604030504040204" pitchFamily="50" charset="-128"/>
                  <a:ea typeface="Meiryo UI" panose="020B0604030504040204" pitchFamily="50" charset="-128"/>
                </a:rPr>
                <a:t>（排水能力</a:t>
              </a:r>
              <a:r>
                <a:rPr kumimoji="1" lang="ja-JP" altLang="en-US" sz="1400" dirty="0">
                  <a:solidFill>
                    <a:schemeClr val="dk1"/>
                  </a:solidFill>
                  <a:effectLst/>
                  <a:latin typeface="Meiryo UI" panose="020B0604030504040204" pitchFamily="50" charset="-128"/>
                  <a:ea typeface="Meiryo UI" panose="020B0604030504040204" pitchFamily="50" charset="-128"/>
                </a:rPr>
                <a:t>なし</a:t>
              </a:r>
              <a:r>
                <a:rPr kumimoji="1" lang="ja-JP" altLang="ja-JP" sz="1400" dirty="0">
                  <a:solidFill>
                    <a:schemeClr val="dk1"/>
                  </a:solidFill>
                  <a:effectLst/>
                  <a:latin typeface="Meiryo UI" panose="020B0604030504040204" pitchFamily="50" charset="-128"/>
                  <a:ea typeface="Meiryo UI" panose="020B0604030504040204" pitchFamily="50" charset="-128"/>
                </a:rPr>
                <a:t>）</a:t>
              </a:r>
              <a:endParaRPr lang="ja-JP" altLang="ja-JP" sz="1400" dirty="0">
                <a:effectLst/>
                <a:latin typeface="Meiryo UI" panose="020B0604030504040204" pitchFamily="50" charset="-128"/>
                <a:ea typeface="Meiryo UI" panose="020B0604030504040204" pitchFamily="50" charset="-128"/>
              </a:endParaRPr>
            </a:p>
            <a:p>
              <a:endParaRPr kumimoji="1" lang="ja-JP" altLang="en-US" sz="1400"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E841FB28-7E1C-4F94-BDD1-0AEB2EE9A679}"/>
                </a:ext>
              </a:extLst>
            </p:cNvPr>
            <p:cNvSpPr txBox="1"/>
            <p:nvPr/>
          </p:nvSpPr>
          <p:spPr>
            <a:xfrm>
              <a:off x="742525" y="4354565"/>
              <a:ext cx="4803846"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No.3</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ビレットヤード、</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KS4,5</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エリア（</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G2</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排水口）</a:t>
              </a:r>
              <a:endParaRPr kumimoji="1" lang="ja-JP" altLang="en-US" dirty="0"/>
            </a:p>
          </p:txBody>
        </p:sp>
        <p:sp>
          <p:nvSpPr>
            <p:cNvPr id="12" name="テキスト ボックス 11">
              <a:extLst>
                <a:ext uri="{FF2B5EF4-FFF2-40B4-BE49-F238E27FC236}">
                  <a16:creationId xmlns:a16="http://schemas.microsoft.com/office/drawing/2014/main" id="{7CE86FBF-BCE3-48DF-86C2-A9488B220477}"/>
                </a:ext>
              </a:extLst>
            </p:cNvPr>
            <p:cNvSpPr txBox="1"/>
            <p:nvPr/>
          </p:nvSpPr>
          <p:spPr>
            <a:xfrm>
              <a:off x="3997993" y="2401214"/>
              <a:ext cx="2759243"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排水能力</a:t>
              </a:r>
              <a:r>
                <a:rPr kumimoji="1" lang="en-US" altLang="ja-JP" dirty="0">
                  <a:latin typeface="Meiryo UI" panose="020B0604030504040204" pitchFamily="50" charset="-128"/>
                  <a:ea typeface="Meiryo UI" panose="020B0604030504040204" pitchFamily="50" charset="-128"/>
                </a:rPr>
                <a:t>400</a:t>
              </a:r>
              <a:r>
                <a:rPr kumimoji="1"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940t/h</a:t>
              </a:r>
              <a:endParaRPr kumimoji="1" lang="ja-JP" altLang="en-US" dirty="0">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F9DDF44C-2787-4C18-9336-136E1CEE303A}"/>
                </a:ext>
              </a:extLst>
            </p:cNvPr>
            <p:cNvSpPr txBox="1"/>
            <p:nvPr/>
          </p:nvSpPr>
          <p:spPr>
            <a:xfrm>
              <a:off x="4267198" y="5145192"/>
              <a:ext cx="2759243"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排水能力</a:t>
              </a:r>
              <a:r>
                <a:rPr kumimoji="1" lang="en-US" altLang="ja-JP" dirty="0">
                  <a:latin typeface="Meiryo UI" panose="020B0604030504040204" pitchFamily="50" charset="-128"/>
                  <a:ea typeface="Meiryo UI" panose="020B0604030504040204" pitchFamily="50" charset="-128"/>
                </a:rPr>
                <a:t>0</a:t>
              </a:r>
              <a:r>
                <a:rPr kumimoji="1"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320t/h</a:t>
              </a:r>
              <a:endParaRPr kumimoji="1" lang="ja-JP" altLang="en-US" dirty="0">
                <a:latin typeface="Meiryo UI" panose="020B0604030504040204" pitchFamily="50" charset="-128"/>
                <a:ea typeface="Meiryo UI" panose="020B0604030504040204" pitchFamily="50" charset="-128"/>
              </a:endParaRPr>
            </a:p>
          </p:txBody>
        </p:sp>
        <p:sp>
          <p:nvSpPr>
            <p:cNvPr id="14" name="下矢印 3">
              <a:extLst>
                <a:ext uri="{FF2B5EF4-FFF2-40B4-BE49-F238E27FC236}">
                  <a16:creationId xmlns:a16="http://schemas.microsoft.com/office/drawing/2014/main" id="{98076E30-880E-459A-AEEA-0E26CD81D5AA}"/>
                </a:ext>
              </a:extLst>
            </p:cNvPr>
            <p:cNvSpPr/>
            <p:nvPr/>
          </p:nvSpPr>
          <p:spPr bwMode="auto">
            <a:xfrm>
              <a:off x="3820778" y="5111474"/>
              <a:ext cx="221833" cy="504499"/>
            </a:xfrm>
            <a:prstGeom prst="down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8" name="テキスト ボックス 17">
              <a:extLst>
                <a:ext uri="{FF2B5EF4-FFF2-40B4-BE49-F238E27FC236}">
                  <a16:creationId xmlns:a16="http://schemas.microsoft.com/office/drawing/2014/main" id="{1E62C8A4-D55B-4E0D-AC4F-727F021AB036}"/>
                </a:ext>
              </a:extLst>
            </p:cNvPr>
            <p:cNvSpPr txBox="1"/>
            <p:nvPr/>
          </p:nvSpPr>
          <p:spPr>
            <a:xfrm>
              <a:off x="3224464" y="6520752"/>
              <a:ext cx="6159024"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G2</a:t>
              </a:r>
              <a:r>
                <a:rPr kumimoji="1" lang="ja-JP" altLang="en-US" sz="1600" dirty="0">
                  <a:latin typeface="Meiryo UI" panose="020B0604030504040204" pitchFamily="50" charset="-128"/>
                  <a:ea typeface="Meiryo UI" panose="020B0604030504040204" pitchFamily="50" charset="-128"/>
                </a:rPr>
                <a:t>排水施設は、</a:t>
              </a:r>
              <a:r>
                <a:rPr kumimoji="1" lang="en-US" altLang="ja-JP" sz="1600" dirty="0">
                  <a:latin typeface="Meiryo UI" panose="020B0604030504040204" pitchFamily="50" charset="-128"/>
                  <a:ea typeface="Meiryo UI" panose="020B0604030504040204" pitchFamily="50" charset="-128"/>
                </a:rPr>
                <a:t>G</a:t>
              </a:r>
              <a:r>
                <a:rPr kumimoji="1" lang="ja-JP" altLang="en-US" sz="1600" dirty="0">
                  <a:latin typeface="Meiryo UI" panose="020B0604030504040204" pitchFamily="50" charset="-128"/>
                  <a:ea typeface="Meiryo UI" panose="020B0604030504040204" pitchFamily="50" charset="-128"/>
                </a:rPr>
                <a:t>プロ予算にて’</a:t>
              </a:r>
              <a:r>
                <a:rPr kumimoji="1" lang="en-US" altLang="ja-JP" sz="1600" dirty="0">
                  <a:latin typeface="Meiryo UI" panose="020B0604030504040204" pitchFamily="50" charset="-128"/>
                  <a:ea typeface="Meiryo UI" panose="020B0604030504040204" pitchFamily="50" charset="-128"/>
                </a:rPr>
                <a:t>19</a:t>
              </a:r>
              <a:r>
                <a:rPr kumimoji="1" lang="ja-JP" altLang="en-US" sz="1600" dirty="0">
                  <a:latin typeface="Meiryo UI" panose="020B0604030504040204" pitchFamily="50" charset="-128"/>
                  <a:ea typeface="Meiryo UI" panose="020B0604030504040204" pitchFamily="50" charset="-128"/>
                </a:rPr>
                <a:t>年</a:t>
              </a:r>
              <a:r>
                <a:rPr kumimoji="1" lang="en-US" altLang="ja-JP" sz="1600" dirty="0">
                  <a:latin typeface="Meiryo UI" panose="020B0604030504040204" pitchFamily="50" charset="-128"/>
                  <a:ea typeface="Meiryo UI" panose="020B0604030504040204" pitchFamily="50" charset="-128"/>
                </a:rPr>
                <a:t>6</a:t>
              </a:r>
              <a:r>
                <a:rPr kumimoji="1" lang="ja-JP" altLang="en-US" sz="1600" dirty="0">
                  <a:latin typeface="Meiryo UI" panose="020B0604030504040204" pitchFamily="50" charset="-128"/>
                  <a:ea typeface="Meiryo UI" panose="020B0604030504040204" pitchFamily="50" charset="-128"/>
                </a:rPr>
                <a:t>月末完成予定（</a:t>
              </a:r>
              <a:r>
                <a:rPr kumimoji="1" lang="en-US" altLang="ja-JP" sz="1600" dirty="0">
                  <a:latin typeface="Meiryo UI" panose="020B0604030504040204" pitchFamily="50" charset="-128"/>
                  <a:ea typeface="Meiryo UI" panose="020B0604030504040204" pitchFamily="50" charset="-128"/>
                </a:rPr>
                <a:t>94</a:t>
              </a:r>
              <a:r>
                <a:rPr kumimoji="1" lang="ja-JP" altLang="en-US" sz="1600" dirty="0">
                  <a:latin typeface="Meiryo UI" panose="020B0604030504040204" pitchFamily="50" charset="-128"/>
                  <a:ea typeface="Meiryo UI" panose="020B0604030504040204" pitchFamily="50" charset="-128"/>
                </a:rPr>
                <a:t>百万円）</a:t>
              </a:r>
            </a:p>
          </p:txBody>
        </p:sp>
      </p:grpSp>
      <p:sp>
        <p:nvSpPr>
          <p:cNvPr id="21" name="タイトル 2">
            <a:extLst>
              <a:ext uri="{FF2B5EF4-FFF2-40B4-BE49-F238E27FC236}">
                <a16:creationId xmlns:a16="http://schemas.microsoft.com/office/drawing/2014/main" id="{C35BADD2-F5C7-405C-9BBE-17B2ECCA27FB}"/>
              </a:ext>
            </a:extLst>
          </p:cNvPr>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rgbClr val="002060"/>
                </a:solidFill>
                <a:latin typeface="Meiryo UI" pitchFamily="50" charset="-128"/>
                <a:ea typeface="Meiryo UI" pitchFamily="50" charset="-128"/>
                <a:cs typeface="Meiryo UI" pitchFamily="50" charset="-128"/>
              </a:rPr>
              <a:t>①排水能力の検討</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23" name="四角形吹き出し 8">
            <a:extLst>
              <a:ext uri="{FF2B5EF4-FFF2-40B4-BE49-F238E27FC236}">
                <a16:creationId xmlns:a16="http://schemas.microsoft.com/office/drawing/2014/main" id="{936088FF-E71A-4C42-B104-E6FE6A2ACEEF}"/>
              </a:ext>
            </a:extLst>
          </p:cNvPr>
          <p:cNvSpPr/>
          <p:nvPr/>
        </p:nvSpPr>
        <p:spPr>
          <a:xfrm>
            <a:off x="5227395" y="4610123"/>
            <a:ext cx="1643426" cy="285884"/>
          </a:xfrm>
          <a:prstGeom prst="wedgeRectCallout">
            <a:avLst>
              <a:gd name="adj1" fmla="val -46753"/>
              <a:gd name="adj2" fmla="val -25424"/>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冠水深さ</a:t>
            </a:r>
            <a:r>
              <a:rPr kumimoji="1" lang="en-US" altLang="ja-JP"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474</a:t>
            </a:r>
            <a:r>
              <a:rPr kumimoji="1"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ｍｍ</a:t>
            </a:r>
          </a:p>
        </p:txBody>
      </p:sp>
    </p:spTree>
    <p:extLst>
      <p:ext uri="{BB962C8B-B14F-4D97-AF65-F5344CB8AC3E}">
        <p14:creationId xmlns:p14="http://schemas.microsoft.com/office/powerpoint/2010/main" val="2211655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テキスト ボックス 147">
            <a:extLst>
              <a:ext uri="{FF2B5EF4-FFF2-40B4-BE49-F238E27FC236}">
                <a16:creationId xmlns:a16="http://schemas.microsoft.com/office/drawing/2014/main" id="{585139BD-58B8-4A24-9BAF-69B1ED2163D3}"/>
              </a:ext>
            </a:extLst>
          </p:cNvPr>
          <p:cNvSpPr txBox="1"/>
          <p:nvPr/>
        </p:nvSpPr>
        <p:spPr>
          <a:xfrm>
            <a:off x="4498512" y="1728636"/>
            <a:ext cx="1519779" cy="391628"/>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6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600" b="1" dirty="0">
                <a:latin typeface="Meiryo UI" panose="020B0604030504040204" pitchFamily="50" charset="-128"/>
                <a:ea typeface="Meiryo UI" panose="020B0604030504040204" pitchFamily="50" charset="-128"/>
                <a:cs typeface="Meiryo UI" panose="020B0604030504040204" pitchFamily="50" charset="-128"/>
              </a:rPr>
              <a:t>16</a:t>
            </a:r>
            <a:r>
              <a:rPr lang="ja-JP" altLang="en-US" sz="1600" b="1" dirty="0">
                <a:latin typeface="Meiryo UI" panose="020B0604030504040204" pitchFamily="50" charset="-128"/>
                <a:ea typeface="Meiryo UI" panose="020B0604030504040204" pitchFamily="50" charset="-128"/>
                <a:cs typeface="Meiryo UI" panose="020B0604030504040204" pitchFamily="50" charset="-128"/>
              </a:rPr>
              <a:t>排水口</a:t>
            </a:r>
            <a:endParaRPr lang="en-US" altLang="ja-JP" sz="16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テキスト ボックス 104">
            <a:extLst>
              <a:ext uri="{FF2B5EF4-FFF2-40B4-BE49-F238E27FC236}">
                <a16:creationId xmlns:a16="http://schemas.microsoft.com/office/drawing/2014/main" id="{B7F1DDFE-F29C-49C1-AA1B-F1E8A2D62CCE}"/>
              </a:ext>
            </a:extLst>
          </p:cNvPr>
          <p:cNvSpPr txBox="1"/>
          <p:nvPr/>
        </p:nvSpPr>
        <p:spPr>
          <a:xfrm>
            <a:off x="2619778" y="3314973"/>
            <a:ext cx="837904" cy="750700"/>
          </a:xfrm>
          <a:prstGeom prst="rect">
            <a:avLst/>
          </a:prstGeom>
          <a:solidFill>
            <a:schemeClr val="bg1"/>
          </a:solidFill>
          <a:ln>
            <a:solidFill>
              <a:schemeClr val="tx1"/>
            </a:solidFill>
          </a:ln>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中和</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装置①</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105">
            <a:extLst>
              <a:ext uri="{FF2B5EF4-FFF2-40B4-BE49-F238E27FC236}">
                <a16:creationId xmlns:a16="http://schemas.microsoft.com/office/drawing/2014/main" id="{D19B03C1-A9D5-4B4F-BEBB-C363739CED28}"/>
              </a:ext>
            </a:extLst>
          </p:cNvPr>
          <p:cNvSpPr txBox="1"/>
          <p:nvPr/>
        </p:nvSpPr>
        <p:spPr>
          <a:xfrm>
            <a:off x="3646108" y="3314973"/>
            <a:ext cx="1068736" cy="750700"/>
          </a:xfrm>
          <a:prstGeom prst="rect">
            <a:avLst/>
          </a:prstGeom>
          <a:solidFill>
            <a:schemeClr val="bg1"/>
          </a:solidFill>
          <a:ln>
            <a:solidFill>
              <a:schemeClr val="tx1"/>
            </a:solidFill>
          </a:ln>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油水</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分離槽①</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ボックス 106">
            <a:extLst>
              <a:ext uri="{FF2B5EF4-FFF2-40B4-BE49-F238E27FC236}">
                <a16:creationId xmlns:a16="http://schemas.microsoft.com/office/drawing/2014/main" id="{0170945E-F17A-4137-BDC9-0CE7BD6E8E04}"/>
              </a:ext>
            </a:extLst>
          </p:cNvPr>
          <p:cNvSpPr txBox="1"/>
          <p:nvPr/>
        </p:nvSpPr>
        <p:spPr>
          <a:xfrm>
            <a:off x="2620655" y="4279405"/>
            <a:ext cx="837904" cy="750700"/>
          </a:xfrm>
          <a:prstGeom prst="rect">
            <a:avLst/>
          </a:prstGeom>
          <a:solidFill>
            <a:schemeClr val="bg1"/>
          </a:solidFill>
          <a:ln>
            <a:solidFill>
              <a:schemeClr val="tx1"/>
            </a:solidFill>
          </a:ln>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a:latin typeface="Meiryo UI" panose="020B0604030504040204" pitchFamily="50" charset="-128"/>
                <a:ea typeface="Meiryo UI" panose="020B0604030504040204" pitchFamily="50" charset="-128"/>
                <a:cs typeface="Meiryo UI" panose="020B0604030504040204" pitchFamily="50" charset="-128"/>
              </a:rPr>
              <a:t>中和</a:t>
            </a:r>
            <a:endParaRPr lang="en-US" altLang="ja-JP" sz="180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ja-JP" altLang="en-US" sz="1800">
                <a:latin typeface="Meiryo UI" panose="020B0604030504040204" pitchFamily="50" charset="-128"/>
                <a:ea typeface="Meiryo UI" panose="020B0604030504040204" pitchFamily="50" charset="-128"/>
                <a:cs typeface="Meiryo UI" panose="020B0604030504040204" pitchFamily="50" charset="-128"/>
              </a:rPr>
              <a:t>装置②</a:t>
            </a:r>
            <a:endParaRPr lang="en-US" altLang="ja-JP" sz="1800">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テキスト ボックス 107">
            <a:extLst>
              <a:ext uri="{FF2B5EF4-FFF2-40B4-BE49-F238E27FC236}">
                <a16:creationId xmlns:a16="http://schemas.microsoft.com/office/drawing/2014/main" id="{C0C352CD-6BDF-4A83-A09E-3B79578DC0E7}"/>
              </a:ext>
            </a:extLst>
          </p:cNvPr>
          <p:cNvSpPr txBox="1"/>
          <p:nvPr/>
        </p:nvSpPr>
        <p:spPr>
          <a:xfrm>
            <a:off x="3634960" y="4279405"/>
            <a:ext cx="1068736" cy="750700"/>
          </a:xfrm>
          <a:prstGeom prst="rect">
            <a:avLst/>
          </a:prstGeom>
          <a:solidFill>
            <a:schemeClr val="bg1"/>
          </a:solidFill>
          <a:ln>
            <a:solidFill>
              <a:schemeClr val="tx1"/>
            </a:solidFill>
          </a:ln>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油水</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分離槽②</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0" name="直線矢印コネクタ 9">
            <a:extLst>
              <a:ext uri="{FF2B5EF4-FFF2-40B4-BE49-F238E27FC236}">
                <a16:creationId xmlns:a16="http://schemas.microsoft.com/office/drawing/2014/main" id="{B270F8BC-906D-418F-80E6-021F95681E51}"/>
              </a:ext>
            </a:extLst>
          </p:cNvPr>
          <p:cNvCxnSpPr>
            <a:cxnSpLocks/>
          </p:cNvCxnSpPr>
          <p:nvPr/>
        </p:nvCxnSpPr>
        <p:spPr>
          <a:xfrm flipV="1">
            <a:off x="1970497" y="3565553"/>
            <a:ext cx="637498"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0A3C5921-DA06-4EE8-9BA8-73B23785B3B9}"/>
              </a:ext>
            </a:extLst>
          </p:cNvPr>
          <p:cNvCxnSpPr/>
          <p:nvPr/>
        </p:nvCxnSpPr>
        <p:spPr>
          <a:xfrm>
            <a:off x="3164364" y="3565553"/>
            <a:ext cx="470596"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EEE624D-D138-45AB-87D8-03A4D7506092}"/>
              </a:ext>
            </a:extLst>
          </p:cNvPr>
          <p:cNvCxnSpPr/>
          <p:nvPr/>
        </p:nvCxnSpPr>
        <p:spPr>
          <a:xfrm>
            <a:off x="3167490" y="4481653"/>
            <a:ext cx="467470"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13" name="フリーフォーム 35">
            <a:extLst>
              <a:ext uri="{FF2B5EF4-FFF2-40B4-BE49-F238E27FC236}">
                <a16:creationId xmlns:a16="http://schemas.microsoft.com/office/drawing/2014/main" id="{3E9D7382-B388-4AF8-8B8B-F5D5C9959F68}"/>
              </a:ext>
            </a:extLst>
          </p:cNvPr>
          <p:cNvSpPr/>
          <p:nvPr/>
        </p:nvSpPr>
        <p:spPr>
          <a:xfrm>
            <a:off x="4142258" y="2285182"/>
            <a:ext cx="892660" cy="2201047"/>
          </a:xfrm>
          <a:custGeom>
            <a:avLst/>
            <a:gdLst>
              <a:gd name="connsiteX0" fmla="*/ 0 w 152400"/>
              <a:gd name="connsiteY0" fmla="*/ 400050 h 400050"/>
              <a:gd name="connsiteX1" fmla="*/ 152400 w 152400"/>
              <a:gd name="connsiteY1" fmla="*/ 400050 h 400050"/>
              <a:gd name="connsiteX2" fmla="*/ 152400 w 152400"/>
              <a:gd name="connsiteY2" fmla="*/ 0 h 400050"/>
            </a:gdLst>
            <a:ahLst/>
            <a:cxnLst>
              <a:cxn ang="0">
                <a:pos x="connsiteX0" y="connsiteY0"/>
              </a:cxn>
              <a:cxn ang="0">
                <a:pos x="connsiteX1" y="connsiteY1"/>
              </a:cxn>
              <a:cxn ang="0">
                <a:pos x="connsiteX2" y="connsiteY2"/>
              </a:cxn>
            </a:cxnLst>
            <a:rect l="l" t="t" r="r" b="b"/>
            <a:pathLst>
              <a:path w="152400" h="400050">
                <a:moveTo>
                  <a:pt x="0" y="400050"/>
                </a:moveTo>
                <a:lnTo>
                  <a:pt x="152400" y="400050"/>
                </a:lnTo>
                <a:lnTo>
                  <a:pt x="152400" y="0"/>
                </a:lnTo>
              </a:path>
            </a:pathLst>
          </a:custGeom>
          <a:noFill/>
          <a:ln w="9525">
            <a:solidFill>
              <a:schemeClr val="tx1"/>
            </a:solidFill>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800">
              <a:solidFill>
                <a:schemeClr val="tx1"/>
              </a:solidFill>
            </a:endParaRPr>
          </a:p>
        </p:txBody>
      </p:sp>
      <p:sp>
        <p:nvSpPr>
          <p:cNvPr id="17" name="テキスト ボックス 146">
            <a:extLst>
              <a:ext uri="{FF2B5EF4-FFF2-40B4-BE49-F238E27FC236}">
                <a16:creationId xmlns:a16="http://schemas.microsoft.com/office/drawing/2014/main" id="{555F4730-1C02-41E7-9E81-A831F020D986}"/>
              </a:ext>
            </a:extLst>
          </p:cNvPr>
          <p:cNvSpPr txBox="1"/>
          <p:nvPr/>
        </p:nvSpPr>
        <p:spPr>
          <a:xfrm>
            <a:off x="1524639" y="4067826"/>
            <a:ext cx="1077608" cy="422405"/>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200t/h</a:t>
            </a:r>
          </a:p>
        </p:txBody>
      </p:sp>
      <p:sp>
        <p:nvSpPr>
          <p:cNvPr id="18" name="テキスト ボックス 147">
            <a:extLst>
              <a:ext uri="{FF2B5EF4-FFF2-40B4-BE49-F238E27FC236}">
                <a16:creationId xmlns:a16="http://schemas.microsoft.com/office/drawing/2014/main" id="{D059F80F-33A8-4333-BEB3-EEA923B205DC}"/>
              </a:ext>
            </a:extLst>
          </p:cNvPr>
          <p:cNvSpPr txBox="1"/>
          <p:nvPr/>
        </p:nvSpPr>
        <p:spPr>
          <a:xfrm>
            <a:off x="1463659" y="3193090"/>
            <a:ext cx="1085471" cy="422405"/>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200t/h</a:t>
            </a:r>
          </a:p>
        </p:txBody>
      </p:sp>
      <p:cxnSp>
        <p:nvCxnSpPr>
          <p:cNvPr id="25" name="直線矢印コネクタ 24">
            <a:extLst>
              <a:ext uri="{FF2B5EF4-FFF2-40B4-BE49-F238E27FC236}">
                <a16:creationId xmlns:a16="http://schemas.microsoft.com/office/drawing/2014/main" id="{6B8C0019-BB33-4326-B581-A394ACC47FAA}"/>
              </a:ext>
            </a:extLst>
          </p:cNvPr>
          <p:cNvCxnSpPr>
            <a:cxnSpLocks/>
          </p:cNvCxnSpPr>
          <p:nvPr/>
        </p:nvCxnSpPr>
        <p:spPr>
          <a:xfrm flipV="1">
            <a:off x="4103755" y="3044740"/>
            <a:ext cx="0" cy="411761"/>
          </a:xfrm>
          <a:prstGeom prst="straightConnector1">
            <a:avLst/>
          </a:prstGeom>
          <a:ln>
            <a:solidFill>
              <a:schemeClr val="tx1"/>
            </a:solidFill>
            <a:prstDash val="solid"/>
            <a:headEnd type="oval"/>
            <a:tailEnd type="none" w="sm" len="lg"/>
          </a:ln>
        </p:spPr>
        <p:style>
          <a:lnRef idx="1">
            <a:schemeClr val="accent1"/>
          </a:lnRef>
          <a:fillRef idx="0">
            <a:schemeClr val="accent1"/>
          </a:fillRef>
          <a:effectRef idx="0">
            <a:schemeClr val="accent1"/>
          </a:effectRef>
          <a:fontRef idx="minor">
            <a:schemeClr val="tx1"/>
          </a:fontRef>
        </p:style>
      </p:cxnSp>
      <p:sp>
        <p:nvSpPr>
          <p:cNvPr id="26" name="テキスト ボックス 147">
            <a:extLst>
              <a:ext uri="{FF2B5EF4-FFF2-40B4-BE49-F238E27FC236}">
                <a16:creationId xmlns:a16="http://schemas.microsoft.com/office/drawing/2014/main" id="{585139BD-58B8-4A24-9BAF-69B1ED2163D3}"/>
              </a:ext>
            </a:extLst>
          </p:cNvPr>
          <p:cNvSpPr txBox="1"/>
          <p:nvPr/>
        </p:nvSpPr>
        <p:spPr>
          <a:xfrm>
            <a:off x="3865120" y="2668033"/>
            <a:ext cx="794386" cy="699404"/>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油検知</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 name="直線矢印コネクタ 27">
            <a:extLst>
              <a:ext uri="{FF2B5EF4-FFF2-40B4-BE49-F238E27FC236}">
                <a16:creationId xmlns:a16="http://schemas.microsoft.com/office/drawing/2014/main" id="{75D8C756-95ED-40DD-8653-87ADA21AF017}"/>
              </a:ext>
            </a:extLst>
          </p:cNvPr>
          <p:cNvCxnSpPr>
            <a:cxnSpLocks/>
          </p:cNvCxnSpPr>
          <p:nvPr/>
        </p:nvCxnSpPr>
        <p:spPr>
          <a:xfrm>
            <a:off x="2031937" y="4497047"/>
            <a:ext cx="589865"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33" name="テキスト ボックス 147">
            <a:extLst>
              <a:ext uri="{FF2B5EF4-FFF2-40B4-BE49-F238E27FC236}">
                <a16:creationId xmlns:a16="http://schemas.microsoft.com/office/drawing/2014/main" id="{585139BD-58B8-4A24-9BAF-69B1ED2163D3}"/>
              </a:ext>
            </a:extLst>
          </p:cNvPr>
          <p:cNvSpPr txBox="1"/>
          <p:nvPr/>
        </p:nvSpPr>
        <p:spPr>
          <a:xfrm>
            <a:off x="3759314" y="5223766"/>
            <a:ext cx="898432" cy="422405"/>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油検知</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矢印コネクタ 33">
            <a:extLst>
              <a:ext uri="{FF2B5EF4-FFF2-40B4-BE49-F238E27FC236}">
                <a16:creationId xmlns:a16="http://schemas.microsoft.com/office/drawing/2014/main" id="{0A3C5921-DA06-4EE8-9BA8-73B23785B3B9}"/>
              </a:ext>
            </a:extLst>
          </p:cNvPr>
          <p:cNvCxnSpPr/>
          <p:nvPr/>
        </p:nvCxnSpPr>
        <p:spPr>
          <a:xfrm>
            <a:off x="4262313" y="3565553"/>
            <a:ext cx="772605"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6B8C0019-BB33-4326-B581-A394ACC47FAA}"/>
              </a:ext>
            </a:extLst>
          </p:cNvPr>
          <p:cNvCxnSpPr>
            <a:cxnSpLocks/>
          </p:cNvCxnSpPr>
          <p:nvPr/>
        </p:nvCxnSpPr>
        <p:spPr>
          <a:xfrm>
            <a:off x="4064687" y="4932394"/>
            <a:ext cx="0" cy="253962"/>
          </a:xfrm>
          <a:prstGeom prst="straightConnector1">
            <a:avLst/>
          </a:prstGeom>
          <a:ln>
            <a:solidFill>
              <a:schemeClr val="tx1"/>
            </a:solidFill>
            <a:prstDash val="solid"/>
            <a:headEnd type="oval"/>
            <a:tailEnd type="none" w="sm" len="lg"/>
          </a:ln>
        </p:spPr>
        <p:style>
          <a:lnRef idx="1">
            <a:schemeClr val="accent1"/>
          </a:lnRef>
          <a:fillRef idx="0">
            <a:schemeClr val="accent1"/>
          </a:fillRef>
          <a:effectRef idx="0">
            <a:schemeClr val="accent1"/>
          </a:effectRef>
          <a:fontRef idx="minor">
            <a:schemeClr val="tx1"/>
          </a:fontRef>
        </p:style>
      </p:cxnSp>
      <p:sp>
        <p:nvSpPr>
          <p:cNvPr id="47" name="テキスト ボックス 105">
            <a:extLst>
              <a:ext uri="{FF2B5EF4-FFF2-40B4-BE49-F238E27FC236}">
                <a16:creationId xmlns:a16="http://schemas.microsoft.com/office/drawing/2014/main" id="{D19B03C1-A9D5-4B4F-BEBB-C363739CED28}"/>
              </a:ext>
            </a:extLst>
          </p:cNvPr>
          <p:cNvSpPr txBox="1"/>
          <p:nvPr/>
        </p:nvSpPr>
        <p:spPr>
          <a:xfrm>
            <a:off x="5706949" y="2521186"/>
            <a:ext cx="1891658" cy="750700"/>
          </a:xfrm>
          <a:prstGeom prst="rect">
            <a:avLst/>
          </a:prstGeom>
          <a:solidFill>
            <a:schemeClr val="bg1"/>
          </a:solidFill>
          <a:ln>
            <a:solidFill>
              <a:schemeClr val="tx1"/>
            </a:solid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油水分離槽</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中和装置③</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テキスト ボックス 105">
            <a:extLst>
              <a:ext uri="{FF2B5EF4-FFF2-40B4-BE49-F238E27FC236}">
                <a16:creationId xmlns:a16="http://schemas.microsoft.com/office/drawing/2014/main" id="{D19B03C1-A9D5-4B4F-BEBB-C363739CED28}"/>
              </a:ext>
            </a:extLst>
          </p:cNvPr>
          <p:cNvSpPr txBox="1"/>
          <p:nvPr/>
        </p:nvSpPr>
        <p:spPr>
          <a:xfrm>
            <a:off x="5706948" y="3352192"/>
            <a:ext cx="1891658" cy="750700"/>
          </a:xfrm>
          <a:prstGeom prst="rect">
            <a:avLst/>
          </a:prstGeom>
          <a:solidFill>
            <a:schemeClr val="bg1"/>
          </a:solidFill>
          <a:ln>
            <a:solidFill>
              <a:schemeClr val="tx1"/>
            </a:solid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油水分離槽</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中和装置④</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テキスト ボックス 105">
            <a:extLst>
              <a:ext uri="{FF2B5EF4-FFF2-40B4-BE49-F238E27FC236}">
                <a16:creationId xmlns:a16="http://schemas.microsoft.com/office/drawing/2014/main" id="{D19B03C1-A9D5-4B4F-BEBB-C363739CED28}"/>
              </a:ext>
            </a:extLst>
          </p:cNvPr>
          <p:cNvSpPr txBox="1"/>
          <p:nvPr/>
        </p:nvSpPr>
        <p:spPr>
          <a:xfrm>
            <a:off x="5706948" y="4168986"/>
            <a:ext cx="1891658" cy="750700"/>
          </a:xfrm>
          <a:prstGeom prst="rect">
            <a:avLst/>
          </a:prstGeom>
          <a:solidFill>
            <a:schemeClr val="bg1"/>
          </a:solidFill>
          <a:ln>
            <a:solidFill>
              <a:schemeClr val="tx1"/>
            </a:solid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油水分離槽</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a:p>
            <a:pPr>
              <a:spcBef>
                <a:spcPts val="400"/>
              </a:spcBef>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中和装置⑤</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3" name="直線矢印コネクタ 52">
            <a:extLst>
              <a:ext uri="{FF2B5EF4-FFF2-40B4-BE49-F238E27FC236}">
                <a16:creationId xmlns:a16="http://schemas.microsoft.com/office/drawing/2014/main" id="{0A3C5921-DA06-4EE8-9BA8-73B23785B3B9}"/>
              </a:ext>
            </a:extLst>
          </p:cNvPr>
          <p:cNvCxnSpPr/>
          <p:nvPr/>
        </p:nvCxnSpPr>
        <p:spPr>
          <a:xfrm flipH="1">
            <a:off x="5034918" y="2894799"/>
            <a:ext cx="742950"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0A3C5921-DA06-4EE8-9BA8-73B23785B3B9}"/>
              </a:ext>
            </a:extLst>
          </p:cNvPr>
          <p:cNvCxnSpPr/>
          <p:nvPr/>
        </p:nvCxnSpPr>
        <p:spPr>
          <a:xfrm flipH="1">
            <a:off x="5034918" y="3744442"/>
            <a:ext cx="742950"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0A3C5921-DA06-4EE8-9BA8-73B23785B3B9}"/>
              </a:ext>
            </a:extLst>
          </p:cNvPr>
          <p:cNvCxnSpPr/>
          <p:nvPr/>
        </p:nvCxnSpPr>
        <p:spPr>
          <a:xfrm flipH="1">
            <a:off x="4996025" y="4481653"/>
            <a:ext cx="742950"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64" name="テキスト ボックス 147">
            <a:extLst>
              <a:ext uri="{FF2B5EF4-FFF2-40B4-BE49-F238E27FC236}">
                <a16:creationId xmlns:a16="http://schemas.microsoft.com/office/drawing/2014/main" id="{D059F80F-33A8-4333-BEB3-EEA923B205DC}"/>
              </a:ext>
            </a:extLst>
          </p:cNvPr>
          <p:cNvSpPr txBox="1"/>
          <p:nvPr/>
        </p:nvSpPr>
        <p:spPr>
          <a:xfrm>
            <a:off x="5331416" y="5758359"/>
            <a:ext cx="3324757" cy="453183"/>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処理能力</a:t>
            </a:r>
            <a:r>
              <a:rPr lang="en-US" altLang="ja-JP"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180t/h</a:t>
            </a:r>
            <a:r>
              <a:rPr lang="ja-JP" altLang="en-US"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槽</a:t>
            </a:r>
            <a:endParaRPr lang="en-US" altLang="ja-JP"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正方形/長方形 68"/>
          <p:cNvSpPr/>
          <p:nvPr/>
        </p:nvSpPr>
        <p:spPr bwMode="auto">
          <a:xfrm>
            <a:off x="1203157" y="2468234"/>
            <a:ext cx="3536487" cy="3191263"/>
          </a:xfrm>
          <a:prstGeom prst="rect">
            <a:avLst/>
          </a:prstGeom>
          <a:noFill/>
          <a:ln w="25400" cap="flat" cmpd="sng" algn="ctr">
            <a:solidFill>
              <a:srgbClr val="FF000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70" name="テキスト ボックス 147">
            <a:extLst>
              <a:ext uri="{FF2B5EF4-FFF2-40B4-BE49-F238E27FC236}">
                <a16:creationId xmlns:a16="http://schemas.microsoft.com/office/drawing/2014/main" id="{585139BD-58B8-4A24-9BAF-69B1ED2163D3}"/>
              </a:ext>
            </a:extLst>
          </p:cNvPr>
          <p:cNvSpPr txBox="1"/>
          <p:nvPr/>
        </p:nvSpPr>
        <p:spPr>
          <a:xfrm>
            <a:off x="2749167" y="1991873"/>
            <a:ext cx="1010147" cy="557620"/>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en-US" altLang="ja-JP" sz="1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既設</a:t>
            </a:r>
            <a:r>
              <a:rPr lang="en-US" altLang="ja-JP" sz="1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71" name="正方形/長方形 70"/>
          <p:cNvSpPr/>
          <p:nvPr/>
        </p:nvSpPr>
        <p:spPr bwMode="auto">
          <a:xfrm>
            <a:off x="5541756" y="2468234"/>
            <a:ext cx="2488142" cy="3168747"/>
          </a:xfrm>
          <a:prstGeom prst="rect">
            <a:avLst/>
          </a:prstGeom>
          <a:noFill/>
          <a:ln w="25400"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b="0" i="0" u="none" strike="noStrike" cap="none" normalizeH="0" baseline="0">
              <a:ln>
                <a:noFill/>
              </a:ln>
              <a:solidFill>
                <a:srgbClr val="7030A0"/>
              </a:solidFill>
              <a:effectLst/>
              <a:latin typeface="Calibri" panose="020F0502020204030204" pitchFamily="34" charset="0"/>
              <a:ea typeface="ＭＳ Ｐゴシック" panose="020B0600070205080204" pitchFamily="50" charset="-128"/>
            </a:endParaRPr>
          </a:p>
        </p:txBody>
      </p:sp>
      <p:cxnSp>
        <p:nvCxnSpPr>
          <p:cNvPr id="72" name="直線矢印コネクタ 71">
            <a:extLst>
              <a:ext uri="{FF2B5EF4-FFF2-40B4-BE49-F238E27FC236}">
                <a16:creationId xmlns:a16="http://schemas.microsoft.com/office/drawing/2014/main" id="{6B8C0019-BB33-4326-B581-A394ACC47FAA}"/>
              </a:ext>
            </a:extLst>
          </p:cNvPr>
          <p:cNvCxnSpPr>
            <a:cxnSpLocks/>
          </p:cNvCxnSpPr>
          <p:nvPr/>
        </p:nvCxnSpPr>
        <p:spPr>
          <a:xfrm>
            <a:off x="5998262" y="4932394"/>
            <a:ext cx="0" cy="253962"/>
          </a:xfrm>
          <a:prstGeom prst="straightConnector1">
            <a:avLst/>
          </a:prstGeom>
          <a:ln>
            <a:solidFill>
              <a:schemeClr val="tx1"/>
            </a:solidFill>
            <a:prstDash val="solid"/>
            <a:headEnd type="oval"/>
            <a:tailEnd type="none" w="sm" len="lg"/>
          </a:ln>
        </p:spPr>
        <p:style>
          <a:lnRef idx="1">
            <a:schemeClr val="accent1"/>
          </a:lnRef>
          <a:fillRef idx="0">
            <a:schemeClr val="accent1"/>
          </a:fillRef>
          <a:effectRef idx="0">
            <a:schemeClr val="accent1"/>
          </a:effectRef>
          <a:fontRef idx="minor">
            <a:schemeClr val="tx1"/>
          </a:fontRef>
        </p:style>
      </p:cxnSp>
      <p:sp>
        <p:nvSpPr>
          <p:cNvPr id="73" name="テキスト ボックス 147">
            <a:extLst>
              <a:ext uri="{FF2B5EF4-FFF2-40B4-BE49-F238E27FC236}">
                <a16:creationId xmlns:a16="http://schemas.microsoft.com/office/drawing/2014/main" id="{585139BD-58B8-4A24-9BAF-69B1ED2163D3}"/>
              </a:ext>
            </a:extLst>
          </p:cNvPr>
          <p:cNvSpPr txBox="1"/>
          <p:nvPr/>
        </p:nvSpPr>
        <p:spPr>
          <a:xfrm>
            <a:off x="5689509" y="5173470"/>
            <a:ext cx="898432" cy="422405"/>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ja-JP" altLang="en-US" sz="1800" dirty="0">
                <a:latin typeface="Meiryo UI" panose="020B0604030504040204" pitchFamily="50" charset="-128"/>
                <a:ea typeface="Meiryo UI" panose="020B0604030504040204" pitchFamily="50" charset="-128"/>
                <a:cs typeface="Meiryo UI" panose="020B0604030504040204" pitchFamily="50" charset="-128"/>
              </a:rPr>
              <a:t>油検知</a:t>
            </a:r>
            <a:endParaRPr lang="en-US" altLang="ja-JP" sz="1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テキスト ボックス 147">
            <a:extLst>
              <a:ext uri="{FF2B5EF4-FFF2-40B4-BE49-F238E27FC236}">
                <a16:creationId xmlns:a16="http://schemas.microsoft.com/office/drawing/2014/main" id="{585139BD-58B8-4A24-9BAF-69B1ED2163D3}"/>
              </a:ext>
            </a:extLst>
          </p:cNvPr>
          <p:cNvSpPr txBox="1"/>
          <p:nvPr/>
        </p:nvSpPr>
        <p:spPr>
          <a:xfrm>
            <a:off x="6522582" y="1991873"/>
            <a:ext cx="1010147" cy="453183"/>
          </a:xfrm>
          <a:prstGeom prst="rect">
            <a:avLst/>
          </a:prstGeom>
          <a:noFill/>
          <a:ln>
            <a:noFill/>
          </a:ln>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400"/>
              </a:spcBef>
            </a:pPr>
            <a:r>
              <a:rPr lang="en-US" altLang="ja-JP"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新設</a:t>
            </a:r>
            <a:r>
              <a:rPr lang="en-US" altLang="ja-JP" sz="2000"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51"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rgbClr val="002060"/>
                </a:solidFill>
                <a:latin typeface="Meiryo UI" pitchFamily="50" charset="-128"/>
                <a:ea typeface="Meiryo UI" pitchFamily="50" charset="-128"/>
                <a:cs typeface="Meiryo UI" pitchFamily="50" charset="-128"/>
              </a:rPr>
              <a:t>①</a:t>
            </a:r>
            <a:r>
              <a:rPr lang="ja-JP" altLang="en-US" sz="2000" b="1" dirty="0">
                <a:solidFill>
                  <a:srgbClr val="002060"/>
                </a:solidFill>
                <a:latin typeface="Meiryo UI" pitchFamily="50" charset="-128"/>
                <a:ea typeface="Meiryo UI" pitchFamily="50" charset="-128"/>
                <a:cs typeface="Meiryo UI" pitchFamily="50" charset="-128"/>
              </a:rPr>
              <a:t>排水能力の検討</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43" name="角丸四角形 10">
            <a:extLst>
              <a:ext uri="{FF2B5EF4-FFF2-40B4-BE49-F238E27FC236}">
                <a16:creationId xmlns:a16="http://schemas.microsoft.com/office/drawing/2014/main" id="{E52EA7AC-A320-4B8B-A309-6D5E44F18875}"/>
              </a:ext>
            </a:extLst>
          </p:cNvPr>
          <p:cNvSpPr/>
          <p:nvPr/>
        </p:nvSpPr>
        <p:spPr>
          <a:xfrm>
            <a:off x="305074" y="788904"/>
            <a:ext cx="8670221" cy="671334"/>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a:spcBef>
                <a:spcPts val="400"/>
              </a:spcBef>
            </a:pPr>
            <a:r>
              <a:rPr lang="en-US" altLang="ja-JP" dirty="0">
                <a:solidFill>
                  <a:schemeClr val="tx1"/>
                </a:solidFill>
                <a:latin typeface="Meiryo UI" pitchFamily="50" charset="-128"/>
                <a:ea typeface="Meiryo UI" pitchFamily="50" charset="-128"/>
                <a:cs typeface="Meiryo UI" pitchFamily="50" charset="-128"/>
              </a:rPr>
              <a:t>No.16</a:t>
            </a:r>
            <a:r>
              <a:rPr lang="ja-JP" altLang="en-US" dirty="0">
                <a:solidFill>
                  <a:schemeClr val="tx1"/>
                </a:solidFill>
                <a:latin typeface="Meiryo UI" pitchFamily="50" charset="-128"/>
                <a:ea typeface="Meiryo UI" pitchFamily="50" charset="-128"/>
                <a:cs typeface="Meiryo UI" pitchFamily="50" charset="-128"/>
              </a:rPr>
              <a:t>水処理施設の</a:t>
            </a:r>
            <a:r>
              <a:rPr lang="ja-JP" altLang="en-US" dirty="0">
                <a:latin typeface="Meiryo UI" panose="020B0604030504040204" pitchFamily="50" charset="-128"/>
                <a:ea typeface="Meiryo UI" panose="020B0604030504040204" pitchFamily="50" charset="-128"/>
                <a:cs typeface="Meiryo UI" panose="020B0604030504040204" pitchFamily="50" charset="-128"/>
              </a:rPr>
              <a:t>処理能力（中和、油水分離）を現状の</a:t>
            </a:r>
            <a:r>
              <a:rPr lang="en-US" altLang="ja-JP" dirty="0">
                <a:latin typeface="Meiryo UI" panose="020B0604030504040204" pitchFamily="50" charset="-128"/>
                <a:ea typeface="Meiryo UI" panose="020B0604030504040204" pitchFamily="50" charset="-128"/>
                <a:cs typeface="Meiryo UI" panose="020B0604030504040204" pitchFamily="50" charset="-128"/>
              </a:rPr>
              <a:t>400t/</a:t>
            </a:r>
            <a:r>
              <a:rPr lang="ja-JP" altLang="en-US" dirty="0" err="1">
                <a:latin typeface="Meiryo UI" panose="020B0604030504040204" pitchFamily="50" charset="-128"/>
                <a:ea typeface="Meiryo UI" panose="020B0604030504040204" pitchFamily="50" charset="-128"/>
                <a:cs typeface="Meiryo UI" panose="020B0604030504040204" pitchFamily="50" charset="-128"/>
              </a:rPr>
              <a:t>ｈ</a:t>
            </a:r>
            <a:r>
              <a:rPr lang="ja-JP" altLang="en-US" dirty="0">
                <a:latin typeface="Meiryo UI" panose="020B0604030504040204" pitchFamily="50" charset="-128"/>
                <a:ea typeface="Meiryo UI" panose="020B0604030504040204" pitchFamily="50" charset="-128"/>
                <a:cs typeface="Meiryo UI" panose="020B0604030504040204" pitchFamily="50" charset="-128"/>
              </a:rPr>
              <a:t>から</a:t>
            </a:r>
            <a:r>
              <a:rPr lang="en-US" altLang="ja-JP" dirty="0">
                <a:latin typeface="Meiryo UI" panose="020B0604030504040204" pitchFamily="50" charset="-128"/>
                <a:ea typeface="Meiryo UI" panose="020B0604030504040204" pitchFamily="50" charset="-128"/>
                <a:cs typeface="Meiryo UI" panose="020B0604030504040204" pitchFamily="50" charset="-128"/>
              </a:rPr>
              <a:t>940t/h</a:t>
            </a:r>
            <a:r>
              <a:rPr lang="ja-JP" altLang="en-US" dirty="0">
                <a:latin typeface="Meiryo UI" panose="020B0604030504040204" pitchFamily="50" charset="-128"/>
                <a:ea typeface="Meiryo UI" panose="020B0604030504040204" pitchFamily="50" charset="-128"/>
                <a:cs typeface="Meiryo UI" panose="020B0604030504040204" pitchFamily="50" charset="-128"/>
              </a:rPr>
              <a:t>に増強（＋</a:t>
            </a:r>
            <a:r>
              <a:rPr lang="en-US" altLang="ja-JP" dirty="0">
                <a:latin typeface="Meiryo UI" panose="020B0604030504040204" pitchFamily="50" charset="-128"/>
                <a:ea typeface="Meiryo UI" panose="020B0604030504040204" pitchFamily="50" charset="-128"/>
                <a:cs typeface="Meiryo UI" panose="020B0604030504040204" pitchFamily="50" charset="-128"/>
              </a:rPr>
              <a:t>540</a:t>
            </a:r>
            <a:r>
              <a:rPr lang="ja-JP" altLang="en-US" dirty="0" err="1">
                <a:latin typeface="Meiryo UI" panose="020B0604030504040204" pitchFamily="50" charset="-128"/>
                <a:ea typeface="Meiryo UI" panose="020B0604030504040204" pitchFamily="50" charset="-128"/>
                <a:cs typeface="Meiryo UI" panose="020B0604030504040204" pitchFamily="50" charset="-128"/>
              </a:rPr>
              <a:t>ｔ</a:t>
            </a:r>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ｈ）することで、冠水深さを</a:t>
            </a:r>
            <a:r>
              <a:rPr lang="en-US" altLang="ja-JP" dirty="0">
                <a:latin typeface="Meiryo UI" panose="020B0604030504040204" pitchFamily="50" charset="-128"/>
                <a:ea typeface="Meiryo UI" panose="020B0604030504040204" pitchFamily="50" charset="-128"/>
                <a:cs typeface="Meiryo UI" panose="020B0604030504040204" pitchFamily="50" charset="-128"/>
              </a:rPr>
              <a:t>149</a:t>
            </a:r>
            <a:r>
              <a:rPr lang="ja-JP" altLang="en-US" dirty="0">
                <a:latin typeface="Meiryo UI" panose="020B0604030504040204" pitchFamily="50" charset="-128"/>
                <a:ea typeface="Meiryo UI" panose="020B0604030504040204" pitchFamily="50" charset="-128"/>
                <a:cs typeface="Meiryo UI" panose="020B0604030504040204" pitchFamily="50" charset="-128"/>
              </a:rPr>
              <a:t>㎜まで低減</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019593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0" y="19050"/>
            <a:ext cx="858328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000" b="1" dirty="0">
                <a:solidFill>
                  <a:srgbClr val="002060"/>
                </a:solidFill>
                <a:latin typeface="Meiryo UI" pitchFamily="50" charset="-128"/>
                <a:ea typeface="Meiryo UI" pitchFamily="50" charset="-128"/>
                <a:cs typeface="Meiryo UI" pitchFamily="50" charset="-128"/>
                <a:sym typeface="Meiryo UI" pitchFamily="50" charset="-128"/>
              </a:rPr>
              <a:t> </a:t>
            </a:r>
            <a:r>
              <a:rPr lang="ja-JP" altLang="en-US" sz="2100" b="1" dirty="0">
                <a:solidFill>
                  <a:srgbClr val="002060"/>
                </a:solidFill>
                <a:latin typeface="Meiryo UI" pitchFamily="50" charset="-128"/>
                <a:ea typeface="Meiryo UI" pitchFamily="50" charset="-128"/>
                <a:cs typeface="Meiryo UI" pitchFamily="50" charset="-128"/>
                <a:sym typeface="Meiryo UI" pitchFamily="50" charset="-128"/>
              </a:rPr>
              <a:t>②</a:t>
            </a:r>
            <a:r>
              <a:rPr lang="ja-JP" altLang="en-US" sz="2100" b="1" dirty="0">
                <a:solidFill>
                  <a:srgbClr val="002060"/>
                </a:solidFill>
                <a:latin typeface="Meiryo UI" pitchFamily="50" charset="-128"/>
                <a:ea typeface="Meiryo UI" pitchFamily="50" charset="-128"/>
                <a:cs typeface="Meiryo UI" pitchFamily="50" charset="-128"/>
              </a:rPr>
              <a:t>３加工・７線材工場から</a:t>
            </a:r>
            <a:r>
              <a:rPr lang="en-US" altLang="ja-JP" sz="2100" b="1" dirty="0">
                <a:solidFill>
                  <a:srgbClr val="002060"/>
                </a:solidFill>
                <a:latin typeface="Meiryo UI" pitchFamily="50" charset="-128"/>
                <a:ea typeface="Meiryo UI" pitchFamily="50" charset="-128"/>
                <a:cs typeface="Meiryo UI" pitchFamily="50" charset="-128"/>
              </a:rPr>
              <a:t>No.16</a:t>
            </a:r>
            <a:r>
              <a:rPr lang="ja-JP" altLang="en-US" sz="2100" b="1" dirty="0">
                <a:solidFill>
                  <a:srgbClr val="002060"/>
                </a:solidFill>
                <a:latin typeface="Meiryo UI" pitchFamily="50" charset="-128"/>
                <a:ea typeface="Meiryo UI" pitchFamily="50" charset="-128"/>
                <a:cs typeface="Meiryo UI" pitchFamily="50" charset="-128"/>
              </a:rPr>
              <a:t>水処理施設への送水能力検討</a:t>
            </a:r>
            <a:endParaRPr lang="ja-JP" altLang="en-US" sz="21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79" name="角丸四角形 10">
            <a:extLst>
              <a:ext uri="{FF2B5EF4-FFF2-40B4-BE49-F238E27FC236}">
                <a16:creationId xmlns:a16="http://schemas.microsoft.com/office/drawing/2014/main" id="{F5BF6AC1-24E8-4377-9718-708207E033BE}"/>
              </a:ext>
            </a:extLst>
          </p:cNvPr>
          <p:cNvSpPr/>
          <p:nvPr/>
        </p:nvSpPr>
        <p:spPr>
          <a:xfrm>
            <a:off x="37995" y="581667"/>
            <a:ext cx="9035667" cy="1785895"/>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600"/>
              </a:lnSpc>
              <a:spcBef>
                <a:spcPts val="0"/>
              </a:spcBef>
              <a:spcAft>
                <a:spcPts val="0"/>
              </a:spcAft>
              <a:defRPr/>
            </a:pPr>
            <a:r>
              <a:rPr kumimoji="1" lang="ja-JP" altLang="en-US" sz="1700" dirty="0">
                <a:solidFill>
                  <a:schemeClr val="tx1"/>
                </a:solidFill>
                <a:latin typeface="Meiryo UI" pitchFamily="50" charset="-128"/>
                <a:ea typeface="Meiryo UI" pitchFamily="50" charset="-128"/>
                <a:cs typeface="Meiryo UI" pitchFamily="50" charset="-128"/>
              </a:rPr>
              <a:t>・</a:t>
            </a:r>
            <a:r>
              <a:rPr kumimoji="1" lang="en-US" altLang="ja-JP" sz="1700" dirty="0">
                <a:solidFill>
                  <a:schemeClr val="tx1"/>
                </a:solidFill>
                <a:latin typeface="Meiryo UI" pitchFamily="50" charset="-128"/>
                <a:ea typeface="Meiryo UI" pitchFamily="50" charset="-128"/>
                <a:cs typeface="Meiryo UI" pitchFamily="50" charset="-128"/>
              </a:rPr>
              <a:t>3</a:t>
            </a:r>
            <a:r>
              <a:rPr kumimoji="1" lang="ja-JP" altLang="en-US" sz="1700" dirty="0">
                <a:solidFill>
                  <a:schemeClr val="tx1"/>
                </a:solidFill>
                <a:latin typeface="Meiryo UI" pitchFamily="50" charset="-128"/>
                <a:ea typeface="Meiryo UI" pitchFamily="50" charset="-128"/>
                <a:cs typeface="Meiryo UI" pitchFamily="50" charset="-128"/>
              </a:rPr>
              <a:t>加工山側は、現在の</a:t>
            </a:r>
            <a:r>
              <a:rPr kumimoji="1" lang="en-US" altLang="ja-JP" sz="1700" dirty="0">
                <a:solidFill>
                  <a:schemeClr val="tx1"/>
                </a:solidFill>
                <a:latin typeface="Meiryo UI" pitchFamily="50" charset="-128"/>
                <a:ea typeface="Meiryo UI" pitchFamily="50" charset="-128"/>
                <a:cs typeface="Meiryo UI" pitchFamily="50" charset="-128"/>
              </a:rPr>
              <a:t>400</a:t>
            </a:r>
            <a:r>
              <a:rPr kumimoji="1" lang="ja-JP" altLang="en-US" sz="1700" dirty="0" err="1">
                <a:solidFill>
                  <a:schemeClr val="tx1"/>
                </a:solidFill>
                <a:latin typeface="Meiryo UI" pitchFamily="50" charset="-128"/>
                <a:ea typeface="Meiryo UI" pitchFamily="50" charset="-128"/>
                <a:cs typeface="Meiryo UI" pitchFamily="50" charset="-128"/>
              </a:rPr>
              <a:t>ｔ</a:t>
            </a:r>
            <a:r>
              <a:rPr kumimoji="1" lang="en-US" altLang="ja-JP" sz="1700" dirty="0">
                <a:solidFill>
                  <a:schemeClr val="tx1"/>
                </a:solidFill>
                <a:latin typeface="Meiryo UI" pitchFamily="50" charset="-128"/>
                <a:ea typeface="Meiryo UI" pitchFamily="50" charset="-128"/>
                <a:cs typeface="Meiryo UI" pitchFamily="50" charset="-128"/>
              </a:rPr>
              <a:t>/h</a:t>
            </a:r>
            <a:r>
              <a:rPr kumimoji="1" lang="ja-JP" altLang="en-US" sz="1700" dirty="0">
                <a:solidFill>
                  <a:schemeClr val="tx1"/>
                </a:solidFill>
                <a:latin typeface="Meiryo UI" pitchFamily="50" charset="-128"/>
                <a:ea typeface="Meiryo UI" pitchFamily="50" charset="-128"/>
                <a:cs typeface="Meiryo UI" pitchFamily="50" charset="-128"/>
              </a:rPr>
              <a:t>の送水能力を</a:t>
            </a:r>
            <a:r>
              <a:rPr kumimoji="1" lang="en-US" altLang="ja-JP" sz="1700" dirty="0">
                <a:solidFill>
                  <a:schemeClr val="tx1"/>
                </a:solidFill>
                <a:latin typeface="Meiryo UI" pitchFamily="50" charset="-128"/>
                <a:ea typeface="Meiryo UI" pitchFamily="50" charset="-128"/>
                <a:cs typeface="Meiryo UI" pitchFamily="50" charset="-128"/>
              </a:rPr>
              <a:t>670</a:t>
            </a:r>
            <a:r>
              <a:rPr kumimoji="1" lang="ja-JP" altLang="en-US" sz="1700" dirty="0" err="1">
                <a:solidFill>
                  <a:schemeClr val="tx1"/>
                </a:solidFill>
                <a:latin typeface="Meiryo UI" pitchFamily="50" charset="-128"/>
                <a:ea typeface="Meiryo UI" pitchFamily="50" charset="-128"/>
                <a:cs typeface="Meiryo UI" pitchFamily="50" charset="-128"/>
              </a:rPr>
              <a:t>ｔ</a:t>
            </a:r>
            <a:r>
              <a:rPr kumimoji="1" lang="en-US" altLang="ja-JP" sz="1700" dirty="0">
                <a:solidFill>
                  <a:schemeClr val="tx1"/>
                </a:solidFill>
                <a:latin typeface="Meiryo UI" pitchFamily="50" charset="-128"/>
                <a:ea typeface="Meiryo UI" pitchFamily="50" charset="-128"/>
                <a:cs typeface="Meiryo UI" pitchFamily="50" charset="-128"/>
              </a:rPr>
              <a:t>/h</a:t>
            </a:r>
            <a:r>
              <a:rPr kumimoji="1" lang="ja-JP" altLang="en-US" sz="1700" dirty="0">
                <a:solidFill>
                  <a:schemeClr val="tx1"/>
                </a:solidFill>
                <a:latin typeface="Meiryo UI" pitchFamily="50" charset="-128"/>
                <a:ea typeface="Meiryo UI" pitchFamily="50" charset="-128"/>
                <a:cs typeface="Meiryo UI" pitchFamily="50" charset="-128"/>
              </a:rPr>
              <a:t>に増強する。（＋</a:t>
            </a:r>
            <a:r>
              <a:rPr kumimoji="1" lang="en-US" altLang="ja-JP" sz="1700" dirty="0">
                <a:solidFill>
                  <a:schemeClr val="tx1"/>
                </a:solidFill>
                <a:latin typeface="Meiryo UI" pitchFamily="50" charset="-128"/>
                <a:ea typeface="Meiryo UI" pitchFamily="50" charset="-128"/>
                <a:cs typeface="Meiryo UI" pitchFamily="50" charset="-128"/>
              </a:rPr>
              <a:t>270t/h)</a:t>
            </a:r>
          </a:p>
          <a:p>
            <a:pPr eaLnBrk="1" fontAlgn="auto" hangingPunct="1">
              <a:lnSpc>
                <a:spcPts val="2600"/>
              </a:lnSpc>
              <a:spcBef>
                <a:spcPts val="0"/>
              </a:spcBef>
              <a:spcAft>
                <a:spcPts val="0"/>
              </a:spcAft>
              <a:defRPr/>
            </a:pPr>
            <a:r>
              <a:rPr kumimoji="1" lang="ja-JP" altLang="en-US" sz="1700" dirty="0">
                <a:solidFill>
                  <a:schemeClr val="tx1"/>
                </a:solidFill>
                <a:latin typeface="Meiryo UI" pitchFamily="50" charset="-128"/>
                <a:ea typeface="Meiryo UI" pitchFamily="50" charset="-128"/>
                <a:cs typeface="Meiryo UI" pitchFamily="50" charset="-128"/>
              </a:rPr>
              <a:t>　　　</a:t>
            </a:r>
            <a:r>
              <a:rPr kumimoji="1" lang="en-US" altLang="ja-JP" sz="1700" dirty="0">
                <a:solidFill>
                  <a:schemeClr val="tx1"/>
                </a:solidFill>
                <a:latin typeface="Meiryo UI" pitchFamily="50" charset="-128"/>
                <a:ea typeface="Meiryo UI" pitchFamily="50" charset="-128"/>
                <a:cs typeface="Meiryo UI" pitchFamily="50" charset="-128"/>
              </a:rPr>
              <a:t>3</a:t>
            </a:r>
            <a:r>
              <a:rPr kumimoji="1" lang="ja-JP" altLang="en-US" sz="1700" dirty="0">
                <a:solidFill>
                  <a:schemeClr val="tx1"/>
                </a:solidFill>
                <a:latin typeface="Meiryo UI" pitchFamily="50" charset="-128"/>
                <a:ea typeface="Meiryo UI" pitchFamily="50" charset="-128"/>
                <a:cs typeface="Meiryo UI" pitchFamily="50" charset="-128"/>
              </a:rPr>
              <a:t>加工、</a:t>
            </a:r>
            <a:r>
              <a:rPr kumimoji="1" lang="en-US" altLang="ja-JP" sz="1700" dirty="0">
                <a:solidFill>
                  <a:schemeClr val="tx1"/>
                </a:solidFill>
                <a:latin typeface="Meiryo UI" pitchFamily="50" charset="-128"/>
                <a:ea typeface="Meiryo UI" pitchFamily="50" charset="-128"/>
                <a:cs typeface="Meiryo UI" pitchFamily="50" charset="-128"/>
              </a:rPr>
              <a:t>7</a:t>
            </a:r>
            <a:r>
              <a:rPr kumimoji="1" lang="ja-JP" altLang="en-US" sz="1700" dirty="0">
                <a:solidFill>
                  <a:schemeClr val="tx1"/>
                </a:solidFill>
                <a:latin typeface="Meiryo UI" pitchFamily="50" charset="-128"/>
                <a:ea typeface="Meiryo UI" pitchFamily="50" charset="-128"/>
                <a:cs typeface="Meiryo UI" pitchFamily="50" charset="-128"/>
              </a:rPr>
              <a:t>線材山側には東西に埋設配管が設置されており、埋設配管内に水中ポンプを増設</a:t>
            </a:r>
            <a:endParaRPr kumimoji="1" lang="en-US" altLang="ja-JP" sz="1700" dirty="0">
              <a:solidFill>
                <a:schemeClr val="tx1"/>
              </a:solidFill>
              <a:latin typeface="Meiryo UI" pitchFamily="50" charset="-128"/>
              <a:ea typeface="Meiryo UI" pitchFamily="50" charset="-128"/>
              <a:cs typeface="Meiryo UI" pitchFamily="50" charset="-128"/>
            </a:endParaRPr>
          </a:p>
          <a:p>
            <a:pPr eaLnBrk="1" fontAlgn="auto" hangingPunct="1">
              <a:lnSpc>
                <a:spcPts val="2600"/>
              </a:lnSpc>
              <a:spcBef>
                <a:spcPts val="0"/>
              </a:spcBef>
              <a:spcAft>
                <a:spcPts val="0"/>
              </a:spcAft>
              <a:defRPr/>
            </a:pPr>
            <a:r>
              <a:rPr kumimoji="1" lang="ja-JP" altLang="en-US" sz="1700" dirty="0">
                <a:solidFill>
                  <a:schemeClr val="tx1"/>
                </a:solidFill>
                <a:latin typeface="Meiryo UI" pitchFamily="50" charset="-128"/>
                <a:ea typeface="Meiryo UI" pitchFamily="50" charset="-128"/>
                <a:cs typeface="Meiryo UI" pitchFamily="50" charset="-128"/>
              </a:rPr>
              <a:t>・</a:t>
            </a:r>
            <a:r>
              <a:rPr kumimoji="1" lang="en-US" altLang="ja-JP" sz="1700" dirty="0">
                <a:solidFill>
                  <a:schemeClr val="tx1"/>
                </a:solidFill>
                <a:latin typeface="Meiryo UI" pitchFamily="50" charset="-128"/>
                <a:ea typeface="Meiryo UI" pitchFamily="50" charset="-128"/>
                <a:cs typeface="Meiryo UI" pitchFamily="50" charset="-128"/>
              </a:rPr>
              <a:t>7</a:t>
            </a:r>
            <a:r>
              <a:rPr kumimoji="1" lang="ja-JP" altLang="en-US" sz="1700" dirty="0">
                <a:solidFill>
                  <a:schemeClr val="tx1"/>
                </a:solidFill>
                <a:latin typeface="Meiryo UI" pitchFamily="50" charset="-128"/>
                <a:ea typeface="Meiryo UI" pitchFamily="50" charset="-128"/>
                <a:cs typeface="Meiryo UI" pitchFamily="50" charset="-128"/>
              </a:rPr>
              <a:t>線材浜側は、送水能力を</a:t>
            </a:r>
            <a:r>
              <a:rPr kumimoji="1" lang="en-US" altLang="ja-JP" sz="1700" dirty="0">
                <a:solidFill>
                  <a:schemeClr val="tx1"/>
                </a:solidFill>
                <a:latin typeface="Meiryo UI" pitchFamily="50" charset="-128"/>
                <a:ea typeface="Meiryo UI" pitchFamily="50" charset="-128"/>
                <a:cs typeface="Meiryo UI" pitchFamily="50" charset="-128"/>
              </a:rPr>
              <a:t>270</a:t>
            </a:r>
            <a:r>
              <a:rPr kumimoji="1" lang="ja-JP" altLang="en-US" sz="1700" dirty="0" err="1">
                <a:solidFill>
                  <a:schemeClr val="tx1"/>
                </a:solidFill>
                <a:latin typeface="Meiryo UI" pitchFamily="50" charset="-128"/>
                <a:ea typeface="Meiryo UI" pitchFamily="50" charset="-128"/>
                <a:cs typeface="Meiryo UI" pitchFamily="50" charset="-128"/>
              </a:rPr>
              <a:t>ｔ</a:t>
            </a:r>
            <a:r>
              <a:rPr kumimoji="1" lang="en-US" altLang="ja-JP" sz="1700" dirty="0">
                <a:solidFill>
                  <a:schemeClr val="tx1"/>
                </a:solidFill>
                <a:latin typeface="Meiryo UI" pitchFamily="50" charset="-128"/>
                <a:ea typeface="Meiryo UI" pitchFamily="50" charset="-128"/>
                <a:cs typeface="Meiryo UI" pitchFamily="50" charset="-128"/>
              </a:rPr>
              <a:t>/</a:t>
            </a:r>
            <a:r>
              <a:rPr kumimoji="1" lang="ja-JP" altLang="en-US" sz="1700" dirty="0" err="1">
                <a:solidFill>
                  <a:schemeClr val="tx1"/>
                </a:solidFill>
                <a:latin typeface="Meiryo UI" pitchFamily="50" charset="-128"/>
                <a:ea typeface="Meiryo UI" pitchFamily="50" charset="-128"/>
                <a:cs typeface="Meiryo UI" pitchFamily="50" charset="-128"/>
              </a:rPr>
              <a:t>ｈ</a:t>
            </a:r>
            <a:r>
              <a:rPr kumimoji="1" lang="ja-JP" altLang="en-US" sz="1700" dirty="0">
                <a:solidFill>
                  <a:schemeClr val="tx1"/>
                </a:solidFill>
                <a:latin typeface="Meiryo UI" pitchFamily="50" charset="-128"/>
                <a:ea typeface="Meiryo UI" pitchFamily="50" charset="-128"/>
                <a:cs typeface="Meiryo UI" pitchFamily="50" charset="-128"/>
              </a:rPr>
              <a:t>の設備を新たに増設する。</a:t>
            </a:r>
            <a:endParaRPr kumimoji="1" lang="en-US" altLang="ja-JP" sz="1700" dirty="0">
              <a:solidFill>
                <a:schemeClr val="tx1"/>
              </a:solidFill>
              <a:latin typeface="Meiryo UI" pitchFamily="50" charset="-128"/>
              <a:ea typeface="Meiryo UI" pitchFamily="50" charset="-128"/>
              <a:cs typeface="Meiryo UI" pitchFamily="50" charset="-128"/>
            </a:endParaRPr>
          </a:p>
          <a:p>
            <a:pPr eaLnBrk="1" fontAlgn="auto" hangingPunct="1">
              <a:lnSpc>
                <a:spcPts val="2600"/>
              </a:lnSpc>
              <a:spcBef>
                <a:spcPts val="0"/>
              </a:spcBef>
              <a:spcAft>
                <a:spcPts val="0"/>
              </a:spcAft>
              <a:defRPr/>
            </a:pPr>
            <a:r>
              <a:rPr kumimoji="1" lang="ja-JP" altLang="en-US" sz="1700" dirty="0">
                <a:latin typeface="Meiryo UI" panose="020B0604030504040204" pitchFamily="50" charset="-128"/>
                <a:ea typeface="Meiryo UI" panose="020B0604030504040204" pitchFamily="50" charset="-128"/>
                <a:cs typeface="Meiryo UI" panose="020B0604030504040204" pitchFamily="50" charset="-128"/>
              </a:rPr>
              <a:t>　　　立体倉庫西側にピット、送水ポンプを設置し配管で</a:t>
            </a:r>
            <a:r>
              <a:rPr kumimoji="1" lang="en-US" altLang="ja-JP" sz="1700"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sz="1700" dirty="0">
                <a:latin typeface="Meiryo UI" panose="020B0604030504040204" pitchFamily="50" charset="-128"/>
                <a:ea typeface="Meiryo UI" panose="020B0604030504040204" pitchFamily="50" charset="-128"/>
                <a:cs typeface="Meiryo UI" panose="020B0604030504040204" pitchFamily="50" charset="-128"/>
              </a:rPr>
              <a:t>水処理施設に送水　</a:t>
            </a:r>
            <a:endParaRPr kumimoji="1" lang="en-US" altLang="ja-JP" sz="1700" dirty="0">
              <a:latin typeface="Meiryo UI" panose="020B0604030504040204" pitchFamily="50" charset="-128"/>
              <a:ea typeface="Meiryo UI" panose="020B0604030504040204" pitchFamily="50" charset="-128"/>
              <a:cs typeface="Meiryo UI" panose="020B0604030504040204" pitchFamily="50" charset="-128"/>
            </a:endParaRPr>
          </a:p>
          <a:p>
            <a:pPr eaLnBrk="1" fontAlgn="auto" hangingPunct="1">
              <a:lnSpc>
                <a:spcPts val="2600"/>
              </a:lnSpc>
              <a:spcBef>
                <a:spcPts val="0"/>
              </a:spcBef>
              <a:spcAft>
                <a:spcPts val="0"/>
              </a:spcAft>
              <a:defRPr/>
            </a:pPr>
            <a:r>
              <a:rPr kumimoji="1" lang="ja-JP" altLang="en-US" sz="17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加工山側から</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670</a:t>
            </a:r>
            <a:r>
              <a:rPr kumimoji="1" lang="ja-JP" altLang="en-US" sz="1700" b="1" dirty="0" err="1">
                <a:latin typeface="Meiryo UI" panose="020B0604030504040204" pitchFamily="50" charset="-128"/>
                <a:ea typeface="Meiryo UI" panose="020B0604030504040204" pitchFamily="50" charset="-128"/>
                <a:cs typeface="Meiryo UI" panose="020B0604030504040204" pitchFamily="50" charset="-128"/>
              </a:rPr>
              <a:t>ｔ</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1700" b="1"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線材浜側から</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270</a:t>
            </a:r>
            <a:r>
              <a:rPr kumimoji="1" lang="ja-JP" altLang="en-US" sz="1700" b="1" dirty="0" err="1">
                <a:latin typeface="Meiryo UI" panose="020B0604030504040204" pitchFamily="50" charset="-128"/>
                <a:ea typeface="Meiryo UI" panose="020B0604030504040204" pitchFamily="50" charset="-128"/>
                <a:cs typeface="Meiryo UI" panose="020B0604030504040204" pitchFamily="50" charset="-128"/>
              </a:rPr>
              <a:t>ｔ</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の雨水を</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水処理施設に送水</a:t>
            </a:r>
            <a:r>
              <a:rPr kumimoji="1" lang="en-US" altLang="ja-JP" sz="1700" b="1"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700" b="1"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7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700" dirty="0">
              <a:solidFill>
                <a:schemeClr val="tx1"/>
              </a:solidFill>
              <a:latin typeface="Meiryo UI" pitchFamily="50" charset="-128"/>
              <a:ea typeface="Meiryo UI" pitchFamily="50" charset="-128"/>
              <a:cs typeface="Meiryo UI" pitchFamily="50" charset="-128"/>
            </a:endParaRPr>
          </a:p>
        </p:txBody>
      </p:sp>
      <p:grpSp>
        <p:nvGrpSpPr>
          <p:cNvPr id="87" name="グループ化 86">
            <a:extLst>
              <a:ext uri="{FF2B5EF4-FFF2-40B4-BE49-F238E27FC236}">
                <a16:creationId xmlns:a16="http://schemas.microsoft.com/office/drawing/2014/main" id="{73284391-A454-4213-AEC4-7A6D3210C5BC}"/>
              </a:ext>
            </a:extLst>
          </p:cNvPr>
          <p:cNvGrpSpPr/>
          <p:nvPr/>
        </p:nvGrpSpPr>
        <p:grpSpPr>
          <a:xfrm>
            <a:off x="196122" y="4636614"/>
            <a:ext cx="3821318" cy="1927447"/>
            <a:chOff x="788361" y="4119290"/>
            <a:chExt cx="5965488" cy="2857150"/>
          </a:xfrm>
        </p:grpSpPr>
        <p:grpSp>
          <p:nvGrpSpPr>
            <p:cNvPr id="89" name="グループ化 88">
              <a:extLst>
                <a:ext uri="{FF2B5EF4-FFF2-40B4-BE49-F238E27FC236}">
                  <a16:creationId xmlns:a16="http://schemas.microsoft.com/office/drawing/2014/main" id="{467EBDA9-3A58-4EDA-8939-1763F5B02A68}"/>
                </a:ext>
              </a:extLst>
            </p:cNvPr>
            <p:cNvGrpSpPr/>
            <p:nvPr/>
          </p:nvGrpSpPr>
          <p:grpSpPr>
            <a:xfrm>
              <a:off x="968571" y="5019810"/>
              <a:ext cx="5148711" cy="1129459"/>
              <a:chOff x="1727677" y="5073121"/>
              <a:chExt cx="5148711" cy="1129459"/>
            </a:xfrm>
          </p:grpSpPr>
          <p:sp>
            <p:nvSpPr>
              <p:cNvPr id="103" name="フリーフォーム 21">
                <a:extLst>
                  <a:ext uri="{FF2B5EF4-FFF2-40B4-BE49-F238E27FC236}">
                    <a16:creationId xmlns:a16="http://schemas.microsoft.com/office/drawing/2014/main" id="{806548DF-0D76-4AA5-A4C7-0A7D817D0997}"/>
                  </a:ext>
                </a:extLst>
              </p:cNvPr>
              <p:cNvSpPr/>
              <p:nvPr/>
            </p:nvSpPr>
            <p:spPr bwMode="auto">
              <a:xfrm>
                <a:off x="1727677" y="5926397"/>
                <a:ext cx="1173009" cy="45720"/>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4" name="フリーフォーム 22">
                <a:extLst>
                  <a:ext uri="{FF2B5EF4-FFF2-40B4-BE49-F238E27FC236}">
                    <a16:creationId xmlns:a16="http://schemas.microsoft.com/office/drawing/2014/main" id="{718F8AAF-331D-4AE1-B750-66131F957D63}"/>
                  </a:ext>
                </a:extLst>
              </p:cNvPr>
              <p:cNvSpPr/>
              <p:nvPr/>
            </p:nvSpPr>
            <p:spPr bwMode="auto">
              <a:xfrm>
                <a:off x="1727678" y="5311642"/>
                <a:ext cx="1173007"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5" name="フリーフォーム 23">
                <a:extLst>
                  <a:ext uri="{FF2B5EF4-FFF2-40B4-BE49-F238E27FC236}">
                    <a16:creationId xmlns:a16="http://schemas.microsoft.com/office/drawing/2014/main" id="{7AE74AD3-E7F5-4F28-B69C-CE65A8932698}"/>
                  </a:ext>
                </a:extLst>
              </p:cNvPr>
              <p:cNvSpPr/>
              <p:nvPr/>
            </p:nvSpPr>
            <p:spPr bwMode="auto">
              <a:xfrm>
                <a:off x="2900685" y="6133405"/>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6" name="フリーフォーム 25">
                <a:extLst>
                  <a:ext uri="{FF2B5EF4-FFF2-40B4-BE49-F238E27FC236}">
                    <a16:creationId xmlns:a16="http://schemas.microsoft.com/office/drawing/2014/main" id="{5A89F011-F772-46BD-9365-B4646C64B827}"/>
                  </a:ext>
                </a:extLst>
              </p:cNvPr>
              <p:cNvSpPr/>
              <p:nvPr/>
            </p:nvSpPr>
            <p:spPr bwMode="auto">
              <a:xfrm>
                <a:off x="2909312" y="5934988"/>
                <a:ext cx="45719" cy="224872"/>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7" name="フリーフォーム 26">
                <a:extLst>
                  <a:ext uri="{FF2B5EF4-FFF2-40B4-BE49-F238E27FC236}">
                    <a16:creationId xmlns:a16="http://schemas.microsoft.com/office/drawing/2014/main" id="{F5438ED0-DAF6-43F3-9C47-DD139F14018F}"/>
                  </a:ext>
                </a:extLst>
              </p:cNvPr>
              <p:cNvSpPr/>
              <p:nvPr/>
            </p:nvSpPr>
            <p:spPr bwMode="auto">
              <a:xfrm>
                <a:off x="3439835" y="5934988"/>
                <a:ext cx="45719" cy="224872"/>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8" name="フリーフォーム 27">
                <a:extLst>
                  <a:ext uri="{FF2B5EF4-FFF2-40B4-BE49-F238E27FC236}">
                    <a16:creationId xmlns:a16="http://schemas.microsoft.com/office/drawing/2014/main" id="{7289B970-86B9-4228-BFFC-D6FF94CF0FBD}"/>
                  </a:ext>
                </a:extLst>
              </p:cNvPr>
              <p:cNvSpPr/>
              <p:nvPr/>
            </p:nvSpPr>
            <p:spPr bwMode="auto">
              <a:xfrm flipV="1">
                <a:off x="3418270" y="5889268"/>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9" name="フリーフォーム 28">
                <a:extLst>
                  <a:ext uri="{FF2B5EF4-FFF2-40B4-BE49-F238E27FC236}">
                    <a16:creationId xmlns:a16="http://schemas.microsoft.com/office/drawing/2014/main" id="{AFD16757-915D-4903-A7FA-B5FAA895275B}"/>
                  </a:ext>
                </a:extLst>
              </p:cNvPr>
              <p:cNvSpPr/>
              <p:nvPr/>
            </p:nvSpPr>
            <p:spPr bwMode="auto">
              <a:xfrm>
                <a:off x="3957420" y="5934987"/>
                <a:ext cx="45719" cy="224872"/>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0" name="フリーフォーム 29">
                <a:extLst>
                  <a:ext uri="{FF2B5EF4-FFF2-40B4-BE49-F238E27FC236}">
                    <a16:creationId xmlns:a16="http://schemas.microsoft.com/office/drawing/2014/main" id="{50DAA9A1-7345-43C3-8F3E-4C3964E7580F}"/>
                  </a:ext>
                </a:extLst>
              </p:cNvPr>
              <p:cNvSpPr/>
              <p:nvPr/>
            </p:nvSpPr>
            <p:spPr bwMode="auto">
              <a:xfrm>
                <a:off x="3950950" y="6151242"/>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1" name="フリーフォーム 30">
                <a:extLst>
                  <a:ext uri="{FF2B5EF4-FFF2-40B4-BE49-F238E27FC236}">
                    <a16:creationId xmlns:a16="http://schemas.microsoft.com/office/drawing/2014/main" id="{CEB012A3-FDE2-4A4A-88F7-E5E22DAD87B4}"/>
                  </a:ext>
                </a:extLst>
              </p:cNvPr>
              <p:cNvSpPr/>
              <p:nvPr/>
            </p:nvSpPr>
            <p:spPr bwMode="auto">
              <a:xfrm flipH="1">
                <a:off x="4440068" y="5934987"/>
                <a:ext cx="45719" cy="224872"/>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2" name="フリーフォーム 31">
                <a:extLst>
                  <a:ext uri="{FF2B5EF4-FFF2-40B4-BE49-F238E27FC236}">
                    <a16:creationId xmlns:a16="http://schemas.microsoft.com/office/drawing/2014/main" id="{37AD3BB2-0328-4249-A570-342E4E304C41}"/>
                  </a:ext>
                </a:extLst>
              </p:cNvPr>
              <p:cNvSpPr/>
              <p:nvPr/>
            </p:nvSpPr>
            <p:spPr bwMode="auto">
              <a:xfrm>
                <a:off x="2880844" y="5073121"/>
                <a:ext cx="45719" cy="23852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3" name="フリーフォーム 32">
                <a:extLst>
                  <a:ext uri="{FF2B5EF4-FFF2-40B4-BE49-F238E27FC236}">
                    <a16:creationId xmlns:a16="http://schemas.microsoft.com/office/drawing/2014/main" id="{6C1CD487-230B-48B0-8C4A-A3D2B9FFA972}"/>
                  </a:ext>
                </a:extLst>
              </p:cNvPr>
              <p:cNvSpPr/>
              <p:nvPr/>
            </p:nvSpPr>
            <p:spPr bwMode="auto">
              <a:xfrm>
                <a:off x="3407055" y="5073121"/>
                <a:ext cx="45719" cy="23852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4" name="フリーフォーム 33">
                <a:extLst>
                  <a:ext uri="{FF2B5EF4-FFF2-40B4-BE49-F238E27FC236}">
                    <a16:creationId xmlns:a16="http://schemas.microsoft.com/office/drawing/2014/main" id="{471E5711-8002-4405-A6B6-CE7E170753FD}"/>
                  </a:ext>
                </a:extLst>
              </p:cNvPr>
              <p:cNvSpPr/>
              <p:nvPr/>
            </p:nvSpPr>
            <p:spPr bwMode="auto">
              <a:xfrm flipV="1">
                <a:off x="3411799" y="5262939"/>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5" name="フリーフォーム 34">
                <a:extLst>
                  <a:ext uri="{FF2B5EF4-FFF2-40B4-BE49-F238E27FC236}">
                    <a16:creationId xmlns:a16="http://schemas.microsoft.com/office/drawing/2014/main" id="{7F18190A-90A3-4A69-BD83-4B08D673EF3E}"/>
                  </a:ext>
                </a:extLst>
              </p:cNvPr>
              <p:cNvSpPr/>
              <p:nvPr/>
            </p:nvSpPr>
            <p:spPr bwMode="auto">
              <a:xfrm>
                <a:off x="3931109" y="5073121"/>
                <a:ext cx="45719" cy="23852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6" name="フリーフォーム 35">
                <a:extLst>
                  <a:ext uri="{FF2B5EF4-FFF2-40B4-BE49-F238E27FC236}">
                    <a16:creationId xmlns:a16="http://schemas.microsoft.com/office/drawing/2014/main" id="{D82E0789-5D1B-4D57-9AEC-8B17DFE78B64}"/>
                  </a:ext>
                </a:extLst>
              </p:cNvPr>
              <p:cNvSpPr/>
              <p:nvPr/>
            </p:nvSpPr>
            <p:spPr bwMode="auto">
              <a:xfrm flipH="1">
                <a:off x="4470694" y="5073121"/>
                <a:ext cx="45719" cy="23852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7" name="フリーフォーム 37">
                <a:extLst>
                  <a:ext uri="{FF2B5EF4-FFF2-40B4-BE49-F238E27FC236}">
                    <a16:creationId xmlns:a16="http://schemas.microsoft.com/office/drawing/2014/main" id="{62C5EC0C-535D-4BEB-BB4D-DC934B524D8B}"/>
                  </a:ext>
                </a:extLst>
              </p:cNvPr>
              <p:cNvSpPr/>
              <p:nvPr/>
            </p:nvSpPr>
            <p:spPr bwMode="auto">
              <a:xfrm flipV="1">
                <a:off x="4490101" y="5277961"/>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8" name="フリーフォーム 38">
                <a:extLst>
                  <a:ext uri="{FF2B5EF4-FFF2-40B4-BE49-F238E27FC236}">
                    <a16:creationId xmlns:a16="http://schemas.microsoft.com/office/drawing/2014/main" id="{030B4BA9-0477-4172-8A27-E19B5AB36486}"/>
                  </a:ext>
                </a:extLst>
              </p:cNvPr>
              <p:cNvSpPr/>
              <p:nvPr/>
            </p:nvSpPr>
            <p:spPr bwMode="auto">
              <a:xfrm flipV="1">
                <a:off x="4490101" y="5903537"/>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19" name="フリーフォーム 39">
                <a:extLst>
                  <a:ext uri="{FF2B5EF4-FFF2-40B4-BE49-F238E27FC236}">
                    <a16:creationId xmlns:a16="http://schemas.microsoft.com/office/drawing/2014/main" id="{25270BCB-31A6-4DA6-8704-82D737070158}"/>
                  </a:ext>
                </a:extLst>
              </p:cNvPr>
              <p:cNvSpPr/>
              <p:nvPr/>
            </p:nvSpPr>
            <p:spPr bwMode="auto">
              <a:xfrm>
                <a:off x="4994140" y="5108019"/>
                <a:ext cx="46176" cy="21566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0" name="フリーフォーム 40">
                <a:extLst>
                  <a:ext uri="{FF2B5EF4-FFF2-40B4-BE49-F238E27FC236}">
                    <a16:creationId xmlns:a16="http://schemas.microsoft.com/office/drawing/2014/main" id="{1AB79148-71D7-4C1C-92DE-AF485F21A7B1}"/>
                  </a:ext>
                </a:extLst>
              </p:cNvPr>
              <p:cNvSpPr/>
              <p:nvPr/>
            </p:nvSpPr>
            <p:spPr bwMode="auto">
              <a:xfrm>
                <a:off x="5014260" y="5944198"/>
                <a:ext cx="45719" cy="215660"/>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1" name="フリーフォーム 41">
                <a:extLst>
                  <a:ext uri="{FF2B5EF4-FFF2-40B4-BE49-F238E27FC236}">
                    <a16:creationId xmlns:a16="http://schemas.microsoft.com/office/drawing/2014/main" id="{BDA3588C-16BD-49F8-820E-327E22239AA8}"/>
                  </a:ext>
                </a:extLst>
              </p:cNvPr>
              <p:cNvSpPr/>
              <p:nvPr/>
            </p:nvSpPr>
            <p:spPr bwMode="auto">
              <a:xfrm>
                <a:off x="5551309" y="5118839"/>
                <a:ext cx="45719" cy="204841"/>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2" name="フリーフォーム 42">
                <a:extLst>
                  <a:ext uri="{FF2B5EF4-FFF2-40B4-BE49-F238E27FC236}">
                    <a16:creationId xmlns:a16="http://schemas.microsoft.com/office/drawing/2014/main" id="{EE2567A3-0DAE-44C2-8F14-C28713DDDF61}"/>
                  </a:ext>
                </a:extLst>
              </p:cNvPr>
              <p:cNvSpPr/>
              <p:nvPr/>
            </p:nvSpPr>
            <p:spPr bwMode="auto">
              <a:xfrm>
                <a:off x="5039172" y="6156861"/>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3" name="フリーフォーム 43">
                <a:extLst>
                  <a:ext uri="{FF2B5EF4-FFF2-40B4-BE49-F238E27FC236}">
                    <a16:creationId xmlns:a16="http://schemas.microsoft.com/office/drawing/2014/main" id="{33F588BB-46A5-48FB-8F83-8A793E8B709B}"/>
                  </a:ext>
                </a:extLst>
              </p:cNvPr>
              <p:cNvSpPr/>
              <p:nvPr/>
            </p:nvSpPr>
            <p:spPr bwMode="auto">
              <a:xfrm flipH="1">
                <a:off x="5528449" y="5949817"/>
                <a:ext cx="45719" cy="215660"/>
              </a:xfrm>
              <a:custGeom>
                <a:avLst/>
                <a:gdLst>
                  <a:gd name="connsiteX0" fmla="*/ 0 w 0"/>
                  <a:gd name="connsiteY0" fmla="*/ 0 h 431321"/>
                  <a:gd name="connsiteX1" fmla="*/ 0 w 0"/>
                  <a:gd name="connsiteY1" fmla="*/ 431321 h 431321"/>
                </a:gdLst>
                <a:ahLst/>
                <a:cxnLst>
                  <a:cxn ang="0">
                    <a:pos x="connsiteX0" y="connsiteY0"/>
                  </a:cxn>
                  <a:cxn ang="0">
                    <a:pos x="connsiteX1" y="connsiteY1"/>
                  </a:cxn>
                </a:cxnLst>
                <a:rect l="l" t="t" r="r" b="b"/>
                <a:pathLst>
                  <a:path h="431321">
                    <a:moveTo>
                      <a:pt x="0" y="0"/>
                    </a:moveTo>
                    <a:lnTo>
                      <a:pt x="0" y="431321"/>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4" name="フリーフォーム 48">
                <a:extLst>
                  <a:ext uri="{FF2B5EF4-FFF2-40B4-BE49-F238E27FC236}">
                    <a16:creationId xmlns:a16="http://schemas.microsoft.com/office/drawing/2014/main" id="{38C65B34-6651-4139-83D1-62F7D9ED90B5}"/>
                  </a:ext>
                </a:extLst>
              </p:cNvPr>
              <p:cNvSpPr/>
              <p:nvPr/>
            </p:nvSpPr>
            <p:spPr bwMode="auto">
              <a:xfrm flipV="1">
                <a:off x="5551309" y="5277960"/>
                <a:ext cx="1298065" cy="56540"/>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5" name="フリーフォーム 49">
                <a:extLst>
                  <a:ext uri="{FF2B5EF4-FFF2-40B4-BE49-F238E27FC236}">
                    <a16:creationId xmlns:a16="http://schemas.microsoft.com/office/drawing/2014/main" id="{5A8CA26E-1FE6-4570-9C1E-8B8B55E08976}"/>
                  </a:ext>
                </a:extLst>
              </p:cNvPr>
              <p:cNvSpPr/>
              <p:nvPr/>
            </p:nvSpPr>
            <p:spPr bwMode="auto">
              <a:xfrm flipV="1">
                <a:off x="5578323" y="5906717"/>
                <a:ext cx="1298065" cy="56540"/>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26" name="円/楕円 50">
                <a:extLst>
                  <a:ext uri="{FF2B5EF4-FFF2-40B4-BE49-F238E27FC236}">
                    <a16:creationId xmlns:a16="http://schemas.microsoft.com/office/drawing/2014/main" id="{AF98E9CE-EBF7-4A17-A25A-706DEE7E6F75}"/>
                  </a:ext>
                </a:extLst>
              </p:cNvPr>
              <p:cNvSpPr/>
              <p:nvPr/>
            </p:nvSpPr>
            <p:spPr bwMode="auto">
              <a:xfrm>
                <a:off x="2813184" y="5477744"/>
                <a:ext cx="385763" cy="372139"/>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127" name="円/楕円 51">
                <a:extLst>
                  <a:ext uri="{FF2B5EF4-FFF2-40B4-BE49-F238E27FC236}">
                    <a16:creationId xmlns:a16="http://schemas.microsoft.com/office/drawing/2014/main" id="{FAE0B6BD-2E03-428A-9DC8-EB34D5E48801}"/>
                  </a:ext>
                </a:extLst>
              </p:cNvPr>
              <p:cNvSpPr/>
              <p:nvPr/>
            </p:nvSpPr>
            <p:spPr bwMode="auto">
              <a:xfrm>
                <a:off x="4171313" y="5466504"/>
                <a:ext cx="385763" cy="372139"/>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128" name="円/楕円 52">
                <a:extLst>
                  <a:ext uri="{FF2B5EF4-FFF2-40B4-BE49-F238E27FC236}">
                    <a16:creationId xmlns:a16="http://schemas.microsoft.com/office/drawing/2014/main" id="{BE104EE3-CE57-4B98-99C9-F845EDDC99E3}"/>
                  </a:ext>
                </a:extLst>
              </p:cNvPr>
              <p:cNvSpPr/>
              <p:nvPr/>
            </p:nvSpPr>
            <p:spPr bwMode="auto">
              <a:xfrm>
                <a:off x="5088133" y="5487286"/>
                <a:ext cx="385763" cy="372139"/>
              </a:xfrm>
              <a:prstGeom prst="ellipse">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129" name="フリーフォーム 61">
                <a:extLst>
                  <a:ext uri="{FF2B5EF4-FFF2-40B4-BE49-F238E27FC236}">
                    <a16:creationId xmlns:a16="http://schemas.microsoft.com/office/drawing/2014/main" id="{E5741406-8C95-4EE2-9C46-6350491A7A74}"/>
                  </a:ext>
                </a:extLst>
              </p:cNvPr>
              <p:cNvSpPr/>
              <p:nvPr/>
            </p:nvSpPr>
            <p:spPr bwMode="auto">
              <a:xfrm>
                <a:off x="5022537" y="5073121"/>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ys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30" name="フリーフォーム 62">
                <a:extLst>
                  <a:ext uri="{FF2B5EF4-FFF2-40B4-BE49-F238E27FC236}">
                    <a16:creationId xmlns:a16="http://schemas.microsoft.com/office/drawing/2014/main" id="{3139C234-CD58-4A6D-A377-AE4129998995}"/>
                  </a:ext>
                </a:extLst>
              </p:cNvPr>
              <p:cNvSpPr/>
              <p:nvPr/>
            </p:nvSpPr>
            <p:spPr bwMode="auto">
              <a:xfrm>
                <a:off x="2881278" y="5078143"/>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31" name="フリーフォーム 63">
                <a:extLst>
                  <a:ext uri="{FF2B5EF4-FFF2-40B4-BE49-F238E27FC236}">
                    <a16:creationId xmlns:a16="http://schemas.microsoft.com/office/drawing/2014/main" id="{EC5708A5-4C61-49B6-AACE-383F50DC71F6}"/>
                  </a:ext>
                </a:extLst>
              </p:cNvPr>
              <p:cNvSpPr/>
              <p:nvPr/>
            </p:nvSpPr>
            <p:spPr bwMode="auto">
              <a:xfrm>
                <a:off x="3957421" y="5095980"/>
                <a:ext cx="539151" cy="45719"/>
              </a:xfrm>
              <a:custGeom>
                <a:avLst/>
                <a:gdLst>
                  <a:gd name="connsiteX0" fmla="*/ 0 w 595223"/>
                  <a:gd name="connsiteY0" fmla="*/ 0 h 0"/>
                  <a:gd name="connsiteX1" fmla="*/ 595223 w 595223"/>
                  <a:gd name="connsiteY1" fmla="*/ 0 h 0"/>
                </a:gdLst>
                <a:ahLst/>
                <a:cxnLst>
                  <a:cxn ang="0">
                    <a:pos x="connsiteX0" y="connsiteY0"/>
                  </a:cxn>
                  <a:cxn ang="0">
                    <a:pos x="connsiteX1" y="connsiteY1"/>
                  </a:cxn>
                </a:cxnLst>
                <a:rect l="l" t="t" r="r" b="b"/>
                <a:pathLst>
                  <a:path w="595223">
                    <a:moveTo>
                      <a:pt x="0" y="0"/>
                    </a:moveTo>
                    <a:lnTo>
                      <a:pt x="595223" y="0"/>
                    </a:lnTo>
                  </a:path>
                </a:pathLst>
              </a:custGeom>
              <a:noFill/>
              <a:ln w="41275" cap="flat" cmpd="sng" algn="ctr">
                <a:solidFill>
                  <a:srgbClr val="7030A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86" name="円/楕円 50">
                <a:extLst>
                  <a:ext uri="{FF2B5EF4-FFF2-40B4-BE49-F238E27FC236}">
                    <a16:creationId xmlns:a16="http://schemas.microsoft.com/office/drawing/2014/main" id="{6857DD7D-5742-41D2-9E27-5AAECD2FF66B}"/>
                  </a:ext>
                </a:extLst>
              </p:cNvPr>
              <p:cNvSpPr/>
              <p:nvPr/>
            </p:nvSpPr>
            <p:spPr bwMode="auto">
              <a:xfrm>
                <a:off x="3183645" y="5478740"/>
                <a:ext cx="385763" cy="372139"/>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92" name="円/楕円 50">
                <a:extLst>
                  <a:ext uri="{FF2B5EF4-FFF2-40B4-BE49-F238E27FC236}">
                    <a16:creationId xmlns:a16="http://schemas.microsoft.com/office/drawing/2014/main" id="{46B9B35F-6DB9-4F70-B0EB-CF3F3E8FB697}"/>
                  </a:ext>
                </a:extLst>
              </p:cNvPr>
              <p:cNvSpPr/>
              <p:nvPr/>
            </p:nvSpPr>
            <p:spPr bwMode="auto">
              <a:xfrm>
                <a:off x="3799034" y="5479190"/>
                <a:ext cx="385763" cy="372139"/>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grpSp>
        <p:cxnSp>
          <p:nvCxnSpPr>
            <p:cNvPr id="90" name="直線矢印コネクタ 89">
              <a:extLst>
                <a:ext uri="{FF2B5EF4-FFF2-40B4-BE49-F238E27FC236}">
                  <a16:creationId xmlns:a16="http://schemas.microsoft.com/office/drawing/2014/main" id="{109E1E14-7045-4AED-89F3-5A54EBCB4BBD}"/>
                </a:ext>
              </a:extLst>
            </p:cNvPr>
            <p:cNvCxnSpPr/>
            <p:nvPr/>
          </p:nvCxnSpPr>
          <p:spPr bwMode="auto">
            <a:xfrm flipH="1">
              <a:off x="5364629" y="5578426"/>
              <a:ext cx="207240" cy="0"/>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91" name="直線矢印コネクタ 90">
              <a:extLst>
                <a:ext uri="{FF2B5EF4-FFF2-40B4-BE49-F238E27FC236}">
                  <a16:creationId xmlns:a16="http://schemas.microsoft.com/office/drawing/2014/main" id="{DBD276E3-9049-4065-9C1D-C2BBF585F79E}"/>
                </a:ext>
              </a:extLst>
            </p:cNvPr>
            <p:cNvCxnSpPr/>
            <p:nvPr/>
          </p:nvCxnSpPr>
          <p:spPr bwMode="auto">
            <a:xfrm>
              <a:off x="1360913" y="5573686"/>
              <a:ext cx="319177" cy="8626"/>
            </a:xfrm>
            <a:prstGeom prst="straightConnector1">
              <a:avLst/>
            </a:prstGeom>
            <a:solidFill>
              <a:schemeClr val="accent1"/>
            </a:solidFill>
            <a:ln w="19050" cap="flat" cmpd="sng" algn="ctr">
              <a:solidFill>
                <a:srgbClr val="FF0000"/>
              </a:solidFill>
              <a:prstDash val="solid"/>
              <a:round/>
              <a:headEnd type="none" w="med" len="med"/>
              <a:tailEnd type="arrow"/>
            </a:ln>
          </p:spPr>
        </p:cxnSp>
        <p:sp>
          <p:nvSpPr>
            <p:cNvPr id="93" name="テキスト ボックス 92">
              <a:extLst>
                <a:ext uri="{FF2B5EF4-FFF2-40B4-BE49-F238E27FC236}">
                  <a16:creationId xmlns:a16="http://schemas.microsoft.com/office/drawing/2014/main" id="{21C01C46-B3C2-49E0-A37C-EBBEACA6FE3A}"/>
                </a:ext>
              </a:extLst>
            </p:cNvPr>
            <p:cNvSpPr txBox="1"/>
            <p:nvPr/>
          </p:nvSpPr>
          <p:spPr>
            <a:xfrm>
              <a:off x="1662082" y="6163920"/>
              <a:ext cx="2224620" cy="456233"/>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１</a:t>
              </a:r>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00T/h×</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４機</a:t>
              </a:r>
            </a:p>
          </p:txBody>
        </p:sp>
        <p:sp>
          <p:nvSpPr>
            <p:cNvPr id="94" name="テキスト ボックス 93">
              <a:extLst>
                <a:ext uri="{FF2B5EF4-FFF2-40B4-BE49-F238E27FC236}">
                  <a16:creationId xmlns:a16="http://schemas.microsoft.com/office/drawing/2014/main" id="{5CBC7E06-6064-419C-BACA-8AF1967146C2}"/>
                </a:ext>
              </a:extLst>
            </p:cNvPr>
            <p:cNvSpPr txBox="1"/>
            <p:nvPr/>
          </p:nvSpPr>
          <p:spPr>
            <a:xfrm>
              <a:off x="4055634" y="6117632"/>
              <a:ext cx="2384330" cy="415894"/>
            </a:xfrm>
            <a:prstGeom prst="rect">
              <a:avLst/>
            </a:prstGeom>
            <a:no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cs typeface="Meiryo UI" panose="020B0604030504040204" pitchFamily="50" charset="-128"/>
                </a:rPr>
                <a:t>270T/h×1</a:t>
              </a:r>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機</a:t>
              </a:r>
            </a:p>
          </p:txBody>
        </p:sp>
        <p:sp>
          <p:nvSpPr>
            <p:cNvPr id="95" name="テキスト ボックス 94">
              <a:extLst>
                <a:ext uri="{FF2B5EF4-FFF2-40B4-BE49-F238E27FC236}">
                  <a16:creationId xmlns:a16="http://schemas.microsoft.com/office/drawing/2014/main" id="{3668F3F0-B32D-4A19-B7B0-33FF9C29212E}"/>
                </a:ext>
              </a:extLst>
            </p:cNvPr>
            <p:cNvSpPr txBox="1"/>
            <p:nvPr/>
          </p:nvSpPr>
          <p:spPr>
            <a:xfrm>
              <a:off x="1953956" y="6520207"/>
              <a:ext cx="1727006" cy="456233"/>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既設ポンプ</a:t>
              </a:r>
            </a:p>
          </p:txBody>
        </p:sp>
        <p:sp>
          <p:nvSpPr>
            <p:cNvPr id="96" name="テキスト ボックス 95">
              <a:extLst>
                <a:ext uri="{FF2B5EF4-FFF2-40B4-BE49-F238E27FC236}">
                  <a16:creationId xmlns:a16="http://schemas.microsoft.com/office/drawing/2014/main" id="{9B0408E0-3AC3-422A-9D25-251693FDB97F}"/>
                </a:ext>
              </a:extLst>
            </p:cNvPr>
            <p:cNvSpPr txBox="1"/>
            <p:nvPr/>
          </p:nvSpPr>
          <p:spPr>
            <a:xfrm>
              <a:off x="4154739" y="6505311"/>
              <a:ext cx="1564575" cy="307777"/>
            </a:xfrm>
            <a:prstGeom prst="rect">
              <a:avLst/>
            </a:prstGeom>
            <a:noFill/>
          </p:spPr>
          <p:txBody>
            <a:bodyPr wrap="square" rtlCol="0">
              <a:spAutoFit/>
            </a:bodyPr>
            <a:lstStyle/>
            <a:p>
              <a:r>
                <a:rPr kumimoji="1"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今回増設</a:t>
              </a:r>
            </a:p>
          </p:txBody>
        </p:sp>
        <p:sp>
          <p:nvSpPr>
            <p:cNvPr id="97" name="フリーフォーム 67">
              <a:extLst>
                <a:ext uri="{FF2B5EF4-FFF2-40B4-BE49-F238E27FC236}">
                  <a16:creationId xmlns:a16="http://schemas.microsoft.com/office/drawing/2014/main" id="{7B4F92FD-1BE3-4EC7-BD6B-E2DDE40766B3}"/>
                </a:ext>
              </a:extLst>
            </p:cNvPr>
            <p:cNvSpPr/>
            <p:nvPr/>
          </p:nvSpPr>
          <p:spPr bwMode="auto">
            <a:xfrm>
              <a:off x="2406771" y="4349874"/>
              <a:ext cx="2720097" cy="1061049"/>
            </a:xfrm>
            <a:custGeom>
              <a:avLst/>
              <a:gdLst>
                <a:gd name="connsiteX0" fmla="*/ 0 w 3036498"/>
                <a:gd name="connsiteY0" fmla="*/ 1061049 h 1061049"/>
                <a:gd name="connsiteX1" fmla="*/ 0 w 3036498"/>
                <a:gd name="connsiteY1" fmla="*/ 0 h 1061049"/>
                <a:gd name="connsiteX2" fmla="*/ 3036498 w 3036498"/>
                <a:gd name="connsiteY2" fmla="*/ 0 h 1061049"/>
              </a:gdLst>
              <a:ahLst/>
              <a:cxnLst>
                <a:cxn ang="0">
                  <a:pos x="connsiteX0" y="connsiteY0"/>
                </a:cxn>
                <a:cxn ang="0">
                  <a:pos x="connsiteX1" y="connsiteY1"/>
                </a:cxn>
                <a:cxn ang="0">
                  <a:pos x="connsiteX2" y="connsiteY2"/>
                </a:cxn>
              </a:cxnLst>
              <a:rect l="l" t="t" r="r" b="b"/>
              <a:pathLst>
                <a:path w="3036498" h="1061049">
                  <a:moveTo>
                    <a:pt x="0" y="1061049"/>
                  </a:moveTo>
                  <a:lnTo>
                    <a:pt x="0" y="0"/>
                  </a:lnTo>
                  <a:lnTo>
                    <a:pt x="3036498" y="0"/>
                  </a:lnTo>
                </a:path>
              </a:pathLst>
            </a:custGeom>
            <a:noFill/>
            <a:ln w="2540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98" name="フリーフォーム 68">
              <a:extLst>
                <a:ext uri="{FF2B5EF4-FFF2-40B4-BE49-F238E27FC236}">
                  <a16:creationId xmlns:a16="http://schemas.microsoft.com/office/drawing/2014/main" id="{F9EAF00A-B691-4D67-BBEF-D677C702F271}"/>
                </a:ext>
              </a:extLst>
            </p:cNvPr>
            <p:cNvSpPr/>
            <p:nvPr/>
          </p:nvSpPr>
          <p:spPr bwMode="auto">
            <a:xfrm>
              <a:off x="3422642" y="4506967"/>
              <a:ext cx="1666845" cy="915211"/>
            </a:xfrm>
            <a:custGeom>
              <a:avLst/>
              <a:gdLst>
                <a:gd name="connsiteX0" fmla="*/ 0 w 3036498"/>
                <a:gd name="connsiteY0" fmla="*/ 1061049 h 1061049"/>
                <a:gd name="connsiteX1" fmla="*/ 0 w 3036498"/>
                <a:gd name="connsiteY1" fmla="*/ 0 h 1061049"/>
                <a:gd name="connsiteX2" fmla="*/ 3036498 w 3036498"/>
                <a:gd name="connsiteY2" fmla="*/ 0 h 1061049"/>
              </a:gdLst>
              <a:ahLst/>
              <a:cxnLst>
                <a:cxn ang="0">
                  <a:pos x="connsiteX0" y="connsiteY0"/>
                </a:cxn>
                <a:cxn ang="0">
                  <a:pos x="connsiteX1" y="connsiteY1"/>
                </a:cxn>
                <a:cxn ang="0">
                  <a:pos x="connsiteX2" y="connsiteY2"/>
                </a:cxn>
              </a:cxnLst>
              <a:rect l="l" t="t" r="r" b="b"/>
              <a:pathLst>
                <a:path w="3036498" h="1061049">
                  <a:moveTo>
                    <a:pt x="0" y="1061049"/>
                  </a:moveTo>
                  <a:lnTo>
                    <a:pt x="0" y="0"/>
                  </a:lnTo>
                  <a:lnTo>
                    <a:pt x="3036498" y="0"/>
                  </a:lnTo>
                </a:path>
              </a:pathLst>
            </a:custGeom>
            <a:noFill/>
            <a:ln w="25400" cap="flat" cmpd="sng" algn="ctr">
              <a:solidFill>
                <a:schemeClr val="tx1"/>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99" name="フリーフォーム 69">
              <a:extLst>
                <a:ext uri="{FF2B5EF4-FFF2-40B4-BE49-F238E27FC236}">
                  <a16:creationId xmlns:a16="http://schemas.microsoft.com/office/drawing/2014/main" id="{7B348076-38C1-4C9F-9F13-18361AD0D7E9}"/>
                </a:ext>
              </a:extLst>
            </p:cNvPr>
            <p:cNvSpPr/>
            <p:nvPr/>
          </p:nvSpPr>
          <p:spPr bwMode="auto">
            <a:xfrm>
              <a:off x="4495970" y="4641011"/>
              <a:ext cx="630898" cy="792963"/>
            </a:xfrm>
            <a:custGeom>
              <a:avLst/>
              <a:gdLst>
                <a:gd name="connsiteX0" fmla="*/ 0 w 3036498"/>
                <a:gd name="connsiteY0" fmla="*/ 1061049 h 1061049"/>
                <a:gd name="connsiteX1" fmla="*/ 0 w 3036498"/>
                <a:gd name="connsiteY1" fmla="*/ 0 h 1061049"/>
                <a:gd name="connsiteX2" fmla="*/ 3036498 w 3036498"/>
                <a:gd name="connsiteY2" fmla="*/ 0 h 1061049"/>
              </a:gdLst>
              <a:ahLst/>
              <a:cxnLst>
                <a:cxn ang="0">
                  <a:pos x="connsiteX0" y="connsiteY0"/>
                </a:cxn>
                <a:cxn ang="0">
                  <a:pos x="connsiteX1" y="connsiteY1"/>
                </a:cxn>
                <a:cxn ang="0">
                  <a:pos x="connsiteX2" y="connsiteY2"/>
                </a:cxn>
              </a:cxnLst>
              <a:rect l="l" t="t" r="r" b="b"/>
              <a:pathLst>
                <a:path w="3036498" h="1061049">
                  <a:moveTo>
                    <a:pt x="0" y="1061049"/>
                  </a:moveTo>
                  <a:lnTo>
                    <a:pt x="0" y="0"/>
                  </a:lnTo>
                  <a:lnTo>
                    <a:pt x="3036498" y="0"/>
                  </a:lnTo>
                </a:path>
              </a:pathLst>
            </a:custGeom>
            <a:noFill/>
            <a:ln w="38100" cap="flat" cmpd="sng" algn="ctr">
              <a:solidFill>
                <a:srgbClr val="FF0000"/>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0" name="テキスト ボックス 99">
              <a:extLst>
                <a:ext uri="{FF2B5EF4-FFF2-40B4-BE49-F238E27FC236}">
                  <a16:creationId xmlns:a16="http://schemas.microsoft.com/office/drawing/2014/main" id="{C1EE121A-78C9-4600-B810-2569CA987FC3}"/>
                </a:ext>
              </a:extLst>
            </p:cNvPr>
            <p:cNvSpPr txBox="1"/>
            <p:nvPr/>
          </p:nvSpPr>
          <p:spPr>
            <a:xfrm>
              <a:off x="5068216" y="4119290"/>
              <a:ext cx="1661066" cy="707019"/>
            </a:xfrm>
            <a:prstGeom prst="rect">
              <a:avLst/>
            </a:prstGeom>
            <a:noFill/>
            <a:ln>
              <a:solidFill>
                <a:schemeClr val="tx1"/>
              </a:solidFill>
            </a:ln>
          </p:spPr>
          <p:txBody>
            <a:bodyPr wrap="square" rtlCol="0">
              <a:spAutoFit/>
            </a:bodyPr>
            <a:lstStyle/>
            <a:p>
              <a:r>
                <a:rPr kumimoji="1" lang="en-US" altLang="ja-JP" sz="1400" dirty="0"/>
                <a:t>No.16</a:t>
              </a:r>
              <a:r>
                <a:rPr kumimoji="1" lang="ja-JP" altLang="en-US" sz="1400" dirty="0"/>
                <a:t>水処理施設</a:t>
              </a:r>
            </a:p>
          </p:txBody>
        </p:sp>
        <p:sp>
          <p:nvSpPr>
            <p:cNvPr id="102" name="テキスト ボックス 101">
              <a:extLst>
                <a:ext uri="{FF2B5EF4-FFF2-40B4-BE49-F238E27FC236}">
                  <a16:creationId xmlns:a16="http://schemas.microsoft.com/office/drawing/2014/main" id="{DB8B8015-0E79-423A-B0C4-0F91431FFCC8}"/>
                </a:ext>
              </a:extLst>
            </p:cNvPr>
            <p:cNvSpPr txBox="1"/>
            <p:nvPr/>
          </p:nvSpPr>
          <p:spPr>
            <a:xfrm>
              <a:off x="788361" y="5417678"/>
              <a:ext cx="998060" cy="456233"/>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雨水</a:t>
              </a:r>
            </a:p>
          </p:txBody>
        </p:sp>
        <p:sp>
          <p:nvSpPr>
            <p:cNvPr id="135" name="テキスト ボックス 134">
              <a:extLst>
                <a:ext uri="{FF2B5EF4-FFF2-40B4-BE49-F238E27FC236}">
                  <a16:creationId xmlns:a16="http://schemas.microsoft.com/office/drawing/2014/main" id="{AD67B69E-DB08-4CB0-8A30-AEC0DAF95E32}"/>
                </a:ext>
              </a:extLst>
            </p:cNvPr>
            <p:cNvSpPr txBox="1"/>
            <p:nvPr/>
          </p:nvSpPr>
          <p:spPr>
            <a:xfrm>
              <a:off x="5755789" y="5375806"/>
              <a:ext cx="998060" cy="456233"/>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雨水</a:t>
              </a:r>
            </a:p>
          </p:txBody>
        </p:sp>
      </p:grpSp>
      <p:sp>
        <p:nvSpPr>
          <p:cNvPr id="88" name="正方形/長方形 87">
            <a:extLst>
              <a:ext uri="{FF2B5EF4-FFF2-40B4-BE49-F238E27FC236}">
                <a16:creationId xmlns:a16="http://schemas.microsoft.com/office/drawing/2014/main" id="{659F86DB-8241-4BC1-9AB8-AC8A728B27C0}"/>
              </a:ext>
            </a:extLst>
          </p:cNvPr>
          <p:cNvSpPr/>
          <p:nvPr/>
        </p:nvSpPr>
        <p:spPr bwMode="auto">
          <a:xfrm>
            <a:off x="192743" y="4587031"/>
            <a:ext cx="3830617" cy="1885494"/>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pSp>
        <p:nvGrpSpPr>
          <p:cNvPr id="15" name="グループ化 14">
            <a:extLst>
              <a:ext uri="{FF2B5EF4-FFF2-40B4-BE49-F238E27FC236}">
                <a16:creationId xmlns:a16="http://schemas.microsoft.com/office/drawing/2014/main" id="{457396C8-2580-4874-84B7-09D21CBED99F}"/>
              </a:ext>
            </a:extLst>
          </p:cNvPr>
          <p:cNvGrpSpPr/>
          <p:nvPr/>
        </p:nvGrpSpPr>
        <p:grpSpPr>
          <a:xfrm>
            <a:off x="441780" y="2378411"/>
            <a:ext cx="6488500" cy="2915268"/>
            <a:chOff x="-831431" y="2343984"/>
            <a:chExt cx="7248748" cy="3512502"/>
          </a:xfrm>
        </p:grpSpPr>
        <p:grpSp>
          <p:nvGrpSpPr>
            <p:cNvPr id="74" name="グループ化 73"/>
            <p:cNvGrpSpPr/>
            <p:nvPr/>
          </p:nvGrpSpPr>
          <p:grpSpPr>
            <a:xfrm>
              <a:off x="164338" y="2343984"/>
              <a:ext cx="6252979" cy="2566881"/>
              <a:chOff x="136168" y="1151092"/>
              <a:chExt cx="6549774" cy="2868839"/>
            </a:xfrm>
          </p:grpSpPr>
          <p:pic>
            <p:nvPicPr>
              <p:cNvPr id="3" name="Picture 36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168" y="1151092"/>
                <a:ext cx="5495748" cy="28688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テキスト ボックス 11"/>
              <p:cNvSpPr txBox="1">
                <a:spLocks noChangeArrowheads="1"/>
              </p:cNvSpPr>
              <p:nvPr/>
            </p:nvSpPr>
            <p:spPr bwMode="auto">
              <a:xfrm>
                <a:off x="3748679" y="2007744"/>
                <a:ext cx="1321431" cy="3314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線材工場</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テキスト ボックス 11"/>
              <p:cNvSpPr txBox="1">
                <a:spLocks noChangeArrowheads="1"/>
              </p:cNvSpPr>
              <p:nvPr/>
            </p:nvSpPr>
            <p:spPr bwMode="auto">
              <a:xfrm>
                <a:off x="705145" y="2038521"/>
                <a:ext cx="1630714" cy="3006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鋼片</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加工工場</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テキスト ボックス 11"/>
              <p:cNvSpPr txBox="1">
                <a:spLocks noChangeArrowheads="1"/>
              </p:cNvSpPr>
              <p:nvPr/>
            </p:nvSpPr>
            <p:spPr bwMode="auto">
              <a:xfrm>
                <a:off x="4508303" y="2780391"/>
                <a:ext cx="628590" cy="6522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立体倉庫</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フリーフォーム 7"/>
              <p:cNvSpPr/>
              <p:nvPr/>
            </p:nvSpPr>
            <p:spPr bwMode="auto">
              <a:xfrm>
                <a:off x="256893" y="1570029"/>
                <a:ext cx="4710023" cy="974785"/>
              </a:xfrm>
              <a:custGeom>
                <a:avLst/>
                <a:gdLst>
                  <a:gd name="connsiteX0" fmla="*/ 0 w 4710023"/>
                  <a:gd name="connsiteY0" fmla="*/ 974785 h 974785"/>
                  <a:gd name="connsiteX1" fmla="*/ 17253 w 4710023"/>
                  <a:gd name="connsiteY1" fmla="*/ 0 h 974785"/>
                  <a:gd name="connsiteX2" fmla="*/ 1940944 w 4710023"/>
                  <a:gd name="connsiteY2" fmla="*/ 17253 h 974785"/>
                  <a:gd name="connsiteX3" fmla="*/ 4710023 w 4710023"/>
                  <a:gd name="connsiteY3" fmla="*/ 34506 h 974785"/>
                </a:gdLst>
                <a:ahLst/>
                <a:cxnLst>
                  <a:cxn ang="0">
                    <a:pos x="connsiteX0" y="connsiteY0"/>
                  </a:cxn>
                  <a:cxn ang="0">
                    <a:pos x="connsiteX1" y="connsiteY1"/>
                  </a:cxn>
                  <a:cxn ang="0">
                    <a:pos x="connsiteX2" y="connsiteY2"/>
                  </a:cxn>
                  <a:cxn ang="0">
                    <a:pos x="connsiteX3" y="connsiteY3"/>
                  </a:cxn>
                </a:cxnLst>
                <a:rect l="l" t="t" r="r" b="b"/>
                <a:pathLst>
                  <a:path w="4710023" h="974785">
                    <a:moveTo>
                      <a:pt x="0" y="974785"/>
                    </a:moveTo>
                    <a:lnTo>
                      <a:pt x="17253" y="0"/>
                    </a:lnTo>
                    <a:lnTo>
                      <a:pt x="1940944" y="17253"/>
                    </a:lnTo>
                    <a:lnTo>
                      <a:pt x="4710023" y="34506"/>
                    </a:lnTo>
                  </a:path>
                </a:pathLst>
              </a:custGeom>
              <a:noFill/>
              <a:ln w="41275" cap="flat" cmpd="sng" algn="ctr">
                <a:solidFill>
                  <a:srgbClr val="7030A0"/>
                </a:solidFill>
                <a:prstDash val="dash"/>
                <a:round/>
                <a:headEnd type="none" w="med" len="med"/>
                <a:tailEnd type="oval"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cxnSp>
            <p:nvCxnSpPr>
              <p:cNvPr id="11" name="直線矢印コネクタ 10"/>
              <p:cNvCxnSpPr/>
              <p:nvPr/>
            </p:nvCxnSpPr>
            <p:spPr bwMode="auto">
              <a:xfrm>
                <a:off x="808984" y="1647667"/>
                <a:ext cx="319177" cy="8626"/>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12" name="直線矢印コネクタ 11"/>
              <p:cNvCxnSpPr/>
              <p:nvPr/>
            </p:nvCxnSpPr>
            <p:spPr bwMode="auto">
              <a:xfrm>
                <a:off x="1809648" y="1647667"/>
                <a:ext cx="319177" cy="8626"/>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13" name="直線矢印コネクタ 12"/>
              <p:cNvCxnSpPr/>
              <p:nvPr/>
            </p:nvCxnSpPr>
            <p:spPr bwMode="auto">
              <a:xfrm>
                <a:off x="2827564" y="1647667"/>
                <a:ext cx="319177" cy="8626"/>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14" name="直線矢印コネクタ 13"/>
              <p:cNvCxnSpPr/>
              <p:nvPr/>
            </p:nvCxnSpPr>
            <p:spPr bwMode="auto">
              <a:xfrm>
                <a:off x="3900434" y="1690801"/>
                <a:ext cx="319177" cy="8626"/>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18" name="直線矢印コネクタ 17"/>
              <p:cNvCxnSpPr/>
              <p:nvPr/>
            </p:nvCxnSpPr>
            <p:spPr bwMode="auto">
              <a:xfrm flipV="1">
                <a:off x="385968" y="1889207"/>
                <a:ext cx="0" cy="275633"/>
              </a:xfrm>
              <a:prstGeom prst="straightConnector1">
                <a:avLst/>
              </a:prstGeom>
              <a:solidFill>
                <a:schemeClr val="accent1"/>
              </a:solidFill>
              <a:ln w="19050" cap="flat" cmpd="sng" algn="ctr">
                <a:solidFill>
                  <a:srgbClr val="FF0000"/>
                </a:solidFill>
                <a:prstDash val="solid"/>
                <a:round/>
                <a:headEnd type="none" w="med" len="med"/>
                <a:tailEnd type="arrow"/>
              </a:ln>
            </p:spPr>
          </p:cxnSp>
          <p:cxnSp>
            <p:nvCxnSpPr>
              <p:cNvPr id="45" name="直線矢印コネクタ 44"/>
              <p:cNvCxnSpPr/>
              <p:nvPr/>
            </p:nvCxnSpPr>
            <p:spPr bwMode="auto">
              <a:xfrm flipH="1">
                <a:off x="4789207" y="1742557"/>
                <a:ext cx="207240" cy="0"/>
              </a:xfrm>
              <a:prstGeom prst="straightConnector1">
                <a:avLst/>
              </a:prstGeom>
              <a:solidFill>
                <a:schemeClr val="accent1"/>
              </a:solidFill>
              <a:ln w="19050" cap="flat" cmpd="sng" algn="ctr">
                <a:solidFill>
                  <a:srgbClr val="FF0000"/>
                </a:solidFill>
                <a:prstDash val="solid"/>
                <a:round/>
                <a:headEnd type="none" w="med" len="med"/>
                <a:tailEnd type="arrow"/>
              </a:ln>
            </p:spPr>
          </p:cxnSp>
          <p:sp>
            <p:nvSpPr>
              <p:cNvPr id="54" name="正方形/長方形 53"/>
              <p:cNvSpPr/>
              <p:nvPr/>
            </p:nvSpPr>
            <p:spPr bwMode="auto">
              <a:xfrm>
                <a:off x="4291640" y="1412282"/>
                <a:ext cx="468035" cy="347528"/>
              </a:xfrm>
              <a:prstGeom prst="rect">
                <a:avLst/>
              </a:prstGeom>
              <a:solidFill>
                <a:schemeClr val="accent1">
                  <a:alpha val="33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83" name="正方形/長方形 82">
                <a:extLst>
                  <a:ext uri="{FF2B5EF4-FFF2-40B4-BE49-F238E27FC236}">
                    <a16:creationId xmlns:a16="http://schemas.microsoft.com/office/drawing/2014/main" id="{FAE3D25B-4BBB-4D18-9558-5A3C2217B54C}"/>
                  </a:ext>
                </a:extLst>
              </p:cNvPr>
              <p:cNvSpPr/>
              <p:nvPr/>
            </p:nvSpPr>
            <p:spPr bwMode="auto">
              <a:xfrm>
                <a:off x="4226899" y="2513168"/>
                <a:ext cx="281406" cy="359933"/>
              </a:xfrm>
              <a:prstGeom prst="rect">
                <a:avLst/>
              </a:prstGeom>
              <a:solidFill>
                <a:schemeClr val="accent1">
                  <a:alpha val="33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01" name="テキスト ボックス 11">
                <a:extLst>
                  <a:ext uri="{FF2B5EF4-FFF2-40B4-BE49-F238E27FC236}">
                    <a16:creationId xmlns:a16="http://schemas.microsoft.com/office/drawing/2014/main" id="{6F799F40-CB12-4332-83F2-0E0D42EAA35D}"/>
                  </a:ext>
                </a:extLst>
              </p:cNvPr>
              <p:cNvSpPr txBox="1">
                <a:spLocks noChangeArrowheads="1"/>
              </p:cNvSpPr>
              <p:nvPr/>
            </p:nvSpPr>
            <p:spPr bwMode="auto">
              <a:xfrm>
                <a:off x="5364510" y="1703341"/>
                <a:ext cx="1321432" cy="6980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lnSpc>
                    <a:spcPts val="1200"/>
                  </a:lnSpc>
                  <a:spcBef>
                    <a:spcPct val="50000"/>
                  </a:spcBef>
                  <a:buFontTx/>
                  <a:buNone/>
                </a:pPr>
                <a:r>
                  <a:rPr lang="en-US" altLang="ja-JP" sz="1600" dirty="0">
                    <a:latin typeface="Meiryo UI" panose="020B0604030504040204" pitchFamily="50" charset="-128"/>
                    <a:ea typeface="Meiryo UI" panose="020B0604030504040204" pitchFamily="50" charset="-128"/>
                    <a:cs typeface="Meiryo UI" panose="020B0604030504040204" pitchFamily="50" charset="-128"/>
                  </a:rPr>
                  <a:t>No.16</a:t>
                </a:r>
              </a:p>
              <a:p>
                <a:pPr eaLnBrk="1" hangingPunct="1">
                  <a:lnSpc>
                    <a:spcPts val="1200"/>
                  </a:lnSpc>
                  <a:spcBef>
                    <a:spcPct val="50000"/>
                  </a:spcBef>
                  <a:buFontTx/>
                  <a:buNone/>
                </a:pPr>
                <a:r>
                  <a:rPr lang="ja-JP" altLang="en-US" sz="1600" dirty="0">
                    <a:latin typeface="Meiryo UI" panose="020B0604030504040204" pitchFamily="50" charset="-128"/>
                    <a:ea typeface="Meiryo UI" panose="020B0604030504040204" pitchFamily="50" charset="-128"/>
                    <a:cs typeface="Meiryo UI" panose="020B0604030504040204" pitchFamily="50" charset="-128"/>
                  </a:rPr>
                  <a:t>排水口</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4" name="テキスト ボックス 83"/>
            <p:cNvSpPr txBox="1"/>
            <p:nvPr/>
          </p:nvSpPr>
          <p:spPr>
            <a:xfrm>
              <a:off x="849631" y="2734222"/>
              <a:ext cx="1023002" cy="307777"/>
            </a:xfrm>
            <a:prstGeom prst="rect">
              <a:avLst/>
            </a:prstGeom>
            <a:noFill/>
          </p:spPr>
          <p:txBody>
            <a:bodyPr wrap="square" rtlCol="0">
              <a:spAutoFit/>
            </a:bodyPr>
            <a:lstStyle/>
            <a:p>
              <a:r>
                <a:rPr kumimoji="1" lang="ja-JP" altLang="en-US" sz="1400" b="1"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埋設配管</a:t>
              </a:r>
              <a:endParaRPr kumimoji="1" lang="ja-JP" altLang="en-US" sz="1400" b="1" dirty="0">
                <a:solidFill>
                  <a:srgbClr val="7030A0"/>
                </a:solidFill>
              </a:endParaRPr>
            </a:p>
          </p:txBody>
        </p:sp>
        <p:sp>
          <p:nvSpPr>
            <p:cNvPr id="133" name="テキスト ボックス 132">
              <a:extLst>
                <a:ext uri="{FF2B5EF4-FFF2-40B4-BE49-F238E27FC236}">
                  <a16:creationId xmlns:a16="http://schemas.microsoft.com/office/drawing/2014/main" id="{F39A7FE8-74FD-456A-8483-D21853BB6FAA}"/>
                </a:ext>
              </a:extLst>
            </p:cNvPr>
            <p:cNvSpPr txBox="1"/>
            <p:nvPr/>
          </p:nvSpPr>
          <p:spPr>
            <a:xfrm>
              <a:off x="-831431" y="5548709"/>
              <a:ext cx="1023002" cy="307777"/>
            </a:xfrm>
            <a:prstGeom prst="rect">
              <a:avLst/>
            </a:prstGeom>
            <a:noFill/>
          </p:spPr>
          <p:txBody>
            <a:bodyPr wrap="square" rtlCol="0">
              <a:spAutoFit/>
            </a:bodyPr>
            <a:lstStyle/>
            <a:p>
              <a:r>
                <a:rPr kumimoji="1" lang="ja-JP" altLang="en-US" sz="1400" b="1" dirty="0">
                  <a:solidFill>
                    <a:srgbClr val="7030A0"/>
                  </a:solidFill>
                  <a:latin typeface="メイリオ" panose="020B0604030504040204" pitchFamily="50" charset="-128"/>
                  <a:ea typeface="メイリオ" panose="020B0604030504040204" pitchFamily="50" charset="-128"/>
                  <a:cs typeface="メイリオ" panose="020B0604030504040204" pitchFamily="50" charset="-128"/>
                </a:rPr>
                <a:t>埋設配管</a:t>
              </a:r>
              <a:endParaRPr kumimoji="1" lang="ja-JP" altLang="en-US" sz="1400" b="1" dirty="0">
                <a:solidFill>
                  <a:srgbClr val="7030A0"/>
                </a:solidFill>
              </a:endParaRPr>
            </a:p>
          </p:txBody>
        </p:sp>
      </p:grpSp>
      <p:sp>
        <p:nvSpPr>
          <p:cNvPr id="134" name="フリーフォーム 75">
            <a:extLst>
              <a:ext uri="{FF2B5EF4-FFF2-40B4-BE49-F238E27FC236}">
                <a16:creationId xmlns:a16="http://schemas.microsoft.com/office/drawing/2014/main" id="{9DD329BC-A254-42DF-A2A4-3ED341B1E735}"/>
              </a:ext>
            </a:extLst>
          </p:cNvPr>
          <p:cNvSpPr/>
          <p:nvPr/>
        </p:nvSpPr>
        <p:spPr bwMode="auto">
          <a:xfrm>
            <a:off x="3673295" y="2732960"/>
            <a:ext cx="1579497" cy="1854072"/>
          </a:xfrm>
          <a:custGeom>
            <a:avLst/>
            <a:gdLst>
              <a:gd name="connsiteX0" fmla="*/ 845389 w 845389"/>
              <a:gd name="connsiteY0" fmla="*/ 0 h 2286000"/>
              <a:gd name="connsiteX1" fmla="*/ 103517 w 845389"/>
              <a:gd name="connsiteY1" fmla="*/ 2044460 h 2286000"/>
              <a:gd name="connsiteX2" fmla="*/ 0 w 845389"/>
              <a:gd name="connsiteY2" fmla="*/ 1975449 h 2286000"/>
              <a:gd name="connsiteX3" fmla="*/ 103517 w 845389"/>
              <a:gd name="connsiteY3" fmla="*/ 2286000 h 2286000"/>
              <a:gd name="connsiteX4" fmla="*/ 396816 w 845389"/>
              <a:gd name="connsiteY4" fmla="*/ 2216988 h 2286000"/>
              <a:gd name="connsiteX5" fmla="*/ 267419 w 845389"/>
              <a:gd name="connsiteY5" fmla="*/ 2156603 h 2286000"/>
              <a:gd name="connsiteX6" fmla="*/ 845389 w 845389"/>
              <a:gd name="connsiteY6" fmla="*/ 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5389" h="2286000">
                <a:moveTo>
                  <a:pt x="845389" y="0"/>
                </a:moveTo>
                <a:lnTo>
                  <a:pt x="103517" y="2044460"/>
                </a:lnTo>
                <a:lnTo>
                  <a:pt x="0" y="1975449"/>
                </a:lnTo>
                <a:lnTo>
                  <a:pt x="103517" y="2286000"/>
                </a:lnTo>
                <a:lnTo>
                  <a:pt x="396816" y="2216988"/>
                </a:lnTo>
                <a:lnTo>
                  <a:pt x="267419" y="2156603"/>
                </a:lnTo>
                <a:lnTo>
                  <a:pt x="845389" y="0"/>
                </a:lnTo>
                <a:close/>
              </a:path>
            </a:pathLst>
          </a:cu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6" name="テキスト ボックス 15">
            <a:extLst>
              <a:ext uri="{FF2B5EF4-FFF2-40B4-BE49-F238E27FC236}">
                <a16:creationId xmlns:a16="http://schemas.microsoft.com/office/drawing/2014/main" id="{ED989E0C-1AAF-4082-B2C8-97F0121528DB}"/>
              </a:ext>
            </a:extLst>
          </p:cNvPr>
          <p:cNvSpPr txBox="1"/>
          <p:nvPr/>
        </p:nvSpPr>
        <p:spPr>
          <a:xfrm>
            <a:off x="676276" y="6528963"/>
            <a:ext cx="3679662"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3</a:t>
            </a:r>
            <a:r>
              <a:rPr kumimoji="1" lang="ja-JP" altLang="en-US" sz="1600" dirty="0">
                <a:latin typeface="Meiryo UI" panose="020B0604030504040204" pitchFamily="50" charset="-128"/>
                <a:ea typeface="Meiryo UI" panose="020B0604030504040204" pitchFamily="50" charset="-128"/>
              </a:rPr>
              <a:t>加工</a:t>
            </a:r>
            <a:r>
              <a:rPr kumimoji="1" lang="ja-JP" altLang="en-US" sz="1600" b="1" dirty="0">
                <a:latin typeface="Meiryo UI" panose="020B0604030504040204" pitchFamily="50" charset="-128"/>
                <a:ea typeface="Meiryo UI" panose="020B0604030504040204" pitchFamily="50" charset="-128"/>
              </a:rPr>
              <a:t>山側</a:t>
            </a:r>
            <a:r>
              <a:rPr kumimoji="1" lang="ja-JP" altLang="en-US" sz="1600" dirty="0">
                <a:latin typeface="Meiryo UI" panose="020B0604030504040204" pitchFamily="50" charset="-128"/>
                <a:ea typeface="Meiryo UI" panose="020B0604030504040204" pitchFamily="50" charset="-128"/>
              </a:rPr>
              <a:t>送水能力増強案</a:t>
            </a:r>
          </a:p>
        </p:txBody>
      </p:sp>
      <p:grpSp>
        <p:nvGrpSpPr>
          <p:cNvPr id="137" name="グループ化 136">
            <a:extLst>
              <a:ext uri="{FF2B5EF4-FFF2-40B4-BE49-F238E27FC236}">
                <a16:creationId xmlns:a16="http://schemas.microsoft.com/office/drawing/2014/main" id="{6BB67D4B-761D-4491-8A2B-F8A8A4E8AF13}"/>
              </a:ext>
            </a:extLst>
          </p:cNvPr>
          <p:cNvGrpSpPr/>
          <p:nvPr/>
        </p:nvGrpSpPr>
        <p:grpSpPr>
          <a:xfrm>
            <a:off x="6089733" y="3326381"/>
            <a:ext cx="2843101" cy="3052618"/>
            <a:chOff x="4892697" y="1297014"/>
            <a:chExt cx="3679314" cy="4155080"/>
          </a:xfrm>
        </p:grpSpPr>
        <p:pic>
          <p:nvPicPr>
            <p:cNvPr id="138" name="Picture 2">
              <a:extLst>
                <a:ext uri="{FF2B5EF4-FFF2-40B4-BE49-F238E27FC236}">
                  <a16:creationId xmlns:a16="http://schemas.microsoft.com/office/drawing/2014/main" id="{A67657D9-2C1D-4540-9226-81B86E0E02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250" t="71378" r="-388" b="519"/>
            <a:stretch/>
          </p:blipFill>
          <p:spPr bwMode="auto">
            <a:xfrm>
              <a:off x="5013863" y="1517519"/>
              <a:ext cx="3507737" cy="3752015"/>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139" name="テキスト ボックス 138">
              <a:extLst>
                <a:ext uri="{FF2B5EF4-FFF2-40B4-BE49-F238E27FC236}">
                  <a16:creationId xmlns:a16="http://schemas.microsoft.com/office/drawing/2014/main" id="{69F09659-F33A-44B4-88D1-4732A62DBC8E}"/>
                </a:ext>
              </a:extLst>
            </p:cNvPr>
            <p:cNvSpPr txBox="1"/>
            <p:nvPr/>
          </p:nvSpPr>
          <p:spPr>
            <a:xfrm>
              <a:off x="5935690" y="2609067"/>
              <a:ext cx="1616826" cy="502717"/>
            </a:xfrm>
            <a:prstGeom prst="rect">
              <a:avLst/>
            </a:prstGeom>
            <a:solidFill>
              <a:schemeClr val="bg1"/>
            </a:solid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線材工場</a:t>
              </a:r>
            </a:p>
          </p:txBody>
        </p:sp>
        <p:sp>
          <p:nvSpPr>
            <p:cNvPr id="140" name="テキスト ボックス 139">
              <a:extLst>
                <a:ext uri="{FF2B5EF4-FFF2-40B4-BE49-F238E27FC236}">
                  <a16:creationId xmlns:a16="http://schemas.microsoft.com/office/drawing/2014/main" id="{7DCF8353-DEFB-4162-ACF6-3DF32BE836FB}"/>
                </a:ext>
              </a:extLst>
            </p:cNvPr>
            <p:cNvSpPr txBox="1"/>
            <p:nvPr/>
          </p:nvSpPr>
          <p:spPr>
            <a:xfrm>
              <a:off x="7045000" y="3523764"/>
              <a:ext cx="957547" cy="795968"/>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立体倉庫</a:t>
              </a:r>
            </a:p>
          </p:txBody>
        </p:sp>
        <p:sp>
          <p:nvSpPr>
            <p:cNvPr id="141" name="テキスト ボックス 140">
              <a:extLst>
                <a:ext uri="{FF2B5EF4-FFF2-40B4-BE49-F238E27FC236}">
                  <a16:creationId xmlns:a16="http://schemas.microsoft.com/office/drawing/2014/main" id="{66342B9A-5A4D-40DA-83A7-ECE68AE3B84E}"/>
                </a:ext>
              </a:extLst>
            </p:cNvPr>
            <p:cNvSpPr txBox="1"/>
            <p:nvPr/>
          </p:nvSpPr>
          <p:spPr>
            <a:xfrm>
              <a:off x="6030102" y="3558424"/>
              <a:ext cx="957547" cy="670290"/>
            </a:xfrm>
            <a:prstGeom prst="rect">
              <a:avLst/>
            </a:prstGeom>
            <a:noFill/>
          </p:spPr>
          <p:txBody>
            <a:bodyPr wrap="square" rtlCol="0">
              <a:spAutoFit/>
            </a:bodyPr>
            <a:lstStyle/>
            <a:p>
              <a:r>
                <a:rPr kumimoji="1" lang="ja-JP" altLang="en-US" sz="1300" dirty="0">
                  <a:latin typeface="Meiryo UI" panose="020B0604030504040204" pitchFamily="50" charset="-128"/>
                  <a:ea typeface="Meiryo UI" panose="020B0604030504040204" pitchFamily="50" charset="-128"/>
                  <a:cs typeface="Meiryo UI" panose="020B0604030504040204" pitchFamily="50" charset="-128"/>
                </a:rPr>
                <a:t>焼却ﾌﾟﾗﾝﾄ</a:t>
              </a:r>
            </a:p>
          </p:txBody>
        </p:sp>
        <p:sp>
          <p:nvSpPr>
            <p:cNvPr id="142" name="テキスト ボックス 141">
              <a:extLst>
                <a:ext uri="{FF2B5EF4-FFF2-40B4-BE49-F238E27FC236}">
                  <a16:creationId xmlns:a16="http://schemas.microsoft.com/office/drawing/2014/main" id="{4EF3F0BD-0D51-474F-ADE9-005CE1906E39}"/>
                </a:ext>
              </a:extLst>
            </p:cNvPr>
            <p:cNvSpPr txBox="1"/>
            <p:nvPr/>
          </p:nvSpPr>
          <p:spPr>
            <a:xfrm>
              <a:off x="4892697" y="3775333"/>
              <a:ext cx="1055975" cy="276999"/>
            </a:xfrm>
            <a:prstGeom prst="rect">
              <a:avLst/>
            </a:prstGeom>
            <a:solidFill>
              <a:schemeClr val="bg1"/>
            </a:solid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輸出倉庫</a:t>
              </a:r>
            </a:p>
          </p:txBody>
        </p:sp>
        <p:sp>
          <p:nvSpPr>
            <p:cNvPr id="143" name="テキスト ボックス 142">
              <a:extLst>
                <a:ext uri="{FF2B5EF4-FFF2-40B4-BE49-F238E27FC236}">
                  <a16:creationId xmlns:a16="http://schemas.microsoft.com/office/drawing/2014/main" id="{C0BC3951-2619-473B-BB34-CAD657350E61}"/>
                </a:ext>
              </a:extLst>
            </p:cNvPr>
            <p:cNvSpPr txBox="1"/>
            <p:nvPr/>
          </p:nvSpPr>
          <p:spPr>
            <a:xfrm>
              <a:off x="5733498" y="1760295"/>
              <a:ext cx="1380430" cy="284657"/>
            </a:xfrm>
            <a:prstGeom prst="rect">
              <a:avLst/>
            </a:prstGeom>
            <a:solidFill>
              <a:schemeClr val="bg1"/>
            </a:solid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No.2</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ビレットヤード</a:t>
              </a:r>
            </a:p>
          </p:txBody>
        </p:sp>
        <p:cxnSp>
          <p:nvCxnSpPr>
            <p:cNvPr id="144" name="直線コネクタ 143">
              <a:extLst>
                <a:ext uri="{FF2B5EF4-FFF2-40B4-BE49-F238E27FC236}">
                  <a16:creationId xmlns:a16="http://schemas.microsoft.com/office/drawing/2014/main" id="{8A4ECF70-095F-49B0-9E5A-5CB41CA29E5D}"/>
                </a:ext>
              </a:extLst>
            </p:cNvPr>
            <p:cNvCxnSpPr/>
            <p:nvPr/>
          </p:nvCxnSpPr>
          <p:spPr bwMode="auto">
            <a:xfrm>
              <a:off x="5013863" y="2214011"/>
              <a:ext cx="2349856" cy="21967"/>
            </a:xfrm>
            <a:prstGeom prst="line">
              <a:avLst/>
            </a:prstGeom>
            <a:solidFill>
              <a:schemeClr val="accent1"/>
            </a:solidFill>
            <a:ln w="47625" cap="flat" cmpd="sng" algn="ctr">
              <a:solidFill>
                <a:srgbClr val="7030A0"/>
              </a:solidFill>
              <a:prstDash val="solid"/>
              <a:round/>
              <a:headEnd type="none" w="med" len="med"/>
              <a:tailEnd type="triangle" w="med" len="med"/>
            </a:ln>
          </p:spPr>
        </p:cxnSp>
        <p:sp>
          <p:nvSpPr>
            <p:cNvPr id="145" name="テキスト ボックス 144">
              <a:extLst>
                <a:ext uri="{FF2B5EF4-FFF2-40B4-BE49-F238E27FC236}">
                  <a16:creationId xmlns:a16="http://schemas.microsoft.com/office/drawing/2014/main" id="{0F5B05CD-7708-45D9-AE9A-36DE932ED42D}"/>
                </a:ext>
              </a:extLst>
            </p:cNvPr>
            <p:cNvSpPr txBox="1"/>
            <p:nvPr/>
          </p:nvSpPr>
          <p:spPr>
            <a:xfrm>
              <a:off x="7363720" y="1729584"/>
              <a:ext cx="1157880" cy="646331"/>
            </a:xfrm>
            <a:prstGeom prst="rect">
              <a:avLst/>
            </a:prstGeom>
            <a:solidFill>
              <a:schemeClr val="bg1"/>
            </a:solidFill>
            <a:ln>
              <a:solidFill>
                <a:schemeClr val="tx1"/>
              </a:solidFill>
            </a:ln>
          </p:spPr>
          <p:txBody>
            <a:bodyPr wrap="square" rtlCol="0">
              <a:spAutoFit/>
            </a:bodyP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No16</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水処理施設</a:t>
              </a:r>
            </a:p>
          </p:txBody>
        </p:sp>
        <p:cxnSp>
          <p:nvCxnSpPr>
            <p:cNvPr id="146" name="直線コネクタ 145">
              <a:extLst>
                <a:ext uri="{FF2B5EF4-FFF2-40B4-BE49-F238E27FC236}">
                  <a16:creationId xmlns:a16="http://schemas.microsoft.com/office/drawing/2014/main" id="{D861B48E-BC7A-400B-9EED-B6CD592E008B}"/>
                </a:ext>
              </a:extLst>
            </p:cNvPr>
            <p:cNvCxnSpPr/>
            <p:nvPr/>
          </p:nvCxnSpPr>
          <p:spPr bwMode="auto">
            <a:xfrm>
              <a:off x="8053933" y="2126417"/>
              <a:ext cx="209679" cy="0"/>
            </a:xfrm>
            <a:prstGeom prst="line">
              <a:avLst/>
            </a:prstGeom>
            <a:solidFill>
              <a:schemeClr val="accent1"/>
            </a:solidFill>
            <a:ln w="47625" cap="flat" cmpd="sng" algn="ctr">
              <a:solidFill>
                <a:srgbClr val="7030A0"/>
              </a:solidFill>
              <a:prstDash val="solid"/>
              <a:round/>
              <a:headEnd type="none" w="med" len="med"/>
              <a:tailEnd type="triangle" w="med" len="med"/>
            </a:ln>
          </p:spPr>
        </p:cxnSp>
        <p:sp>
          <p:nvSpPr>
            <p:cNvPr id="147" name="フリーフォーム 63">
              <a:extLst>
                <a:ext uri="{FF2B5EF4-FFF2-40B4-BE49-F238E27FC236}">
                  <a16:creationId xmlns:a16="http://schemas.microsoft.com/office/drawing/2014/main" id="{DEDF9F5D-8AEC-4701-B5F6-7AD435F9F4E5}"/>
                </a:ext>
              </a:extLst>
            </p:cNvPr>
            <p:cNvSpPr/>
            <p:nvPr/>
          </p:nvSpPr>
          <p:spPr bwMode="auto">
            <a:xfrm>
              <a:off x="7113930" y="2302645"/>
              <a:ext cx="637632" cy="1052223"/>
            </a:xfrm>
            <a:custGeom>
              <a:avLst/>
              <a:gdLst>
                <a:gd name="connsiteX0" fmla="*/ 0 w 701749"/>
                <a:gd name="connsiteY0" fmla="*/ 1137684 h 1137684"/>
                <a:gd name="connsiteX1" fmla="*/ 691116 w 701749"/>
                <a:gd name="connsiteY1" fmla="*/ 1137684 h 1137684"/>
                <a:gd name="connsiteX2" fmla="*/ 701749 w 701749"/>
                <a:gd name="connsiteY2" fmla="*/ 0 h 1137684"/>
              </a:gdLst>
              <a:ahLst/>
              <a:cxnLst>
                <a:cxn ang="0">
                  <a:pos x="connsiteX0" y="connsiteY0"/>
                </a:cxn>
                <a:cxn ang="0">
                  <a:pos x="connsiteX1" y="connsiteY1"/>
                </a:cxn>
                <a:cxn ang="0">
                  <a:pos x="connsiteX2" y="connsiteY2"/>
                </a:cxn>
              </a:cxnLst>
              <a:rect l="l" t="t" r="r" b="b"/>
              <a:pathLst>
                <a:path w="701749" h="1137684">
                  <a:moveTo>
                    <a:pt x="0" y="1137684"/>
                  </a:moveTo>
                  <a:lnTo>
                    <a:pt x="691116" y="1137684"/>
                  </a:lnTo>
                  <a:cubicBezTo>
                    <a:pt x="694660" y="758456"/>
                    <a:pt x="698205" y="379228"/>
                    <a:pt x="701749" y="0"/>
                  </a:cubicBezTo>
                </a:path>
              </a:pathLst>
            </a:custGeom>
            <a:noFill/>
            <a:ln w="57150" cap="flat" cmpd="sng" algn="ctr">
              <a:solidFill>
                <a:srgbClr val="FF0000"/>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48" name="円/楕円 62">
              <a:extLst>
                <a:ext uri="{FF2B5EF4-FFF2-40B4-BE49-F238E27FC236}">
                  <a16:creationId xmlns:a16="http://schemas.microsoft.com/office/drawing/2014/main" id="{1326FF03-D3B3-4194-B733-C6657094F73D}"/>
                </a:ext>
              </a:extLst>
            </p:cNvPr>
            <p:cNvSpPr/>
            <p:nvPr/>
          </p:nvSpPr>
          <p:spPr bwMode="auto">
            <a:xfrm>
              <a:off x="6767732" y="3178936"/>
              <a:ext cx="350517" cy="344184"/>
            </a:xfrm>
            <a:prstGeom prst="ellipse">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149" name="正方形/長方形 148">
              <a:extLst>
                <a:ext uri="{FF2B5EF4-FFF2-40B4-BE49-F238E27FC236}">
                  <a16:creationId xmlns:a16="http://schemas.microsoft.com/office/drawing/2014/main" id="{3E9F6E95-5899-43C6-B229-272AAF326450}"/>
                </a:ext>
              </a:extLst>
            </p:cNvPr>
            <p:cNvSpPr/>
            <p:nvPr/>
          </p:nvSpPr>
          <p:spPr bwMode="auto">
            <a:xfrm>
              <a:off x="4908221" y="1297014"/>
              <a:ext cx="3663790" cy="4155080"/>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grpSp>
      <p:sp>
        <p:nvSpPr>
          <p:cNvPr id="150" name="フリーフォーム 75">
            <a:extLst>
              <a:ext uri="{FF2B5EF4-FFF2-40B4-BE49-F238E27FC236}">
                <a16:creationId xmlns:a16="http://schemas.microsoft.com/office/drawing/2014/main" id="{05535D36-AB0C-4E07-BBA9-07F90FA5342B}"/>
              </a:ext>
            </a:extLst>
          </p:cNvPr>
          <p:cNvSpPr/>
          <p:nvPr/>
        </p:nvSpPr>
        <p:spPr bwMode="auto">
          <a:xfrm flipH="1">
            <a:off x="4961486" y="3530548"/>
            <a:ext cx="1129240" cy="1059241"/>
          </a:xfrm>
          <a:custGeom>
            <a:avLst/>
            <a:gdLst>
              <a:gd name="connsiteX0" fmla="*/ 845389 w 845389"/>
              <a:gd name="connsiteY0" fmla="*/ 0 h 2286000"/>
              <a:gd name="connsiteX1" fmla="*/ 103517 w 845389"/>
              <a:gd name="connsiteY1" fmla="*/ 2044460 h 2286000"/>
              <a:gd name="connsiteX2" fmla="*/ 0 w 845389"/>
              <a:gd name="connsiteY2" fmla="*/ 1975449 h 2286000"/>
              <a:gd name="connsiteX3" fmla="*/ 103517 w 845389"/>
              <a:gd name="connsiteY3" fmla="*/ 2286000 h 2286000"/>
              <a:gd name="connsiteX4" fmla="*/ 396816 w 845389"/>
              <a:gd name="connsiteY4" fmla="*/ 2216988 h 2286000"/>
              <a:gd name="connsiteX5" fmla="*/ 267419 w 845389"/>
              <a:gd name="connsiteY5" fmla="*/ 2156603 h 2286000"/>
              <a:gd name="connsiteX6" fmla="*/ 845389 w 845389"/>
              <a:gd name="connsiteY6" fmla="*/ 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5389" h="2286000">
                <a:moveTo>
                  <a:pt x="845389" y="0"/>
                </a:moveTo>
                <a:lnTo>
                  <a:pt x="103517" y="2044460"/>
                </a:lnTo>
                <a:lnTo>
                  <a:pt x="0" y="1975449"/>
                </a:lnTo>
                <a:lnTo>
                  <a:pt x="103517" y="2286000"/>
                </a:lnTo>
                <a:lnTo>
                  <a:pt x="396816" y="2216988"/>
                </a:lnTo>
                <a:lnTo>
                  <a:pt x="267419" y="2156603"/>
                </a:lnTo>
                <a:lnTo>
                  <a:pt x="845389" y="0"/>
                </a:lnTo>
                <a:close/>
              </a:path>
            </a:pathLst>
          </a:cu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51" name="テキスト ボックス 150">
            <a:extLst>
              <a:ext uri="{FF2B5EF4-FFF2-40B4-BE49-F238E27FC236}">
                <a16:creationId xmlns:a16="http://schemas.microsoft.com/office/drawing/2014/main" id="{9EDAD3E0-64EF-484B-9A2B-E24A7DDE5BE1}"/>
              </a:ext>
            </a:extLst>
          </p:cNvPr>
          <p:cNvSpPr txBox="1"/>
          <p:nvPr/>
        </p:nvSpPr>
        <p:spPr>
          <a:xfrm>
            <a:off x="6212662" y="6473349"/>
            <a:ext cx="2931338"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rPr>
              <a:t>線材</a:t>
            </a:r>
            <a:r>
              <a:rPr kumimoji="1" lang="ja-JP" altLang="en-US" sz="1600" b="1" dirty="0">
                <a:latin typeface="Meiryo UI" panose="020B0604030504040204" pitchFamily="50" charset="-128"/>
                <a:ea typeface="Meiryo UI" panose="020B0604030504040204" pitchFamily="50" charset="-128"/>
              </a:rPr>
              <a:t>浜側</a:t>
            </a:r>
            <a:r>
              <a:rPr kumimoji="1" lang="ja-JP" altLang="en-US" sz="1600" dirty="0">
                <a:latin typeface="Meiryo UI" panose="020B0604030504040204" pitchFamily="50" charset="-128"/>
                <a:ea typeface="Meiryo UI" panose="020B0604030504040204" pitchFamily="50" charset="-128"/>
              </a:rPr>
              <a:t>送水能力増強案</a:t>
            </a:r>
          </a:p>
        </p:txBody>
      </p:sp>
      <p:sp>
        <p:nvSpPr>
          <p:cNvPr id="85" name="テキスト ボックス 84">
            <a:extLst>
              <a:ext uri="{FF2B5EF4-FFF2-40B4-BE49-F238E27FC236}">
                <a16:creationId xmlns:a16="http://schemas.microsoft.com/office/drawing/2014/main" id="{D03884AF-9A57-4FB7-9785-C71A4EFFB6C8}"/>
              </a:ext>
            </a:extLst>
          </p:cNvPr>
          <p:cNvSpPr txBox="1"/>
          <p:nvPr/>
        </p:nvSpPr>
        <p:spPr>
          <a:xfrm>
            <a:off x="6719093" y="2394233"/>
            <a:ext cx="2174787"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敷地面積で按分</a:t>
            </a:r>
          </a:p>
        </p:txBody>
      </p:sp>
      <p:sp>
        <p:nvSpPr>
          <p:cNvPr id="132" name="テキスト ボックス 131">
            <a:extLst>
              <a:ext uri="{FF2B5EF4-FFF2-40B4-BE49-F238E27FC236}">
                <a16:creationId xmlns:a16="http://schemas.microsoft.com/office/drawing/2014/main" id="{7086942C-A7F5-478B-BB18-6C0839E9D605}"/>
              </a:ext>
            </a:extLst>
          </p:cNvPr>
          <p:cNvSpPr txBox="1"/>
          <p:nvPr/>
        </p:nvSpPr>
        <p:spPr>
          <a:xfrm>
            <a:off x="6832256" y="5877148"/>
            <a:ext cx="1634301" cy="280564"/>
          </a:xfrm>
          <a:prstGeom prst="rect">
            <a:avLst/>
          </a:prstGeom>
          <a:solidFill>
            <a:schemeClr val="bg1"/>
          </a:solid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cs typeface="Meiryo UI" panose="020B0604030504040204" pitchFamily="50" charset="-128"/>
              </a:rPr>
              <a:t>270T/h×1</a:t>
            </a:r>
            <a:r>
              <a:rPr kumimoji="1" lang="ja-JP" altLang="en-US" sz="1400" b="1" dirty="0">
                <a:latin typeface="Meiryo UI" panose="020B0604030504040204" pitchFamily="50" charset="-128"/>
                <a:ea typeface="Meiryo UI" panose="020B0604030504040204" pitchFamily="50" charset="-128"/>
                <a:cs typeface="Meiryo UI" panose="020B0604030504040204" pitchFamily="50" charset="-128"/>
              </a:rPr>
              <a:t>機</a:t>
            </a:r>
          </a:p>
        </p:txBody>
      </p:sp>
      <p:sp>
        <p:nvSpPr>
          <p:cNvPr id="136" name="テキスト ボックス 135">
            <a:extLst>
              <a:ext uri="{FF2B5EF4-FFF2-40B4-BE49-F238E27FC236}">
                <a16:creationId xmlns:a16="http://schemas.microsoft.com/office/drawing/2014/main" id="{CA007C2A-88D2-46EC-9919-497FAD4288FB}"/>
              </a:ext>
            </a:extLst>
          </p:cNvPr>
          <p:cNvSpPr txBox="1"/>
          <p:nvPr/>
        </p:nvSpPr>
        <p:spPr>
          <a:xfrm>
            <a:off x="7068809" y="6145907"/>
            <a:ext cx="1002221" cy="207628"/>
          </a:xfrm>
          <a:prstGeom prst="rect">
            <a:avLst/>
          </a:prstGeom>
          <a:solidFill>
            <a:schemeClr val="bg1"/>
          </a:solidFill>
        </p:spPr>
        <p:txBody>
          <a:bodyPr wrap="square" rtlCol="0">
            <a:spAutoFit/>
          </a:bodyPr>
          <a:lstStyle/>
          <a:p>
            <a:r>
              <a:rPr kumimoji="1"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今回増設</a:t>
            </a:r>
          </a:p>
        </p:txBody>
      </p:sp>
      <p:sp>
        <p:nvSpPr>
          <p:cNvPr id="7" name="矢印: 右 6">
            <a:extLst>
              <a:ext uri="{FF2B5EF4-FFF2-40B4-BE49-F238E27FC236}">
                <a16:creationId xmlns:a16="http://schemas.microsoft.com/office/drawing/2014/main" id="{6423911A-7EA7-48F3-A280-A68A9F48BCE5}"/>
              </a:ext>
            </a:extLst>
          </p:cNvPr>
          <p:cNvSpPr/>
          <p:nvPr/>
        </p:nvSpPr>
        <p:spPr bwMode="auto">
          <a:xfrm>
            <a:off x="5785015" y="2587146"/>
            <a:ext cx="399963" cy="213237"/>
          </a:xfrm>
          <a:prstGeom prst="rightArrow">
            <a:avLst/>
          </a:prstGeom>
          <a:solidFill>
            <a:srgbClr val="7030A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Tree>
    <p:extLst>
      <p:ext uri="{BB962C8B-B14F-4D97-AF65-F5344CB8AC3E}">
        <p14:creationId xmlns:p14="http://schemas.microsoft.com/office/powerpoint/2010/main" val="39234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2-3.</a:t>
            </a:r>
            <a:r>
              <a:rPr lang="ja-JP" altLang="en-US" sz="2400" b="1" dirty="0">
                <a:solidFill>
                  <a:srgbClr val="002060"/>
                </a:solidFill>
                <a:latin typeface="Meiryo UI" pitchFamily="50" charset="-128"/>
                <a:ea typeface="Meiryo UI" pitchFamily="50" charset="-128"/>
                <a:cs typeface="Meiryo UI" pitchFamily="50" charset="-128"/>
                <a:sym typeface="Meiryo UI" pitchFamily="50" charset="-128"/>
              </a:rPr>
              <a:t> ③</a:t>
            </a:r>
            <a:r>
              <a:rPr lang="en-US" altLang="ja-JP" sz="2400" b="1" dirty="0">
                <a:solidFill>
                  <a:srgbClr val="002060"/>
                </a:solidFill>
                <a:latin typeface="Meiryo UI" pitchFamily="50" charset="-128"/>
                <a:ea typeface="Meiryo UI" pitchFamily="50" charset="-128"/>
                <a:cs typeface="Meiryo UI" pitchFamily="50" charset="-128"/>
              </a:rPr>
              <a:t> No.16</a:t>
            </a:r>
            <a:r>
              <a:rPr lang="ja-JP" altLang="en-US" sz="2400" b="1" dirty="0">
                <a:solidFill>
                  <a:srgbClr val="002060"/>
                </a:solidFill>
                <a:latin typeface="Meiryo UI" pitchFamily="50" charset="-128"/>
                <a:ea typeface="Meiryo UI" pitchFamily="50" charset="-128"/>
                <a:cs typeface="Meiryo UI" pitchFamily="50" charset="-128"/>
              </a:rPr>
              <a:t>水処理施設から海への排水方式変更</a:t>
            </a:r>
            <a:endParaRPr lang="ja-JP" altLang="en-US" sz="2400" b="1" dirty="0">
              <a:solidFill>
                <a:schemeClr val="tx2"/>
              </a:solidFill>
              <a:latin typeface="Meiryo UI" pitchFamily="50" charset="-128"/>
              <a:ea typeface="Meiryo UI" pitchFamily="50" charset="-128"/>
              <a:cs typeface="Meiryo UI" pitchFamily="50" charset="-128"/>
              <a:sym typeface="Meiryo UI" pitchFamily="50" charset="-128"/>
            </a:endParaRPr>
          </a:p>
        </p:txBody>
      </p:sp>
      <p:grpSp>
        <p:nvGrpSpPr>
          <p:cNvPr id="41" name="グループ化 40"/>
          <p:cNvGrpSpPr/>
          <p:nvPr/>
        </p:nvGrpSpPr>
        <p:grpSpPr>
          <a:xfrm>
            <a:off x="227398" y="2327976"/>
            <a:ext cx="3563868" cy="2987796"/>
            <a:chOff x="227398" y="3119957"/>
            <a:chExt cx="3563868" cy="2987796"/>
          </a:xfrm>
        </p:grpSpPr>
        <p:sp>
          <p:nvSpPr>
            <p:cNvPr id="5" name="弦 4"/>
            <p:cNvSpPr/>
            <p:nvPr/>
          </p:nvSpPr>
          <p:spPr bwMode="auto">
            <a:xfrm rot="5249625">
              <a:off x="1314003" y="4623044"/>
              <a:ext cx="662820" cy="421170"/>
            </a:xfrm>
            <a:prstGeom prst="chord">
              <a:avLst>
                <a:gd name="adj1" fmla="val 5679723"/>
                <a:gd name="adj2" fmla="val 16200000"/>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6" name="弦 5"/>
            <p:cNvSpPr/>
            <p:nvPr/>
          </p:nvSpPr>
          <p:spPr bwMode="auto">
            <a:xfrm rot="5249625">
              <a:off x="1712126" y="4660286"/>
              <a:ext cx="645450" cy="344996"/>
            </a:xfrm>
            <a:prstGeom prst="chord">
              <a:avLst>
                <a:gd name="adj1" fmla="val 5679723"/>
                <a:gd name="adj2" fmla="val 16296084"/>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7" name="正方形/長方形 159"/>
            <p:cNvSpPr>
              <a:spLocks noChangeArrowheads="1"/>
            </p:cNvSpPr>
            <p:nvPr/>
          </p:nvSpPr>
          <p:spPr bwMode="auto">
            <a:xfrm>
              <a:off x="2748713" y="4326294"/>
              <a:ext cx="520244" cy="1781456"/>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100"/>
            <p:cNvSpPr>
              <a:spLocks noChangeArrowheads="1"/>
            </p:cNvSpPr>
            <p:nvPr/>
          </p:nvSpPr>
          <p:spPr bwMode="auto">
            <a:xfrm>
              <a:off x="2116173" y="4818479"/>
              <a:ext cx="423437" cy="654825"/>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93"/>
            <p:cNvSpPr>
              <a:spLocks noChangeArrowheads="1"/>
            </p:cNvSpPr>
            <p:nvPr/>
          </p:nvSpPr>
          <p:spPr bwMode="auto">
            <a:xfrm>
              <a:off x="1954705" y="4818479"/>
              <a:ext cx="165478" cy="754729"/>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3"/>
            <p:cNvSpPr>
              <a:spLocks noChangeArrowheads="1"/>
            </p:cNvSpPr>
            <p:nvPr/>
          </p:nvSpPr>
          <p:spPr bwMode="auto">
            <a:xfrm>
              <a:off x="2543949" y="3754590"/>
              <a:ext cx="204764" cy="2353156"/>
            </a:xfrm>
            <a:prstGeom prst="rect">
              <a:avLst/>
            </a:prstGeom>
            <a:pattFill prst="pct10">
              <a:fgClr>
                <a:schemeClr val="tx1"/>
              </a:fgClr>
              <a:bgClr>
                <a:schemeClr val="bg1"/>
              </a:bgClr>
            </a:pattFill>
            <a:ln w="12700"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2"/>
            <p:cNvSpPr>
              <a:spLocks noChangeArrowheads="1"/>
            </p:cNvSpPr>
            <p:nvPr/>
          </p:nvSpPr>
          <p:spPr bwMode="auto">
            <a:xfrm>
              <a:off x="2161951" y="5444072"/>
              <a:ext cx="668905" cy="260570"/>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2" name="直線コネクタ 101"/>
            <p:cNvCxnSpPr>
              <a:cxnSpLocks noChangeShapeType="1"/>
            </p:cNvCxnSpPr>
            <p:nvPr/>
          </p:nvCxnSpPr>
          <p:spPr bwMode="auto">
            <a:xfrm flipH="1">
              <a:off x="1938038" y="4818479"/>
              <a:ext cx="18214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3" name="直線矢印コネクタ 31"/>
            <p:cNvCxnSpPr>
              <a:cxnSpLocks noChangeShapeType="1"/>
            </p:cNvCxnSpPr>
            <p:nvPr/>
          </p:nvCxnSpPr>
          <p:spPr bwMode="auto">
            <a:xfrm flipH="1" flipV="1">
              <a:off x="2033277" y="4551598"/>
              <a:ext cx="0" cy="869514"/>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2" name="テキスト ボックス 154"/>
            <p:cNvSpPr txBox="1">
              <a:spLocks noChangeArrowheads="1"/>
            </p:cNvSpPr>
            <p:nvPr/>
          </p:nvSpPr>
          <p:spPr bwMode="auto">
            <a:xfrm>
              <a:off x="921876" y="3122467"/>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製鉄所</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160"/>
            <p:cNvSpPr txBox="1">
              <a:spLocks noChangeArrowheads="1"/>
            </p:cNvSpPr>
            <p:nvPr/>
          </p:nvSpPr>
          <p:spPr bwMode="auto">
            <a:xfrm>
              <a:off x="2830857" y="3119957"/>
              <a:ext cx="9604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海側</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テキスト ボックス 161"/>
            <p:cNvSpPr txBox="1">
              <a:spLocks noChangeArrowheads="1"/>
            </p:cNvSpPr>
            <p:nvPr/>
          </p:nvSpPr>
          <p:spPr bwMode="auto">
            <a:xfrm>
              <a:off x="2416392" y="3489792"/>
              <a:ext cx="369051" cy="502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岸壁</a:t>
              </a:r>
            </a:p>
          </p:txBody>
        </p:sp>
        <p:sp>
          <p:nvSpPr>
            <p:cNvPr id="25" name="正方形/長方形 100"/>
            <p:cNvSpPr>
              <a:spLocks noChangeArrowheads="1"/>
            </p:cNvSpPr>
            <p:nvPr/>
          </p:nvSpPr>
          <p:spPr bwMode="auto">
            <a:xfrm>
              <a:off x="227398" y="4807227"/>
              <a:ext cx="1726268" cy="1300521"/>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正方形/長方形 100"/>
            <p:cNvSpPr>
              <a:spLocks noChangeArrowheads="1"/>
            </p:cNvSpPr>
            <p:nvPr/>
          </p:nvSpPr>
          <p:spPr bwMode="auto">
            <a:xfrm>
              <a:off x="1926634" y="5704643"/>
              <a:ext cx="612978" cy="403110"/>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正方形/長方形 26"/>
            <p:cNvSpPr/>
            <p:nvPr/>
          </p:nvSpPr>
          <p:spPr bwMode="auto">
            <a:xfrm>
              <a:off x="236924" y="4025779"/>
              <a:ext cx="657338" cy="792702"/>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ts val="6000"/>
                </a:spcBef>
                <a:spcAft>
                  <a:spcPct val="0"/>
                </a:spcAft>
                <a:buClrTx/>
                <a:buSzTx/>
                <a:buFont typeface="Arial" panose="020B0604020202020204" pitchFamily="34" charset="0"/>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油水分離槽</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ctr" defTabSz="914400" rtl="0" eaLnBrk="1" fontAlgn="base" latinLnBrk="0" hangingPunct="1">
                <a:lnSpc>
                  <a:spcPct val="100000"/>
                </a:lnSpc>
                <a:spcBef>
                  <a:spcPts val="6000"/>
                </a:spcBef>
                <a:spcAft>
                  <a:spcPct val="0"/>
                </a:spcAft>
                <a:buClrTx/>
                <a:buSzTx/>
                <a:buFont typeface="Arial" panose="020B0604020202020204" pitchFamily="34" charset="0"/>
                <a:buNone/>
              </a:pPr>
              <a:endParaRPr kumimoji="0"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正方形/長方形 27"/>
            <p:cNvSpPr/>
            <p:nvPr/>
          </p:nvSpPr>
          <p:spPr bwMode="auto">
            <a:xfrm>
              <a:off x="894262" y="4073112"/>
              <a:ext cx="166501" cy="108132"/>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正方形/長方形 28"/>
            <p:cNvSpPr/>
            <p:nvPr/>
          </p:nvSpPr>
          <p:spPr bwMode="auto">
            <a:xfrm>
              <a:off x="1014327" y="4078708"/>
              <a:ext cx="92875" cy="892057"/>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p:cNvSpPr/>
            <p:nvPr/>
          </p:nvSpPr>
          <p:spPr bwMode="auto">
            <a:xfrm rot="236551">
              <a:off x="1017204" y="4907418"/>
              <a:ext cx="722227" cy="223212"/>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正方形/長方形 30"/>
            <p:cNvSpPr/>
            <p:nvPr/>
          </p:nvSpPr>
          <p:spPr bwMode="auto">
            <a:xfrm>
              <a:off x="1568359" y="4812585"/>
              <a:ext cx="168196" cy="892057"/>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正方形/長方形 31"/>
            <p:cNvSpPr/>
            <p:nvPr/>
          </p:nvSpPr>
          <p:spPr bwMode="auto">
            <a:xfrm>
              <a:off x="1567977" y="5458172"/>
              <a:ext cx="634377" cy="246470"/>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3" name="直線矢印コネクタ 31"/>
            <p:cNvCxnSpPr>
              <a:cxnSpLocks noChangeShapeType="1"/>
            </p:cNvCxnSpPr>
            <p:nvPr/>
          </p:nvCxnSpPr>
          <p:spPr bwMode="auto">
            <a:xfrm flipH="1" flipV="1">
              <a:off x="1652456" y="4565948"/>
              <a:ext cx="0" cy="869514"/>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34" name="直線矢印コネクタ 106"/>
            <p:cNvCxnSpPr>
              <a:cxnSpLocks noChangeShapeType="1"/>
            </p:cNvCxnSpPr>
            <p:nvPr/>
          </p:nvCxnSpPr>
          <p:spPr bwMode="auto">
            <a:xfrm flipH="1" flipV="1">
              <a:off x="2067172" y="5574762"/>
              <a:ext cx="402385"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35" name="直線コネクタ 101"/>
            <p:cNvCxnSpPr>
              <a:cxnSpLocks noChangeShapeType="1"/>
            </p:cNvCxnSpPr>
            <p:nvPr/>
          </p:nvCxnSpPr>
          <p:spPr bwMode="auto">
            <a:xfrm flipH="1">
              <a:off x="1561383" y="4812583"/>
              <a:ext cx="18214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38" name="テキスト ボックス 156"/>
            <p:cNvSpPr txBox="1">
              <a:spLocks noChangeArrowheads="1"/>
            </p:cNvSpPr>
            <p:nvPr/>
          </p:nvSpPr>
          <p:spPr bwMode="auto">
            <a:xfrm>
              <a:off x="1524981" y="4261900"/>
              <a:ext cx="9028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排水逆流</a:t>
              </a:r>
            </a:p>
          </p:txBody>
        </p:sp>
      </p:grpSp>
      <p:grpSp>
        <p:nvGrpSpPr>
          <p:cNvPr id="70" name="グループ化 69"/>
          <p:cNvGrpSpPr/>
          <p:nvPr/>
        </p:nvGrpSpPr>
        <p:grpSpPr>
          <a:xfrm>
            <a:off x="5002340" y="2327976"/>
            <a:ext cx="3702097" cy="2987796"/>
            <a:chOff x="4664145" y="3008926"/>
            <a:chExt cx="3702097" cy="2987796"/>
          </a:xfrm>
        </p:grpSpPr>
        <p:sp>
          <p:nvSpPr>
            <p:cNvPr id="45" name="正方形/長方形 159"/>
            <p:cNvSpPr>
              <a:spLocks noChangeArrowheads="1"/>
            </p:cNvSpPr>
            <p:nvPr/>
          </p:nvSpPr>
          <p:spPr bwMode="auto">
            <a:xfrm>
              <a:off x="7185460" y="4215263"/>
              <a:ext cx="520244" cy="1781456"/>
            </a:xfrm>
            <a:prstGeom prst="rect">
              <a:avLst/>
            </a:prstGeom>
            <a:solidFill>
              <a:srgbClr val="00FFFF"/>
            </a:solid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正方形/長方形 100"/>
            <p:cNvSpPr>
              <a:spLocks noChangeArrowheads="1"/>
            </p:cNvSpPr>
            <p:nvPr/>
          </p:nvSpPr>
          <p:spPr bwMode="auto">
            <a:xfrm>
              <a:off x="6390414" y="4707448"/>
              <a:ext cx="585944" cy="654825"/>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正方形/長方形 3"/>
            <p:cNvSpPr>
              <a:spLocks noChangeArrowheads="1"/>
            </p:cNvSpPr>
            <p:nvPr/>
          </p:nvSpPr>
          <p:spPr bwMode="auto">
            <a:xfrm>
              <a:off x="6980696" y="3643559"/>
              <a:ext cx="204764" cy="2353156"/>
            </a:xfrm>
            <a:prstGeom prst="rect">
              <a:avLst/>
            </a:prstGeom>
            <a:pattFill prst="pct10">
              <a:fgClr>
                <a:schemeClr val="tx1"/>
              </a:fgClr>
              <a:bgClr>
                <a:schemeClr val="bg1"/>
              </a:bgClr>
            </a:pattFill>
            <a:ln w="12700" algn="ctr">
              <a:solidFill>
                <a:schemeClr val="tx1"/>
              </a:solidFill>
              <a:round/>
              <a:headEnd/>
              <a:tailEnd/>
            </a:ln>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テキスト ボックス 154"/>
            <p:cNvSpPr txBox="1">
              <a:spLocks noChangeArrowheads="1"/>
            </p:cNvSpPr>
            <p:nvPr/>
          </p:nvSpPr>
          <p:spPr bwMode="auto">
            <a:xfrm>
              <a:off x="5060899" y="3011436"/>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製鉄所</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4" name="テキスト ボックス 160"/>
            <p:cNvSpPr txBox="1">
              <a:spLocks noChangeArrowheads="1"/>
            </p:cNvSpPr>
            <p:nvPr/>
          </p:nvSpPr>
          <p:spPr bwMode="auto">
            <a:xfrm>
              <a:off x="7405833" y="3008926"/>
              <a:ext cx="9604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海側</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5" name="テキスト ボックス 161"/>
            <p:cNvSpPr txBox="1">
              <a:spLocks noChangeArrowheads="1"/>
            </p:cNvSpPr>
            <p:nvPr/>
          </p:nvSpPr>
          <p:spPr bwMode="auto">
            <a:xfrm>
              <a:off x="6853139" y="3378761"/>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岸壁</a:t>
              </a:r>
            </a:p>
          </p:txBody>
        </p:sp>
        <p:sp>
          <p:nvSpPr>
            <p:cNvPr id="56" name="正方形/長方形 100"/>
            <p:cNvSpPr>
              <a:spLocks noChangeArrowheads="1"/>
            </p:cNvSpPr>
            <p:nvPr/>
          </p:nvSpPr>
          <p:spPr bwMode="auto">
            <a:xfrm>
              <a:off x="4664145" y="4696196"/>
              <a:ext cx="1726268" cy="1300521"/>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7" name="正方形/長方形 100"/>
            <p:cNvSpPr>
              <a:spLocks noChangeArrowheads="1"/>
            </p:cNvSpPr>
            <p:nvPr/>
          </p:nvSpPr>
          <p:spPr bwMode="auto">
            <a:xfrm>
              <a:off x="6363381" y="5362273"/>
              <a:ext cx="612978" cy="634449"/>
            </a:xfrm>
            <a:prstGeom prst="rect">
              <a:avLst/>
            </a:prstGeom>
            <a:pattFill prst="pct25">
              <a:fgClr>
                <a:schemeClr val="tx1"/>
              </a:fgClr>
              <a:bgClr>
                <a:schemeClr val="bg1"/>
              </a:bgClr>
            </a:pattFill>
            <a:ln>
              <a:noFill/>
            </a:ln>
            <a:extLst>
              <a:ext uri="{91240B29-F687-4F45-9708-019B960494DF}">
                <a14:hiddenLine xmlns:a14="http://schemas.microsoft.com/office/drawing/2010/main" w="3175" algn="ctr">
                  <a:solidFill>
                    <a:srgbClr val="000000"/>
                  </a:solidFill>
                  <a:round/>
                  <a:headEnd/>
                  <a:tailEnd/>
                </a14:hiddenLine>
              </a:ext>
            </a:extLst>
          </p:spPr>
          <p:txBody>
            <a:bodyPr anchor="ct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FontTx/>
                <a:buNone/>
              </a:pPr>
              <a:endParaRPr lang="ja-JP" altLang="en-US" sz="1800">
                <a:solidFill>
                  <a:srgbClr val="00FFF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8" name="正方形/長方形 57"/>
            <p:cNvSpPr/>
            <p:nvPr/>
          </p:nvSpPr>
          <p:spPr bwMode="auto">
            <a:xfrm>
              <a:off x="4673671" y="3987958"/>
              <a:ext cx="657338" cy="719492"/>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ts val="6000"/>
                </a:spcBef>
                <a:spcAft>
                  <a:spcPct val="0"/>
                </a:spcAft>
                <a:buClrTx/>
                <a:buSzTx/>
                <a:buFont typeface="Arial" panose="020B0604020202020204" pitchFamily="34" charset="0"/>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油水分離槽</a:t>
              </a:r>
              <a:endParaRPr kumimoji="0" lang="ja-JP" altLang="en-US" sz="12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2" name="正方形/長方形 61"/>
            <p:cNvSpPr/>
            <p:nvPr/>
          </p:nvSpPr>
          <p:spPr bwMode="auto">
            <a:xfrm>
              <a:off x="5527279" y="4303992"/>
              <a:ext cx="992525" cy="403523"/>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8" name="円/楕円 67"/>
            <p:cNvSpPr/>
            <p:nvPr/>
          </p:nvSpPr>
          <p:spPr bwMode="auto">
            <a:xfrm>
              <a:off x="5944940" y="4321859"/>
              <a:ext cx="385763" cy="372139"/>
            </a:xfrm>
            <a:prstGeom prst="ellipse">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ja-JP"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rPr>
                <a:t>P</a:t>
              </a:r>
              <a:endParaRPr kumimoji="0" lang="ja-JP" altLang="en-US" sz="2400" b="1" i="0" u="none" strike="noStrike" cap="none" normalizeH="0" baseline="0" dirty="0">
                <a:ln>
                  <a:noFill/>
                </a:ln>
                <a:solidFill>
                  <a:srgbClr val="7030A0"/>
                </a:solidFill>
                <a:effectLst/>
                <a:latin typeface="Calibri" panose="020F0502020204030204" pitchFamily="34" charset="0"/>
                <a:ea typeface="ＭＳ Ｐゴシック" panose="020B0600070205080204" pitchFamily="50" charset="-128"/>
              </a:endParaRPr>
            </a:p>
          </p:txBody>
        </p:sp>
        <p:sp>
          <p:nvSpPr>
            <p:cNvPr id="104" name="テキスト ボックス 154"/>
            <p:cNvSpPr txBox="1">
              <a:spLocks noChangeArrowheads="1"/>
            </p:cNvSpPr>
            <p:nvPr/>
          </p:nvSpPr>
          <p:spPr bwMode="auto">
            <a:xfrm>
              <a:off x="5530713" y="4743936"/>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0"/>
                </a:spcBef>
                <a:buNone/>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放流ピット</a:t>
              </a:r>
            </a:p>
          </p:txBody>
        </p:sp>
      </p:grpSp>
      <p:sp>
        <p:nvSpPr>
          <p:cNvPr id="72" name="右矢印 71"/>
          <p:cNvSpPr/>
          <p:nvPr/>
        </p:nvSpPr>
        <p:spPr bwMode="auto">
          <a:xfrm>
            <a:off x="3845846" y="2981568"/>
            <a:ext cx="662370" cy="1072023"/>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73" name="テキスト ボックス 72"/>
          <p:cNvSpPr txBox="1"/>
          <p:nvPr/>
        </p:nvSpPr>
        <p:spPr>
          <a:xfrm>
            <a:off x="1369457" y="1585395"/>
            <a:ext cx="1213857"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現状</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テキスト ボックス 73"/>
          <p:cNvSpPr txBox="1"/>
          <p:nvPr/>
        </p:nvSpPr>
        <p:spPr>
          <a:xfrm>
            <a:off x="5955670" y="1556295"/>
            <a:ext cx="1213857"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改造後</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正方形/長方形 74"/>
          <p:cNvSpPr/>
          <p:nvPr/>
        </p:nvSpPr>
        <p:spPr bwMode="auto">
          <a:xfrm>
            <a:off x="127592" y="1968436"/>
            <a:ext cx="3558760" cy="3416063"/>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94" name="正方形/長方形 93"/>
          <p:cNvSpPr/>
          <p:nvPr/>
        </p:nvSpPr>
        <p:spPr bwMode="auto">
          <a:xfrm>
            <a:off x="4669253" y="1968437"/>
            <a:ext cx="3911222" cy="341606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2" name="テキスト ボックス 1"/>
          <p:cNvSpPr txBox="1"/>
          <p:nvPr/>
        </p:nvSpPr>
        <p:spPr>
          <a:xfrm>
            <a:off x="5019813" y="5755436"/>
            <a:ext cx="2924355"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cs typeface="メイリオ" panose="020B0604030504040204" pitchFamily="50" charset="-128"/>
              </a:rPr>
              <a:t>ﾎﾟﾝﾌﾟ：</a:t>
            </a:r>
            <a:r>
              <a:rPr kumimoji="1" lang="en-US" altLang="ja-JP" dirty="0">
                <a:latin typeface="Meiryo UI" panose="020B0604030504040204" pitchFamily="50" charset="-128"/>
                <a:ea typeface="Meiryo UI" panose="020B0604030504040204" pitchFamily="50" charset="-128"/>
                <a:cs typeface="メイリオ" panose="020B0604030504040204" pitchFamily="50" charset="-128"/>
              </a:rPr>
              <a:t>470T/</a:t>
            </a:r>
            <a:r>
              <a:rPr kumimoji="1" lang="ja-JP" altLang="en-US" dirty="0" err="1">
                <a:latin typeface="Meiryo UI" panose="020B0604030504040204" pitchFamily="50" charset="-128"/>
                <a:ea typeface="Meiryo UI" panose="020B0604030504040204" pitchFamily="50" charset="-128"/>
                <a:cs typeface="メイリオ" panose="020B0604030504040204" pitchFamily="50" charset="-128"/>
              </a:rPr>
              <a:t>ｈ</a:t>
            </a:r>
            <a:r>
              <a:rPr kumimoji="1" lang="en-US" altLang="ja-JP" dirty="0">
                <a:latin typeface="Meiryo UI" panose="020B0604030504040204" pitchFamily="50" charset="-128"/>
                <a:ea typeface="Meiryo UI" panose="020B0604030504040204" pitchFamily="50" charset="-128"/>
                <a:cs typeface="メイリオ" panose="020B0604030504040204" pitchFamily="50" charset="-128"/>
              </a:rPr>
              <a:t>×2</a:t>
            </a:r>
            <a:r>
              <a:rPr kumimoji="1" lang="ja-JP" altLang="en-US" dirty="0">
                <a:latin typeface="Meiryo UI" panose="020B0604030504040204" pitchFamily="50" charset="-128"/>
                <a:ea typeface="Meiryo UI" panose="020B0604030504040204" pitchFamily="50" charset="-128"/>
                <a:cs typeface="メイリオ" panose="020B0604030504040204" pitchFamily="50" charset="-128"/>
              </a:rPr>
              <a:t>台設置</a:t>
            </a:r>
            <a:endParaRPr kumimoji="1" lang="en-US" altLang="ja-JP" dirty="0">
              <a:latin typeface="Meiryo UI" panose="020B0604030504040204" pitchFamily="50" charset="-128"/>
              <a:ea typeface="Meiryo UI" panose="020B0604030504040204" pitchFamily="50" charset="-128"/>
              <a:cs typeface="メイリオ" panose="020B0604030504040204" pitchFamily="50" charset="-128"/>
            </a:endParaRPr>
          </a:p>
        </p:txBody>
      </p:sp>
      <p:sp>
        <p:nvSpPr>
          <p:cNvPr id="64" name="正方形/長方形 63"/>
          <p:cNvSpPr/>
          <p:nvPr/>
        </p:nvSpPr>
        <p:spPr bwMode="auto">
          <a:xfrm>
            <a:off x="5669204" y="3324746"/>
            <a:ext cx="199704" cy="129035"/>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2" name="正方形/長方形 101"/>
          <p:cNvSpPr/>
          <p:nvPr/>
        </p:nvSpPr>
        <p:spPr bwMode="auto">
          <a:xfrm>
            <a:off x="5868908" y="3324260"/>
            <a:ext cx="107151" cy="314931"/>
          </a:xfrm>
          <a:prstGeom prst="rect">
            <a:avLst/>
          </a:prstGeom>
          <a:solidFill>
            <a:srgbClr val="05EBEB"/>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3" name="テキスト ボックス 102"/>
          <p:cNvSpPr txBox="1"/>
          <p:nvPr/>
        </p:nvSpPr>
        <p:spPr>
          <a:xfrm>
            <a:off x="5002340" y="5394729"/>
            <a:ext cx="2924355"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cs typeface="メイリオ" panose="020B0604030504040204" pitchFamily="50" charset="-128"/>
              </a:rPr>
              <a:t>放流ピット</a:t>
            </a:r>
            <a:r>
              <a:rPr kumimoji="1" lang="en-US" altLang="ja-JP" dirty="0">
                <a:latin typeface="Meiryo UI" panose="020B0604030504040204" pitchFamily="50" charset="-128"/>
                <a:ea typeface="Meiryo UI" panose="020B0604030504040204" pitchFamily="50" charset="-128"/>
                <a:cs typeface="メイリオ" panose="020B0604030504040204" pitchFamily="50" charset="-128"/>
              </a:rPr>
              <a:t>9.6m3</a:t>
            </a:r>
            <a:r>
              <a:rPr kumimoji="1" lang="ja-JP" altLang="en-US" dirty="0">
                <a:latin typeface="Meiryo UI" panose="020B0604030504040204" pitchFamily="50" charset="-128"/>
                <a:ea typeface="Meiryo UI" panose="020B0604030504040204" pitchFamily="50" charset="-128"/>
                <a:cs typeface="メイリオ" panose="020B0604030504040204" pitchFamily="50" charset="-128"/>
              </a:rPr>
              <a:t>新設</a:t>
            </a:r>
          </a:p>
        </p:txBody>
      </p:sp>
      <p:sp>
        <p:nvSpPr>
          <p:cNvPr id="14" name="フリーフォーム 13"/>
          <p:cNvSpPr/>
          <p:nvPr/>
        </p:nvSpPr>
        <p:spPr bwMode="auto">
          <a:xfrm>
            <a:off x="6478438" y="2149592"/>
            <a:ext cx="1371600" cy="1492370"/>
          </a:xfrm>
          <a:custGeom>
            <a:avLst/>
            <a:gdLst>
              <a:gd name="connsiteX0" fmla="*/ 0 w 1371600"/>
              <a:gd name="connsiteY0" fmla="*/ 1492370 h 1492370"/>
              <a:gd name="connsiteX1" fmla="*/ 0 w 1371600"/>
              <a:gd name="connsiteY1" fmla="*/ 0 h 1492370"/>
              <a:gd name="connsiteX2" fmla="*/ 1371600 w 1371600"/>
              <a:gd name="connsiteY2" fmla="*/ 0 h 1492370"/>
              <a:gd name="connsiteX3" fmla="*/ 1371600 w 1371600"/>
              <a:gd name="connsiteY3" fmla="*/ 1397479 h 1492370"/>
            </a:gdLst>
            <a:ahLst/>
            <a:cxnLst>
              <a:cxn ang="0">
                <a:pos x="connsiteX0" y="connsiteY0"/>
              </a:cxn>
              <a:cxn ang="0">
                <a:pos x="connsiteX1" y="connsiteY1"/>
              </a:cxn>
              <a:cxn ang="0">
                <a:pos x="connsiteX2" y="connsiteY2"/>
              </a:cxn>
              <a:cxn ang="0">
                <a:pos x="connsiteX3" y="connsiteY3"/>
              </a:cxn>
            </a:cxnLst>
            <a:rect l="l" t="t" r="r" b="b"/>
            <a:pathLst>
              <a:path w="1371600" h="1492370">
                <a:moveTo>
                  <a:pt x="0" y="1492370"/>
                </a:moveTo>
                <a:lnTo>
                  <a:pt x="0" y="0"/>
                </a:lnTo>
                <a:lnTo>
                  <a:pt x="1371600" y="0"/>
                </a:lnTo>
                <a:lnTo>
                  <a:pt x="1371600" y="1397479"/>
                </a:lnTo>
              </a:path>
            </a:pathLst>
          </a:custGeom>
          <a:noFill/>
          <a:ln w="38100" cap="flat" cmpd="sng" algn="ctr">
            <a:solidFill>
              <a:srgbClr val="FFC000"/>
            </a:solidFill>
            <a:prstDash val="solid"/>
            <a:round/>
            <a:headEnd type="none" w="med" len="med"/>
            <a:tailEnd type="triangl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15" name="テキスト ボックス 14"/>
          <p:cNvSpPr txBox="1"/>
          <p:nvPr/>
        </p:nvSpPr>
        <p:spPr>
          <a:xfrm>
            <a:off x="325705" y="3719935"/>
            <a:ext cx="675792" cy="307777"/>
          </a:xfrm>
          <a:prstGeom prst="rect">
            <a:avLst/>
          </a:prstGeom>
          <a:noFill/>
        </p:spPr>
        <p:txBody>
          <a:bodyPr wrap="square" rtlCol="0">
            <a:spAutoFit/>
          </a:bodyPr>
          <a:lstStyle/>
          <a:p>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槽</a:t>
            </a:r>
          </a:p>
        </p:txBody>
      </p:sp>
      <p:sp>
        <p:nvSpPr>
          <p:cNvPr id="106" name="テキスト ボックス 105"/>
          <p:cNvSpPr txBox="1"/>
          <p:nvPr/>
        </p:nvSpPr>
        <p:spPr>
          <a:xfrm>
            <a:off x="5029492" y="3740381"/>
            <a:ext cx="675792" cy="307777"/>
          </a:xfrm>
          <a:prstGeom prst="rect">
            <a:avLst/>
          </a:prstGeom>
          <a:noFill/>
        </p:spPr>
        <p:txBody>
          <a:bodyPr wrap="square" rtlCol="0">
            <a:spAutoFit/>
          </a:bodyPr>
          <a:lstStyle/>
          <a:p>
            <a:r>
              <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rPr>
              <a:t>5</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槽</a:t>
            </a:r>
          </a:p>
        </p:txBody>
      </p:sp>
      <p:sp>
        <p:nvSpPr>
          <p:cNvPr id="59" name="角丸四角形 10">
            <a:extLst>
              <a:ext uri="{FF2B5EF4-FFF2-40B4-BE49-F238E27FC236}">
                <a16:creationId xmlns:a16="http://schemas.microsoft.com/office/drawing/2014/main" id="{A78536A1-4F5D-41FD-9FA5-EE99E47A6C6E}"/>
              </a:ext>
            </a:extLst>
          </p:cNvPr>
          <p:cNvSpPr/>
          <p:nvPr/>
        </p:nvSpPr>
        <p:spPr>
          <a:xfrm>
            <a:off x="173105" y="762851"/>
            <a:ext cx="8670221" cy="671334"/>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油水分離槽（既設</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槽＋新設</a:t>
            </a:r>
            <a:r>
              <a:rPr kumimoji="1" lang="en-US" altLang="ja-JP"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槽）で処理した雨水を放水ピットに集水し、ポンプで海に強制排水</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71545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221420" y="-18"/>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3.</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予算</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1522594674"/>
              </p:ext>
            </p:extLst>
          </p:nvPr>
        </p:nvGraphicFramePr>
        <p:xfrm>
          <a:off x="112542" y="901397"/>
          <a:ext cx="8961120" cy="4599071"/>
        </p:xfrm>
        <a:graphic>
          <a:graphicData uri="http://schemas.openxmlformats.org/drawingml/2006/table">
            <a:tbl>
              <a:tblPr>
                <a:tableStyleId>{3C2FFA5D-87B4-456A-9821-1D502468CF0F}</a:tableStyleId>
              </a:tblPr>
              <a:tblGrid>
                <a:gridCol w="3277772">
                  <a:extLst>
                    <a:ext uri="{9D8B030D-6E8A-4147-A177-3AD203B41FA5}">
                      <a16:colId xmlns:a16="http://schemas.microsoft.com/office/drawing/2014/main" val="20000"/>
                    </a:ext>
                  </a:extLst>
                </a:gridCol>
                <a:gridCol w="1172808">
                  <a:extLst>
                    <a:ext uri="{9D8B030D-6E8A-4147-A177-3AD203B41FA5}">
                      <a16:colId xmlns:a16="http://schemas.microsoft.com/office/drawing/2014/main" val="20003"/>
                    </a:ext>
                  </a:extLst>
                </a:gridCol>
                <a:gridCol w="2041864">
                  <a:extLst>
                    <a:ext uri="{9D8B030D-6E8A-4147-A177-3AD203B41FA5}">
                      <a16:colId xmlns:a16="http://schemas.microsoft.com/office/drawing/2014/main" val="20004"/>
                    </a:ext>
                  </a:extLst>
                </a:gridCol>
                <a:gridCol w="1146312">
                  <a:extLst>
                    <a:ext uri="{9D8B030D-6E8A-4147-A177-3AD203B41FA5}">
                      <a16:colId xmlns:a16="http://schemas.microsoft.com/office/drawing/2014/main" val="20006"/>
                    </a:ext>
                  </a:extLst>
                </a:gridCol>
                <a:gridCol w="1322364">
                  <a:extLst>
                    <a:ext uri="{9D8B030D-6E8A-4147-A177-3AD203B41FA5}">
                      <a16:colId xmlns:a16="http://schemas.microsoft.com/office/drawing/2014/main" val="2361315747"/>
                    </a:ext>
                  </a:extLst>
                </a:gridCol>
              </a:tblGrid>
              <a:tr h="1256767">
                <a:tc>
                  <a:txBody>
                    <a:bodyPr/>
                    <a:lstStyle/>
                    <a:p>
                      <a:pPr algn="ctr" fontAlgn="ct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　</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ja-JP" altLang="en-US"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①</a:t>
                      </a:r>
                      <a:endParaRPr lang="en-US" altLang="ja-JP"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en-US" altLang="ja-JP"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NO.16</a:t>
                      </a:r>
                      <a:r>
                        <a:rPr lang="ja-JP" altLang="en-US"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水処理能力増強</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R w="12700" cap="flat" cmpd="sng" algn="ctr">
                      <a:solidFill>
                        <a:schemeClr val="tx2">
                          <a:lumMod val="60000"/>
                          <a:lumOff val="40000"/>
                        </a:schemeClr>
                      </a:solidFill>
                      <a:prstDash val="solid"/>
                      <a:round/>
                      <a:headEnd type="none" w="med" len="med"/>
                      <a:tailEnd type="none" w="med" len="med"/>
                    </a:lnR>
                  </a:tcPr>
                </a:tc>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②</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加工山側送水能力増強</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加工冠水対策）</a:t>
                      </a:r>
                      <a:endParaRPr lang="en-US" altLang="ja-JP" sz="12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７線材浜側送水能力増強</a:t>
                      </a:r>
                      <a:endParaRPr lang="en-US" altLang="ja-JP" sz="1400" b="0" i="0" u="none" strike="noStrike" dirty="0">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a:t>
                      </a:r>
                      <a:r>
                        <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線浜冠水対策）</a:t>
                      </a:r>
                    </a:p>
                    <a:p>
                      <a:pPr marL="0" marR="0" indent="0" algn="ctr" defTabSz="914400" rtl="0" eaLnBrk="1" fontAlgn="ctr" latinLnBrk="0" hangingPunct="1">
                        <a:lnSpc>
                          <a:spcPct val="100000"/>
                        </a:lnSpc>
                        <a:spcBef>
                          <a:spcPts val="0"/>
                        </a:spcBef>
                        <a:spcAft>
                          <a:spcPts val="0"/>
                        </a:spcAft>
                        <a:buClrTx/>
                        <a:buSzTx/>
                        <a:buFontTx/>
                        <a:buNone/>
                        <a:tabLst/>
                        <a:defRPr/>
                      </a:pP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lnL w="12700" cap="flat" cmpd="sng" algn="ctr">
                      <a:solidFill>
                        <a:schemeClr val="tx2">
                          <a:lumMod val="60000"/>
                          <a:lumOff val="40000"/>
                        </a:schemeClr>
                      </a:solidFill>
                      <a:prstDash val="solid"/>
                      <a:round/>
                      <a:headEnd type="none" w="med" len="med"/>
                      <a:tailEnd type="none" w="med" len="med"/>
                    </a:lnL>
                  </a:tcPr>
                </a:tc>
                <a:tc>
                  <a:txBody>
                    <a:bodyPr/>
                    <a:lstStyle/>
                    <a:p>
                      <a:pPr algn="ctr" fontAlgn="ctr"/>
                      <a:r>
                        <a:rPr lang="ja-JP" altLang="en-US"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③</a:t>
                      </a:r>
                      <a:endParaRPr lang="en-US" altLang="ja-JP"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en-US" altLang="ja-JP"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No.16</a:t>
                      </a:r>
                      <a:r>
                        <a:rPr lang="ja-JP" altLang="en-US" sz="14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強制排出方式採用</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備考</a:t>
                      </a:r>
                    </a:p>
                  </a:txBody>
                  <a:tcPr marL="9525" marR="9525" marT="9525" marB="0" anchor="ctr"/>
                </a:tc>
                <a:extLst>
                  <a:ext uri="{0D108BD9-81ED-4DB2-BD59-A6C34878D82A}">
                    <a16:rowId xmlns:a16="http://schemas.microsoft.com/office/drawing/2014/main" val="10000"/>
                  </a:ext>
                </a:extLst>
              </a:tr>
              <a:tr h="687263">
                <a:tc>
                  <a:txBody>
                    <a:bodyPr/>
                    <a:lstStyle/>
                    <a:p>
                      <a:pPr algn="l" fontAlgn="ct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機械</a:t>
                      </a:r>
                      <a:endPar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zh-CN"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ﾎﾟﾝﾌﾟ</a:t>
                      </a: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a:t>
                      </a:r>
                      <a:r>
                        <a:rPr lang="zh-CN"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中和装置</a:t>
                      </a:r>
                      <a:r>
                        <a:rPr lang="ja-JP" altLang="en-US" sz="1400" b="0" u="none" strike="noStrike">
                          <a:effectLst/>
                          <a:latin typeface="Meiryo UI" panose="020B0604030504040204" pitchFamily="50" charset="-128"/>
                          <a:ea typeface="Meiryo UI" panose="020B0604030504040204" pitchFamily="50" charset="-128"/>
                          <a:cs typeface="Meiryo UI" panose="020B0604030504040204" pitchFamily="50" charset="-128"/>
                        </a:rPr>
                        <a:t>購入、据付・配管工事</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13</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R w="12700" cap="flat" cmpd="sng" algn="ctr">
                      <a:solidFill>
                        <a:schemeClr val="tx2">
                          <a:lumMod val="60000"/>
                          <a:lumOff val="40000"/>
                        </a:schemeClr>
                      </a:solidFill>
                      <a:prstDash val="solid"/>
                      <a:round/>
                      <a:headEnd type="none" w="med" len="med"/>
                      <a:tailEnd type="none" w="med" len="med"/>
                    </a:lnR>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28</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L w="12700" cap="flat" cmpd="sng" algn="ctr">
                      <a:solidFill>
                        <a:schemeClr val="tx2">
                          <a:lumMod val="60000"/>
                          <a:lumOff val="40000"/>
                        </a:schemeClr>
                      </a:solidFill>
                      <a:prstDash val="solid"/>
                      <a:round/>
                      <a:headEnd type="none" w="med" len="med"/>
                      <a:tailEnd type="none" w="med" len="med"/>
                    </a:ln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21</a:t>
                      </a: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　</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事前購買完了</a:t>
                      </a:r>
                    </a:p>
                  </a:txBody>
                  <a:tcPr marL="9525" marR="9525" marT="9525" marB="0" anchor="ctr"/>
                </a:tc>
                <a:extLst>
                  <a:ext uri="{0D108BD9-81ED-4DB2-BD59-A6C34878D82A}">
                    <a16:rowId xmlns:a16="http://schemas.microsoft.com/office/drawing/2014/main" val="10001"/>
                  </a:ext>
                </a:extLst>
              </a:tr>
              <a:tr h="722119">
                <a:tc>
                  <a:txBody>
                    <a:bodyPr/>
                    <a:lstStyle/>
                    <a:p>
                      <a:pPr algn="l" fontAlgn="ct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電気</a:t>
                      </a:r>
                      <a:endPar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endParaRPr>
                    </a:p>
                    <a:p>
                      <a:pPr algn="l" fontAlgn="ct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（盤・油水検知器購入、電気配線工事</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p>
                  </a:txBody>
                  <a:tcPr marL="9525" marR="9525" marT="9525" marB="0" anchor="ct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15</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R w="12700" cap="flat" cmpd="sng" algn="ctr">
                      <a:solidFill>
                        <a:schemeClr val="tx2">
                          <a:lumMod val="60000"/>
                          <a:lumOff val="40000"/>
                        </a:schemeClr>
                      </a:solidFill>
                      <a:prstDash val="solid"/>
                      <a:round/>
                      <a:headEnd type="none" w="med" len="med"/>
                      <a:tailEnd type="none" w="med" len="med"/>
                    </a:lnR>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30</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L w="12700" cap="flat" cmpd="sng" algn="ctr">
                      <a:solidFill>
                        <a:schemeClr val="tx2">
                          <a:lumMod val="60000"/>
                          <a:lumOff val="40000"/>
                        </a:schemeClr>
                      </a:solidFill>
                      <a:prstDash val="solid"/>
                      <a:round/>
                      <a:headEnd type="none" w="med" len="med"/>
                      <a:tailEnd type="none" w="med" len="med"/>
                    </a:ln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29</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ＥＮ＆Ｍ見積</a:t>
                      </a:r>
                    </a:p>
                  </a:txBody>
                  <a:tcPr marL="9525" marR="9525" marT="9525" marB="0" anchor="ctr"/>
                </a:tc>
                <a:extLst>
                  <a:ext uri="{0D108BD9-81ED-4DB2-BD59-A6C34878D82A}">
                    <a16:rowId xmlns:a16="http://schemas.microsoft.com/office/drawing/2014/main" val="10003"/>
                  </a:ext>
                </a:extLst>
              </a:tr>
              <a:tr h="53628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土建</a:t>
                      </a:r>
                      <a:endPar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a:t>
                      </a:r>
                      <a:r>
                        <a:rPr lang="zh-TW"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油水分離槽、既設会所改造等</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44</a:t>
                      </a: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　</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R w="12700" cap="flat" cmpd="sng" algn="ctr">
                      <a:solidFill>
                        <a:schemeClr val="tx2">
                          <a:lumMod val="60000"/>
                          <a:lumOff val="40000"/>
                        </a:schemeClr>
                      </a:solidFill>
                      <a:prstDash val="solid"/>
                      <a:round/>
                      <a:headEnd type="none" w="med" len="med"/>
                      <a:tailEnd type="none" w="med" len="med"/>
                    </a:lnR>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48</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L w="12700" cap="flat" cmpd="sng" algn="ctr">
                      <a:solidFill>
                        <a:schemeClr val="tx2">
                          <a:lumMod val="60000"/>
                          <a:lumOff val="40000"/>
                        </a:schemeClr>
                      </a:solidFill>
                      <a:prstDash val="solid"/>
                      <a:round/>
                      <a:headEnd type="none" w="med" len="med"/>
                      <a:tailEnd type="none" w="med" len="med"/>
                    </a:lnL>
                  </a:tcPr>
                </a:tc>
                <a:tc>
                  <a:txBody>
                    <a:bodyPr/>
                    <a:lstStyle/>
                    <a:p>
                      <a:pPr algn="ctr" fontAlgn="ctr"/>
                      <a:r>
                        <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21</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建設技術</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インハウス</a:t>
                      </a:r>
                    </a:p>
                  </a:txBody>
                  <a:tcPr marL="9525" marR="9525" marT="9525" marB="0" anchor="ctr"/>
                </a:tc>
                <a:extLst>
                  <a:ext uri="{0D108BD9-81ED-4DB2-BD59-A6C34878D82A}">
                    <a16:rowId xmlns:a16="http://schemas.microsoft.com/office/drawing/2014/main" val="10005"/>
                  </a:ext>
                </a:extLst>
              </a:tr>
              <a:tr h="354995">
                <a:tc>
                  <a:txBody>
                    <a:bodyPr/>
                    <a:lstStyle/>
                    <a:p>
                      <a:pPr algn="ctr" fontAlgn="ctr"/>
                      <a:r>
                        <a:rPr lang="ja-JP" altLang="en-US"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小計</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r>
                        <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72</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R w="12700" cap="flat" cmpd="sng" algn="ctr">
                      <a:solidFill>
                        <a:schemeClr val="tx2">
                          <a:lumMod val="60000"/>
                          <a:lumOff val="40000"/>
                        </a:schemeClr>
                      </a:solidFill>
                      <a:prstDash val="solid"/>
                      <a:round/>
                      <a:headEnd type="none" w="med" len="med"/>
                      <a:tailEnd type="none" w="med" len="med"/>
                    </a:lnR>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106</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lnL w="12700" cap="flat" cmpd="sng" algn="ctr">
                      <a:solidFill>
                        <a:schemeClr val="tx2">
                          <a:lumMod val="60000"/>
                          <a:lumOff val="40000"/>
                        </a:schemeClr>
                      </a:solidFill>
                      <a:prstDash val="solid"/>
                      <a:round/>
                      <a:headEnd type="none" w="med" len="med"/>
                      <a:tailEnd type="none" w="med" len="med"/>
                    </a:ln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71</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a:txBody>
                    <a:bodyPr/>
                    <a:lstStyle/>
                    <a:p>
                      <a:pPr algn="ctr" fontAlgn="ct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extLst>
                  <a:ext uri="{0D108BD9-81ED-4DB2-BD59-A6C34878D82A}">
                    <a16:rowId xmlns:a16="http://schemas.microsoft.com/office/drawing/2014/main" val="10006"/>
                  </a:ext>
                </a:extLst>
              </a:tr>
              <a:tr h="535208">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コンティ</a:t>
                      </a:r>
                    </a:p>
                  </a:txBody>
                  <a:tcPr marL="9525" marR="9525" marT="9525" marB="0" anchor="ctr"/>
                </a:tc>
                <a:tc gridSpan="3">
                  <a:txBody>
                    <a:bodyPr/>
                    <a:lstStyle/>
                    <a:p>
                      <a:pPr algn="ctr" fontAlgn="ctr"/>
                      <a:r>
                        <a:rPr lang="en-US" altLang="ja-JP" sz="1400" b="0" u="none" strike="noStrike" dirty="0">
                          <a:effectLst/>
                          <a:latin typeface="Meiryo UI" panose="020B0604030504040204" pitchFamily="50" charset="-128"/>
                          <a:ea typeface="Meiryo UI" panose="020B0604030504040204" pitchFamily="50" charset="-128"/>
                          <a:cs typeface="Meiryo UI" panose="020B0604030504040204" pitchFamily="50" charset="-128"/>
                        </a:rPr>
                        <a:t>13</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全体５％</a:t>
                      </a:r>
                    </a:p>
                  </a:txBody>
                  <a:tcPr marL="9525" marR="9525" marT="9525" marB="0" anchor="ctr"/>
                </a:tc>
                <a:extLst>
                  <a:ext uri="{0D108BD9-81ED-4DB2-BD59-A6C34878D82A}">
                    <a16:rowId xmlns:a16="http://schemas.microsoft.com/office/drawing/2014/main" val="10007"/>
                  </a:ext>
                </a:extLst>
              </a:tr>
              <a:tr h="506437">
                <a:tc>
                  <a:txBody>
                    <a:bodyPr/>
                    <a:lstStyle/>
                    <a:p>
                      <a:pPr algn="ctr"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合計</a:t>
                      </a:r>
                    </a:p>
                  </a:txBody>
                  <a:tcPr marL="9525" marR="9525" marT="9525" marB="0" anchor="ctr"/>
                </a:tc>
                <a:tc gridSpan="3">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262</a:t>
                      </a: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endParaRPr kumimoji="1" lang="ja-JP" altLang="en-US" dirty="0"/>
                    </a:p>
                  </a:txBody>
                  <a:tcPr marL="9525" marR="9525" marT="9525" marB="0" anchor="ctr"/>
                </a:tc>
                <a:extLst>
                  <a:ext uri="{0D108BD9-81ED-4DB2-BD59-A6C34878D82A}">
                    <a16:rowId xmlns:a16="http://schemas.microsoft.com/office/drawing/2014/main" val="2384128676"/>
                  </a:ext>
                </a:extLst>
              </a:tr>
            </a:tbl>
          </a:graphicData>
        </a:graphic>
      </p:graphicFrame>
      <p:sp>
        <p:nvSpPr>
          <p:cNvPr id="4" name="テキスト ボックス 3"/>
          <p:cNvSpPr txBox="1"/>
          <p:nvPr/>
        </p:nvSpPr>
        <p:spPr>
          <a:xfrm>
            <a:off x="7444596" y="593621"/>
            <a:ext cx="1613140"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単位：百万円</a:t>
            </a:r>
          </a:p>
        </p:txBody>
      </p:sp>
      <p:sp>
        <p:nvSpPr>
          <p:cNvPr id="8" name="テキスト ボックス 7"/>
          <p:cNvSpPr txBox="1"/>
          <p:nvPr/>
        </p:nvSpPr>
        <p:spPr>
          <a:xfrm>
            <a:off x="483078" y="5771937"/>
            <a:ext cx="8514273" cy="369332"/>
          </a:xfrm>
          <a:prstGeom prst="rect">
            <a:avLst/>
          </a:prstGeom>
          <a:noFill/>
        </p:spPr>
        <p:txBody>
          <a:bodyPr wrap="square" rtlCol="0">
            <a:spAutoFit/>
          </a:bodyPr>
          <a:lstStyle/>
          <a:p>
            <a:pPr fontAlgn="ctr"/>
            <a:r>
              <a:rPr lang="ja-JP" altLang="en-US" b="1" dirty="0">
                <a:latin typeface="Meiryo UI" panose="020B0604030504040204" pitchFamily="50" charset="-128"/>
                <a:ea typeface="Meiryo UI" panose="020B0604030504040204" pitchFamily="50" charset="-128"/>
                <a:cs typeface="Meiryo UI" panose="020B0604030504040204" pitchFamily="50" charset="-128"/>
              </a:rPr>
              <a:t>別途、解体費として</a:t>
            </a:r>
            <a:r>
              <a:rPr lang="en-US" altLang="ja-JP" b="1" dirty="0">
                <a:latin typeface="Meiryo UI" panose="020B0604030504040204" pitchFamily="50" charset="-128"/>
                <a:ea typeface="Meiryo UI" panose="020B0604030504040204" pitchFamily="50" charset="-128"/>
                <a:cs typeface="Meiryo UI" panose="020B0604030504040204" pitchFamily="50" charset="-128"/>
              </a:rPr>
              <a:t>1.6</a:t>
            </a:r>
            <a:r>
              <a:rPr lang="ja-JP" altLang="en-US" b="1" dirty="0">
                <a:latin typeface="Meiryo UI" panose="020B0604030504040204" pitchFamily="50" charset="-128"/>
                <a:ea typeface="Meiryo UI" panose="020B0604030504040204" pitchFamily="50" charset="-128"/>
                <a:cs typeface="Meiryo UI" panose="020B0604030504040204" pitchFamily="50" charset="-128"/>
              </a:rPr>
              <a:t>百万円</a:t>
            </a:r>
            <a:r>
              <a:rPr lang="en-US" altLang="ja-JP" b="1" dirty="0">
                <a:latin typeface="Meiryo UI" panose="020B0604030504040204" pitchFamily="50" charset="-128"/>
                <a:ea typeface="Meiryo UI" panose="020B0604030504040204" pitchFamily="50" charset="-128"/>
                <a:cs typeface="Meiryo UI" panose="020B0604030504040204" pitchFamily="50" charset="-128"/>
              </a:rPr>
              <a:t>(</a:t>
            </a:r>
            <a:r>
              <a:rPr lang="ja-JP" altLang="en-US" b="1" dirty="0">
                <a:latin typeface="Meiryo UI" panose="020B0604030504040204" pitchFamily="50" charset="-128"/>
                <a:ea typeface="Meiryo UI" panose="020B0604030504040204" pitchFamily="50" charset="-128"/>
                <a:cs typeface="Meiryo UI" panose="020B0604030504040204" pitchFamily="50" charset="-128"/>
              </a:rPr>
              <a:t>機械：</a:t>
            </a:r>
            <a:r>
              <a:rPr lang="en-US" altLang="ja-JP" b="1" dirty="0">
                <a:latin typeface="Meiryo UI" panose="020B0604030504040204" pitchFamily="50" charset="-128"/>
                <a:ea typeface="Meiryo UI" panose="020B0604030504040204" pitchFamily="50" charset="-128"/>
                <a:cs typeface="Meiryo UI" panose="020B0604030504040204" pitchFamily="50" charset="-128"/>
              </a:rPr>
              <a:t>0.1</a:t>
            </a:r>
            <a:r>
              <a:rPr lang="ja-JP" altLang="en-US" b="1" dirty="0">
                <a:latin typeface="Meiryo UI" panose="020B0604030504040204" pitchFamily="50" charset="-128"/>
                <a:ea typeface="Meiryo UI" panose="020B0604030504040204" pitchFamily="50" charset="-128"/>
                <a:cs typeface="Meiryo UI" panose="020B0604030504040204" pitchFamily="50" charset="-128"/>
              </a:rPr>
              <a:t>百万円、土建：</a:t>
            </a:r>
            <a:r>
              <a:rPr lang="en-US" altLang="ja-JP" b="1" dirty="0">
                <a:latin typeface="Meiryo UI" panose="020B0604030504040204" pitchFamily="50" charset="-128"/>
                <a:ea typeface="Meiryo UI" panose="020B0604030504040204" pitchFamily="50" charset="-128"/>
                <a:cs typeface="Meiryo UI" panose="020B0604030504040204" pitchFamily="50" charset="-128"/>
              </a:rPr>
              <a:t>1.5</a:t>
            </a:r>
            <a:r>
              <a:rPr lang="ja-JP" altLang="en-US" b="1" dirty="0">
                <a:latin typeface="Meiryo UI" panose="020B0604030504040204" pitchFamily="50" charset="-128"/>
                <a:ea typeface="Meiryo UI" panose="020B0604030504040204" pitchFamily="50" charset="-128"/>
                <a:cs typeface="Meiryo UI" panose="020B0604030504040204" pitchFamily="50" charset="-128"/>
              </a:rPr>
              <a:t>百万円</a:t>
            </a:r>
            <a:r>
              <a:rPr lang="en-US" altLang="ja-JP" b="1" dirty="0">
                <a:latin typeface="Meiryo UI" panose="020B0604030504040204" pitchFamily="50" charset="-128"/>
                <a:ea typeface="Meiryo UI" panose="020B0604030504040204" pitchFamily="50" charset="-128"/>
                <a:cs typeface="Meiryo UI" panose="020B0604030504040204" pitchFamily="50" charset="-128"/>
              </a:rPr>
              <a:t>)</a:t>
            </a:r>
            <a:r>
              <a:rPr lang="ja-JP" altLang="en-US" b="1" dirty="0">
                <a:latin typeface="Meiryo UI" panose="020B0604030504040204" pitchFamily="50" charset="-128"/>
                <a:ea typeface="Meiryo UI" panose="020B0604030504040204" pitchFamily="50" charset="-128"/>
                <a:cs typeface="Meiryo UI" panose="020B0604030504040204" pitchFamily="50" charset="-128"/>
              </a:rPr>
              <a:t>　が必要。</a:t>
            </a:r>
            <a:endParaRPr lang="en-US" altLang="ja-JP"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251711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タイトル 2"/>
          <p:cNvSpPr>
            <a:spLocks noGrp="1" noChangeArrowheads="1"/>
          </p:cNvSpPr>
          <p:nvPr/>
        </p:nvSpPr>
        <p:spPr bwMode="auto">
          <a:xfrm>
            <a:off x="0" y="26988"/>
            <a:ext cx="82280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4</a:t>
            </a:r>
            <a:r>
              <a:rPr lang="ja-JP" altLang="en-US" sz="2400" b="1" dirty="0" err="1">
                <a:solidFill>
                  <a:schemeClr val="tx2"/>
                </a:solidFill>
                <a:latin typeface="Meiryo UI" pitchFamily="50" charset="-128"/>
                <a:ea typeface="Meiryo UI" pitchFamily="50" charset="-128"/>
                <a:cs typeface="Meiryo UI" pitchFamily="50" charset="-128"/>
                <a:sym typeface="Meiryo UI" pitchFamily="50" charset="-128"/>
              </a:rPr>
              <a:t>．</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工事工程、知的財産、届出、実行責任者</a:t>
            </a:r>
            <a:endParaRPr lang="ja-JP" altLang="en-US" sz="2400" dirty="0"/>
          </a:p>
        </p:txBody>
      </p:sp>
      <p:graphicFrame>
        <p:nvGraphicFramePr>
          <p:cNvPr id="12292" name="Table 12291"/>
          <p:cNvGraphicFramePr/>
          <p:nvPr>
            <p:extLst>
              <p:ext uri="{D42A27DB-BD31-4B8C-83A1-F6EECF244321}">
                <p14:modId xmlns:p14="http://schemas.microsoft.com/office/powerpoint/2010/main" val="1995458127"/>
              </p:ext>
            </p:extLst>
          </p:nvPr>
        </p:nvGraphicFramePr>
        <p:xfrm>
          <a:off x="326685" y="900020"/>
          <a:ext cx="8259200" cy="3793980"/>
        </p:xfrm>
        <a:graphic>
          <a:graphicData uri="http://schemas.openxmlformats.org/drawingml/2006/table">
            <a:tbl>
              <a:tblPr/>
              <a:tblGrid>
                <a:gridCol w="2757198">
                  <a:extLst>
                    <a:ext uri="{9D8B030D-6E8A-4147-A177-3AD203B41FA5}">
                      <a16:colId xmlns:a16="http://schemas.microsoft.com/office/drawing/2014/main" val="20000"/>
                    </a:ext>
                  </a:extLst>
                </a:gridCol>
                <a:gridCol w="349430">
                  <a:extLst>
                    <a:ext uri="{9D8B030D-6E8A-4147-A177-3AD203B41FA5}">
                      <a16:colId xmlns:a16="http://schemas.microsoft.com/office/drawing/2014/main" val="20002"/>
                    </a:ext>
                  </a:extLst>
                </a:gridCol>
                <a:gridCol w="405442">
                  <a:extLst>
                    <a:ext uri="{9D8B030D-6E8A-4147-A177-3AD203B41FA5}">
                      <a16:colId xmlns:a16="http://schemas.microsoft.com/office/drawing/2014/main" val="20003"/>
                    </a:ext>
                  </a:extLst>
                </a:gridCol>
                <a:gridCol w="397832">
                  <a:extLst>
                    <a:ext uri="{9D8B030D-6E8A-4147-A177-3AD203B41FA5}">
                      <a16:colId xmlns:a16="http://schemas.microsoft.com/office/drawing/2014/main" val="20007"/>
                    </a:ext>
                  </a:extLst>
                </a:gridCol>
                <a:gridCol w="413051">
                  <a:extLst>
                    <a:ext uri="{9D8B030D-6E8A-4147-A177-3AD203B41FA5}">
                      <a16:colId xmlns:a16="http://schemas.microsoft.com/office/drawing/2014/main" val="20005"/>
                    </a:ext>
                  </a:extLst>
                </a:gridCol>
                <a:gridCol w="362309">
                  <a:extLst>
                    <a:ext uri="{9D8B030D-6E8A-4147-A177-3AD203B41FA5}">
                      <a16:colId xmlns:a16="http://schemas.microsoft.com/office/drawing/2014/main" val="20006"/>
                    </a:ext>
                  </a:extLst>
                </a:gridCol>
                <a:gridCol w="383223">
                  <a:extLst>
                    <a:ext uri="{9D8B030D-6E8A-4147-A177-3AD203B41FA5}">
                      <a16:colId xmlns:a16="http://schemas.microsoft.com/office/drawing/2014/main" val="20010"/>
                    </a:ext>
                  </a:extLst>
                </a:gridCol>
                <a:gridCol w="393155">
                  <a:extLst>
                    <a:ext uri="{9D8B030D-6E8A-4147-A177-3AD203B41FA5}">
                      <a16:colId xmlns:a16="http://schemas.microsoft.com/office/drawing/2014/main" val="20008"/>
                    </a:ext>
                  </a:extLst>
                </a:gridCol>
                <a:gridCol w="336430">
                  <a:extLst>
                    <a:ext uri="{9D8B030D-6E8A-4147-A177-3AD203B41FA5}">
                      <a16:colId xmlns:a16="http://schemas.microsoft.com/office/drawing/2014/main" val="20009"/>
                    </a:ext>
                  </a:extLst>
                </a:gridCol>
                <a:gridCol w="339140">
                  <a:extLst>
                    <a:ext uri="{9D8B030D-6E8A-4147-A177-3AD203B41FA5}">
                      <a16:colId xmlns:a16="http://schemas.microsoft.com/office/drawing/2014/main" val="20013"/>
                    </a:ext>
                  </a:extLst>
                </a:gridCol>
                <a:gridCol w="394105">
                  <a:extLst>
                    <a:ext uri="{9D8B030D-6E8A-4147-A177-3AD203B41FA5}">
                      <a16:colId xmlns:a16="http://schemas.microsoft.com/office/drawing/2014/main" val="20011"/>
                    </a:ext>
                  </a:extLst>
                </a:gridCol>
                <a:gridCol w="310551">
                  <a:extLst>
                    <a:ext uri="{9D8B030D-6E8A-4147-A177-3AD203B41FA5}">
                      <a16:colId xmlns:a16="http://schemas.microsoft.com/office/drawing/2014/main" val="20012"/>
                    </a:ext>
                  </a:extLst>
                </a:gridCol>
                <a:gridCol w="309041">
                  <a:extLst>
                    <a:ext uri="{9D8B030D-6E8A-4147-A177-3AD203B41FA5}">
                      <a16:colId xmlns:a16="http://schemas.microsoft.com/office/drawing/2014/main" val="20014"/>
                    </a:ext>
                  </a:extLst>
                </a:gridCol>
                <a:gridCol w="381072">
                  <a:extLst>
                    <a:ext uri="{9D8B030D-6E8A-4147-A177-3AD203B41FA5}">
                      <a16:colId xmlns:a16="http://schemas.microsoft.com/office/drawing/2014/main" val="20015"/>
                    </a:ext>
                  </a:extLst>
                </a:gridCol>
                <a:gridCol w="388189">
                  <a:extLst>
                    <a:ext uri="{9D8B030D-6E8A-4147-A177-3AD203B41FA5}">
                      <a16:colId xmlns:a16="http://schemas.microsoft.com/office/drawing/2014/main" val="20016"/>
                    </a:ext>
                  </a:extLst>
                </a:gridCol>
                <a:gridCol w="339032">
                  <a:extLst>
                    <a:ext uri="{9D8B030D-6E8A-4147-A177-3AD203B41FA5}">
                      <a16:colId xmlns:a16="http://schemas.microsoft.com/office/drawing/2014/main" val="20017"/>
                    </a:ext>
                  </a:extLst>
                </a:gridCol>
              </a:tblGrid>
              <a:tr h="388185">
                <a:tc rowSpan="3">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ja-JP" sz="28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gridSpan="15">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r>
                        <a:rPr lang="ja-JP" altLang="en-US" sz="1600" b="1" i="1">
                          <a:solidFill>
                            <a:schemeClr val="bg1"/>
                          </a:solidFill>
                          <a:latin typeface="Meiryo UI" panose="020B0604030504040204" pitchFamily="50" charset="-128"/>
                          <a:ea typeface="Meiryo UI" panose="020B0604030504040204" pitchFamily="50" charset="-128"/>
                        </a:rPr>
                        <a:t>　　　　　　　　　　　　　　　</a:t>
                      </a:r>
                      <a:r>
                        <a:rPr lang="en-US" altLang="ja-JP" sz="1600" b="1" i="1">
                          <a:solidFill>
                            <a:schemeClr val="bg1"/>
                          </a:solidFill>
                          <a:latin typeface="Meiryo UI" panose="020B0604030504040204" pitchFamily="50" charset="-128"/>
                          <a:ea typeface="Meiryo UI" panose="020B0604030504040204" pitchFamily="50" charset="-128"/>
                        </a:rPr>
                        <a:t>’19</a:t>
                      </a:r>
                      <a:r>
                        <a:rPr lang="ja-JP" altLang="en-US" sz="1600" b="1" i="1">
                          <a:solidFill>
                            <a:schemeClr val="bg1"/>
                          </a:solidFill>
                          <a:latin typeface="Meiryo UI" panose="020B0604030504040204" pitchFamily="50" charset="-128"/>
                          <a:ea typeface="Meiryo UI" panose="020B0604030504040204" pitchFamily="50" charset="-128"/>
                        </a:rPr>
                        <a:t>年</a:t>
                      </a:r>
                      <a:endParaRPr lang="en-US" altLang="ja-JP"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0" hangingPunct="0">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388185">
                <a:tc vMerge="1">
                  <a:txBody>
                    <a:bodyPr/>
                    <a:lstStyle/>
                    <a:p>
                      <a:endParaRPr kumimoji="1" lang="ja-JP" altLang="en-US"/>
                    </a:p>
                  </a:txBody>
                  <a:tcPr/>
                </a:tc>
                <a:tc gridSpan="3">
                  <a:txBody>
                    <a:bodyPr/>
                    <a:lstStyle/>
                    <a:p>
                      <a:pPr lvl="0" algn="ctr" eaLnBrk="1" hangingPunct="1">
                        <a:buNone/>
                      </a:pPr>
                      <a:r>
                        <a:rPr lang="en-US" altLang="ja-JP" sz="1600" b="1" i="1" dirty="0">
                          <a:solidFill>
                            <a:schemeClr val="bg1"/>
                          </a:solidFill>
                          <a:latin typeface="Meiryo UI" panose="020B0604030504040204" pitchFamily="50" charset="-128"/>
                          <a:ea typeface="Meiryo UI" panose="020B0604030504040204" pitchFamily="50" charset="-128"/>
                        </a:rPr>
                        <a:t>5</a:t>
                      </a:r>
                      <a:r>
                        <a:rPr lang="ja-JP" altLang="en-US" sz="1600" b="1" i="1" dirty="0">
                          <a:solidFill>
                            <a:schemeClr val="bg1"/>
                          </a:solidFill>
                          <a:latin typeface="Meiryo UI" panose="020B0604030504040204" pitchFamily="50" charset="-128"/>
                          <a:ea typeface="Meiryo UI" panose="020B0604030504040204" pitchFamily="50" charset="-128"/>
                        </a:rPr>
                        <a:t>月</a:t>
                      </a:r>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pPr lvl="0" algn="ctr" eaLnBrk="0" hangingPunct="0">
                        <a:buNone/>
                      </a:pPr>
                      <a:endParaRPr lang="ja-JP" altLang="ja-JP"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gridSpan="3">
                  <a:txBody>
                    <a:bodyPr/>
                    <a:lstStyle/>
                    <a:p>
                      <a:pPr lvl="0" algn="ctr" eaLnBrk="0" hangingPunct="0">
                        <a:buNone/>
                      </a:pPr>
                      <a:r>
                        <a:rPr lang="en-US" altLang="ja-JP" sz="1600" b="1" i="1" dirty="0">
                          <a:solidFill>
                            <a:schemeClr val="bg1"/>
                          </a:solidFill>
                          <a:latin typeface="Meiryo UI" panose="020B0604030504040204" pitchFamily="50" charset="-128"/>
                          <a:ea typeface="Meiryo UI" panose="020B0604030504040204" pitchFamily="50" charset="-128"/>
                        </a:rPr>
                        <a:t>6</a:t>
                      </a:r>
                      <a:r>
                        <a:rPr lang="ja-JP" altLang="en-US" sz="1600" b="1" i="1" dirty="0">
                          <a:solidFill>
                            <a:schemeClr val="bg1"/>
                          </a:solidFill>
                          <a:latin typeface="Meiryo UI" panose="020B0604030504040204" pitchFamily="50" charset="-128"/>
                          <a:ea typeface="Meiryo UI" panose="020B0604030504040204" pitchFamily="50" charset="-128"/>
                        </a:rPr>
                        <a:t>月</a:t>
                      </a:r>
                      <a:endParaRPr lang="ja-JP" altLang="ja-JP" sz="1600" b="1" i="1" dirty="0">
                        <a:solidFill>
                          <a:schemeClr val="bg1"/>
                        </a:solidFill>
                        <a:latin typeface="Meiryo UI" panose="020B0604030504040204" pitchFamily="50" charset="-128"/>
                        <a:ea typeface="Meiryo UI" panose="020B0604030504040204" pitchFamily="50" charset="-128"/>
                      </a:endParaRPr>
                    </a:p>
                  </a:txBody>
                  <a:tcPr marT="45729" marB="4572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pPr lvl="0" algn="ctr"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gridSpan="3">
                  <a:txBody>
                    <a:bodyPr/>
                    <a:lstStyle/>
                    <a:p>
                      <a:pPr lvl="0" algn="ctr" eaLnBrk="1" hangingPunct="1">
                        <a:buNone/>
                      </a:pPr>
                      <a:r>
                        <a:rPr lang="en-US" altLang="ja-JP"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rPr>
                        <a:t>7</a:t>
                      </a:r>
                      <a:r>
                        <a:rPr lang="ja-JP" altLang="en-US"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rPr>
                        <a:t>月</a:t>
                      </a:r>
                    </a:p>
                  </a:txBody>
                  <a:tcPr marT="45729" marB="4572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pPr lvl="0" algn="ctr"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gridSpan="3">
                  <a:txBody>
                    <a:bodyPr/>
                    <a:lstStyle/>
                    <a:p>
                      <a:pPr lvl="0" algn="ctr" eaLnBrk="1" hangingPunct="1">
                        <a:buNone/>
                      </a:pPr>
                      <a:r>
                        <a:rPr lang="en-US" altLang="ja-JP" sz="1600" b="1" i="1" dirty="0">
                          <a:solidFill>
                            <a:schemeClr val="bg1"/>
                          </a:solidFill>
                          <a:latin typeface="Meiryo UI" panose="020B0604030504040204" pitchFamily="50" charset="-128"/>
                          <a:ea typeface="Meiryo UI" panose="020B0604030504040204" pitchFamily="50" charset="-128"/>
                        </a:rPr>
                        <a:t>8</a:t>
                      </a:r>
                      <a:r>
                        <a:rPr lang="ja-JP" altLang="en-US" sz="1600" b="1" i="1" dirty="0">
                          <a:solidFill>
                            <a:schemeClr val="bg1"/>
                          </a:solidFill>
                          <a:latin typeface="Meiryo UI" panose="020B0604030504040204" pitchFamily="50" charset="-128"/>
                          <a:ea typeface="Meiryo UI" panose="020B0604030504040204" pitchFamily="50" charset="-128"/>
                        </a:rPr>
                        <a:t>月</a:t>
                      </a:r>
                    </a:p>
                  </a:txBody>
                  <a:tcPr marT="45729" marB="4572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lvl="0" algn="ctr" eaLnBrk="1" hangingPunct="1">
                        <a:buNone/>
                      </a:pPr>
                      <a:r>
                        <a:rPr lang="en-US" altLang="ja-JP" sz="1600" b="1" i="1" dirty="0">
                          <a:solidFill>
                            <a:schemeClr val="bg1"/>
                          </a:solidFill>
                          <a:latin typeface="Meiryo UI" panose="020B0604030504040204" pitchFamily="50" charset="-128"/>
                          <a:ea typeface="Meiryo UI" panose="020B0604030504040204" pitchFamily="50" charset="-128"/>
                        </a:rPr>
                        <a:t>9</a:t>
                      </a:r>
                      <a:r>
                        <a:rPr lang="ja-JP" altLang="en-US" sz="1600" b="1" i="1" dirty="0">
                          <a:solidFill>
                            <a:schemeClr val="bg1"/>
                          </a:solidFill>
                          <a:latin typeface="Meiryo UI" panose="020B0604030504040204" pitchFamily="50" charset="-128"/>
                          <a:ea typeface="Meiryo UI" panose="020B0604030504040204" pitchFamily="50" charset="-128"/>
                        </a:rPr>
                        <a:t>月</a:t>
                      </a:r>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3"/>
                  </a:ext>
                </a:extLst>
              </a:tr>
              <a:tr h="0">
                <a:tc vMerge="1">
                  <a:txBody>
                    <a:bodyPr/>
                    <a:lstStyle/>
                    <a:p>
                      <a:endParaRPr kumimoji="1" lang="ja-JP" altLang="en-US"/>
                    </a:p>
                  </a:txBody>
                  <a:tcPr/>
                </a:tc>
                <a:tc gridSpan="15">
                  <a:txBody>
                    <a:bodyPr/>
                    <a:lstStyle/>
                    <a:p>
                      <a:pPr lvl="0" eaLnBrk="1" hangingPunct="1">
                        <a:buNone/>
                      </a:pPr>
                      <a:endParaRPr lang="ja-JP" altLang="en-US" sz="8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pPr lvl="0" eaLnBrk="0" hangingPunct="0">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solidFill>
                  </a:tcPr>
                </a:tc>
                <a:tc hMerge="1">
                  <a:txBody>
                    <a:bodyPr/>
                    <a:lstStyle/>
                    <a:p>
                      <a:pPr lvl="0" eaLnBrk="1" hangingPunct="1">
                        <a:buNone/>
                      </a:pPr>
                      <a:endParaRPr lang="ja-JP" altLang="en-US" sz="1600" b="1" i="1" dirty="0">
                        <a:solidFill>
                          <a:schemeClr val="bg1"/>
                        </a:solidFill>
                        <a:latin typeface="Meiryo UI" panose="020B0604030504040204" pitchFamily="50" charset="-128"/>
                        <a:ea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5"/>
                  </a:ext>
                </a:extLst>
              </a:tr>
              <a:tr h="47360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algn="l" fontAlgn="ctr"/>
                      <a:r>
                        <a:rPr lang="ja-JP" altLang="en-US" sz="16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①　</a:t>
                      </a:r>
                      <a:r>
                        <a:rPr lang="en-US" altLang="ja-JP" sz="16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NO.16</a:t>
                      </a:r>
                      <a:r>
                        <a:rPr lang="ja-JP" altLang="en-US" sz="16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水処理能力増強</a:t>
                      </a:r>
                      <a:endPar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T="45729" marB="45729"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8E7"/>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algn="ctr" eaLnBrk="1" hangingPunct="1">
                        <a:buNone/>
                      </a:pPr>
                      <a:endParaRPr lang="ja-JP" altLang="ja-JP" sz="2800" dirty="0">
                        <a:solidFill>
                          <a:srgbClr val="FF0000"/>
                        </a:solidFill>
                        <a:latin typeface="Calibri" panose="020F0502020204030204" pitchFamily="34" charset="0"/>
                      </a:endParaRPr>
                    </a:p>
                  </a:txBody>
                  <a:tcPr marT="45729" marB="457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algn="ctr" eaLnBrk="1" hangingPunct="1">
                        <a:buNone/>
                      </a:pPr>
                      <a:endParaRPr lang="ja-JP" altLang="ja-JP" sz="1200" b="1" dirty="0">
                        <a:latin typeface="Calibri" panose="020F0502020204030204" pitchFamily="34" charset="0"/>
                      </a:endParaRPr>
                    </a:p>
                  </a:txBody>
                  <a:tcPr marT="45729" marB="45729"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FD8E7"/>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algn="ctr" eaLnBrk="1" hangingPunct="1">
                        <a:buNone/>
                      </a:pPr>
                      <a:endParaRPr lang="ja-JP" altLang="ja-JP" sz="2800" b="1" dirty="0">
                        <a:latin typeface="Calibri" panose="020F0502020204030204" pitchFamily="34" charset="0"/>
                      </a:endParaRPr>
                    </a:p>
                  </a:txBody>
                  <a:tcPr marT="45729" marB="45729" anchor="ctr">
                    <a:lnL w="28575" cap="flat" cmpd="sng" algn="ctr">
                      <a:solidFill>
                        <a:schemeClr val="bg1"/>
                      </a:solidFill>
                      <a:prstDash val="solid"/>
                      <a:round/>
                      <a:headEnd type="none" w="med" len="med"/>
                      <a:tailEnd type="none" w="med" len="med"/>
                    </a:lnL>
                    <a:lnR w="12700" cap="flat" cmpd="sng">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algn="ctr" eaLnBrk="1" hangingPunct="1">
                        <a:buNone/>
                      </a:pPr>
                      <a:endParaRPr lang="ja-JP" altLang="ja-JP" sz="2800" dirty="0">
                        <a:latin typeface="Calibri" panose="020F0502020204030204" pitchFamily="34" charset="0"/>
                      </a:endParaRPr>
                    </a:p>
                  </a:txBody>
                  <a:tcPr marT="45729" marB="45729"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FD8E7"/>
                    </a:solidFill>
                  </a:tcPr>
                </a:tc>
                <a:tc>
                  <a:txBody>
                    <a:bodyPr/>
                    <a:lstStyle/>
                    <a:p>
                      <a:endParaRPr kumimoji="1" lang="ja-JP" altLang="en-US"/>
                    </a:p>
                  </a:txBody>
                  <a:tcPr marT="45729" marB="45729" anchor="ctr">
                    <a:lnL w="28575" cap="flat" cmpd="sng" algn="ctr">
                      <a:solidFill>
                        <a:schemeClr val="bg1"/>
                      </a:solidFill>
                      <a:prstDash val="solid"/>
                      <a:round/>
                      <a:headEnd type="none" w="med" len="med"/>
                      <a:tailEnd type="none" w="med" len="med"/>
                    </a:lnL>
                    <a:lnR w="12700" cap="flat" cmpd="sng">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a:p>
                  </a:txBody>
                  <a:tcPr marT="45729" marB="45729"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FD8E7"/>
                    </a:solidFill>
                  </a:tcPr>
                </a:tc>
                <a:tc>
                  <a:txBody>
                    <a:bodyPr/>
                    <a:lstStyle/>
                    <a:p>
                      <a:endParaRPr kumimoji="1" lang="ja-JP" altLang="en-US"/>
                    </a:p>
                  </a:txBody>
                  <a:tcPr marT="45729" marB="45729"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a:p>
                  </a:txBody>
                  <a:tcPr marT="45729" marB="4572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a:p>
                  </a:txBody>
                  <a:tcPr marT="45729" marB="45729"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lgn="ctr">
                      <a:solidFill>
                        <a:schemeClr val="bg1"/>
                      </a:solidFill>
                      <a:prstDash val="solid"/>
                      <a:round/>
                      <a:headEnd type="none" w="med" len="med"/>
                      <a:tailEnd type="none" w="med" len="med"/>
                    </a:lnL>
                    <a:lnR w="12700" cap="flat" cmpd="sng">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endParaRPr kumimoji="1" lang="ja-JP" altLang="en-US" dirty="0"/>
                    </a:p>
                  </a:txBody>
                  <a:tcPr marT="45729" marB="457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1"/>
                  </a:ext>
                </a:extLst>
              </a:tr>
              <a:tr h="1195754">
                <a:tc>
                  <a:txBody>
                    <a:bodyPr/>
                    <a:lstStyle/>
                    <a:p>
                      <a:pPr algn="l" fontAlgn="ctr"/>
                      <a:r>
                        <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②　</a:t>
                      </a:r>
                      <a:r>
                        <a:rPr lang="en-US" altLang="ja-JP"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a:t>
                      </a:r>
                      <a:r>
                        <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加工山側送水能力増強</a:t>
                      </a:r>
                      <a:endParaRPr lang="en-US" altLang="ja-JP"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ctr" latinLnBrk="0" hangingPunct="1">
                        <a:lnSpc>
                          <a:spcPct val="100000"/>
                        </a:lnSpc>
                        <a:spcBef>
                          <a:spcPts val="0"/>
                        </a:spcBef>
                        <a:spcAft>
                          <a:spcPts val="0"/>
                        </a:spcAft>
                        <a:buClrTx/>
                        <a:buSzTx/>
                        <a:buFontTx/>
                        <a:buNone/>
                        <a:tabLst/>
                        <a:defRPr/>
                      </a:pPr>
                      <a:r>
                        <a:rPr lang="ja-JP" altLang="en-US" sz="1400" b="0" i="0" u="none" strike="noStrike" baseline="0"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加工冠水対策）</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７線浜側送水能力増強</a:t>
                      </a:r>
                      <a:endParaRPr lang="en-US" altLang="ja-JP"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(7</a:t>
                      </a:r>
                      <a:r>
                        <a:rPr lang="ja-JP" altLang="en-US" sz="14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線浜冠水対策）</a:t>
                      </a:r>
                    </a:p>
                  </a:txBody>
                  <a:tcPr marT="45729" marB="45729"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8E7"/>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algn="ctr" eaLnBrk="1" hangingPunct="1">
                        <a:buNone/>
                      </a:pPr>
                      <a:endParaRPr lang="ja-JP" altLang="ja-JP" sz="2800" b="1" i="1" dirty="0">
                        <a:solidFill>
                          <a:srgbClr val="FF0000"/>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ja-JP" sz="20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ja-JP" sz="20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ＭＳ Ｐゴシック" panose="020B0600070205080204" pitchFamily="50" charset="-128"/>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ＭＳ Ｐゴシック" panose="020B0600070205080204" pitchFamily="50" charset="-128"/>
                          <a:cs typeface="+mn-cs"/>
                        </a:defRPr>
                      </a:lvl5pPr>
                    </a:lstStyle>
                    <a:p>
                      <a:pPr lvl="0" eaLnBrk="1" hangingPunct="1">
                        <a:buNone/>
                      </a:pPr>
                      <a:endParaRPr lang="ja-JP" altLang="ja-JP" sz="20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solidFill>
                        <a:srgbClr val="FFFFFF"/>
                      </a:solidFill>
                      <a:prstDash val="solid"/>
                      <a:headEnd type="none" w="med" len="med"/>
                      <a:tailEnd type="none" w="med" len="med"/>
                    </a:lnL>
                    <a:lnR w="28575" cap="flat" cmpd="sng" algn="ctr">
                      <a:solidFill>
                        <a:schemeClr val="bg1"/>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2"/>
                  </a:ext>
                </a:extLst>
              </a:tr>
              <a:tr h="466534">
                <a:tc>
                  <a:txBody>
                    <a:bodyPr/>
                    <a:lstStyle/>
                    <a:p>
                      <a:pPr algn="ctr" fontAlgn="ctr"/>
                      <a:r>
                        <a:rPr lang="ja-JP" altLang="en-US" sz="1600" b="0" i="0" u="none" strike="noStrike" baseline="0"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③ </a:t>
                      </a:r>
                      <a:r>
                        <a:rPr lang="en-US" altLang="ja-JP" sz="16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No.16</a:t>
                      </a:r>
                      <a:r>
                        <a:rPr lang="ja-JP" altLang="en-US" sz="1600" b="0" i="0" u="none" strike="noStrike" dirty="0">
                          <a:solidFill>
                            <a:schemeClr val="dk1"/>
                          </a:solidFill>
                          <a:effectLst/>
                          <a:latin typeface="Meiryo UI" panose="020B0604030504040204" pitchFamily="50" charset="-128"/>
                          <a:ea typeface="Meiryo UI" panose="020B0604030504040204" pitchFamily="50" charset="-128"/>
                          <a:cs typeface="Meiryo UI" panose="020B0604030504040204" pitchFamily="50" charset="-128"/>
                        </a:rPr>
                        <a:t>強制排出方式採用</a:t>
                      </a:r>
                      <a:endPar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T="45729" marB="457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8E7"/>
                    </a:solidFill>
                  </a:tcPr>
                </a:tc>
                <a:tc>
                  <a:txBody>
                    <a:bodyPr/>
                    <a:lstStyle/>
                    <a:p>
                      <a:pPr lvl="0" algn="r" eaLnBrk="1" hangingPunct="1">
                        <a:buNone/>
                      </a:pPr>
                      <a:endParaRPr lang="ja-JP" altLang="ja-JP" sz="2800" b="1" i="1" dirty="0">
                        <a:solidFill>
                          <a:srgbClr val="FF0000"/>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6"/>
                  </a:ext>
                </a:extLst>
              </a:tr>
              <a:tr h="309489">
                <a:tc>
                  <a:txBody>
                    <a:bodyPr/>
                    <a:lstStyle/>
                    <a:p>
                      <a:pPr algn="ctr"/>
                      <a:r>
                        <a:rPr lang="ja-JP" altLang="en-US" sz="1600" b="0" dirty="0">
                          <a:latin typeface="Meiryo UI" panose="020B0604030504040204" pitchFamily="50" charset="-128"/>
                          <a:ea typeface="Meiryo UI" panose="020B0604030504040204" pitchFamily="50" charset="-128"/>
                          <a:cs typeface="Meiryo UI" panose="020B0604030504040204" pitchFamily="50" charset="-128"/>
                        </a:rPr>
                        <a:t>レンタルによる運用</a:t>
                      </a:r>
                      <a:endParaRPr lang="en-US" altLang="ja-JP" sz="1600" b="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400" b="0" dirty="0">
                          <a:latin typeface="Meiryo UI" panose="020B0604030504040204" pitchFamily="50" charset="-128"/>
                          <a:ea typeface="Meiryo UI" panose="020B0604030504040204" pitchFamily="50" charset="-128"/>
                          <a:cs typeface="Meiryo UI" panose="020B0604030504040204" pitchFamily="50" charset="-128"/>
                        </a:rPr>
                        <a:t>（中和・油水分離槽）</a:t>
                      </a:r>
                      <a:endParaRPr kumimoji="1" lang="ja-JP" altLang="en-US" sz="1400" b="0" dirty="0"/>
                    </a:p>
                  </a:txBody>
                  <a:tcPr marT="45729" marB="457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8E7"/>
                    </a:solidFill>
                  </a:tcPr>
                </a:tc>
                <a:tc>
                  <a:txBody>
                    <a:bodyPr/>
                    <a:lstStyle/>
                    <a:p>
                      <a:pPr lvl="0" algn="r" eaLnBrk="1" hangingPunct="1">
                        <a:buNone/>
                      </a:pPr>
                      <a:endParaRPr lang="ja-JP" altLang="ja-JP" sz="2800" b="1" i="1" dirty="0">
                        <a:solidFill>
                          <a:srgbClr val="FF0000"/>
                        </a:solidFill>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pPr lvl="0" eaLnBrk="1" hangingPunct="1">
                        <a:buNone/>
                      </a:pPr>
                      <a:endParaRPr lang="ja-JP" altLang="ja-JP" sz="200" b="1" i="1" dirty="0">
                        <a:latin typeface="Meiryo UI" panose="020B0604030504040204" pitchFamily="50" charset="-128"/>
                        <a:ea typeface="Meiryo UI" panose="020B0604030504040204" pitchFamily="50" charset="-128"/>
                        <a:sym typeface="Meiryo UI" panose="020B0604030504040204" pitchFamily="50" charset="-128"/>
                      </a:endParaRPr>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a:p>
                  </a:txBody>
                  <a:tcPr marT="45729" marB="45729">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tc>
                  <a:txBody>
                    <a:bodyPr/>
                    <a:lstStyle/>
                    <a:p>
                      <a:endParaRPr kumimoji="1" lang="ja-JP" altLang="en-US" dirty="0"/>
                    </a:p>
                  </a:txBody>
                  <a:tcPr marT="45729" marB="4572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2037364330"/>
                  </a:ext>
                </a:extLst>
              </a:tr>
            </a:tbl>
          </a:graphicData>
        </a:graphic>
      </p:graphicFrame>
      <p:sp>
        <p:nvSpPr>
          <p:cNvPr id="2" name="テキスト ボックス 1"/>
          <p:cNvSpPr txBox="1"/>
          <p:nvPr/>
        </p:nvSpPr>
        <p:spPr>
          <a:xfrm>
            <a:off x="8291" y="564701"/>
            <a:ext cx="1828800" cy="369332"/>
          </a:xfrm>
          <a:prstGeom prst="rect">
            <a:avLst/>
          </a:prstGeom>
          <a:noFill/>
        </p:spPr>
        <p:txBody>
          <a:bodyPr wrap="square" rtlCol="0">
            <a:spAutoFit/>
          </a:bodyPr>
          <a:lstStyle/>
          <a:p>
            <a:r>
              <a:rPr lang="ja-JP" altLang="en-US" dirty="0">
                <a:latin typeface="Meiryo UI" pitchFamily="50" charset="-128"/>
                <a:ea typeface="Meiryo UI" pitchFamily="50" charset="-128"/>
                <a:cs typeface="Meiryo UI" pitchFamily="50" charset="-128"/>
                <a:sym typeface="Meiryo UI" pitchFamily="50" charset="-128"/>
              </a:rPr>
              <a:t>１）工事工程</a:t>
            </a:r>
            <a:endParaRPr kumimoji="1" lang="ja-JP" altLang="en-US" dirty="0"/>
          </a:p>
        </p:txBody>
      </p:sp>
      <p:sp>
        <p:nvSpPr>
          <p:cNvPr id="18" name="右矢印 6175"/>
          <p:cNvSpPr>
            <a:spLocks noChangeArrowheads="1"/>
          </p:cNvSpPr>
          <p:nvPr/>
        </p:nvSpPr>
        <p:spPr bwMode="auto">
          <a:xfrm>
            <a:off x="3479515" y="2005909"/>
            <a:ext cx="2166990"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設計・製作</a:t>
            </a:r>
            <a:endParaRPr lang="ja-JP" altLang="ja-JP" sz="1800" dirty="0"/>
          </a:p>
        </p:txBody>
      </p:sp>
      <p:sp>
        <p:nvSpPr>
          <p:cNvPr id="19" name="右矢印 6175"/>
          <p:cNvSpPr>
            <a:spLocks noChangeArrowheads="1"/>
          </p:cNvSpPr>
          <p:nvPr/>
        </p:nvSpPr>
        <p:spPr bwMode="auto">
          <a:xfrm>
            <a:off x="5707369" y="2005909"/>
            <a:ext cx="2027209"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工事</a:t>
            </a:r>
            <a:endParaRPr lang="ja-JP" altLang="ja-JP" sz="1800" dirty="0"/>
          </a:p>
        </p:txBody>
      </p:sp>
      <p:sp>
        <p:nvSpPr>
          <p:cNvPr id="20" name="テキスト ボックス 11"/>
          <p:cNvSpPr>
            <a:spLocks noChangeArrowheads="1"/>
          </p:cNvSpPr>
          <p:nvPr/>
        </p:nvSpPr>
        <p:spPr bwMode="auto">
          <a:xfrm>
            <a:off x="198153" y="5079501"/>
            <a:ext cx="8747694" cy="180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lnSpc>
                <a:spcPts val="1600"/>
              </a:lnSpc>
              <a:spcBef>
                <a:spcPct val="0"/>
              </a:spcBef>
              <a:buFont typeface="Arial" charset="0"/>
              <a:buNone/>
            </a:pPr>
            <a:r>
              <a:rPr lang="en-US" altLang="ja-JP" sz="1800" dirty="0">
                <a:latin typeface="Meiryo UI" pitchFamily="50" charset="-128"/>
                <a:ea typeface="Meiryo UI" pitchFamily="50" charset="-128"/>
                <a:cs typeface="Meiryo UI" pitchFamily="50" charset="-128"/>
                <a:sym typeface="Meiryo UI" pitchFamily="50" charset="-128"/>
              </a:rPr>
              <a:t>2</a:t>
            </a:r>
            <a:r>
              <a:rPr lang="ja-JP" altLang="en-US" sz="1800" dirty="0">
                <a:latin typeface="Meiryo UI" pitchFamily="50" charset="-128"/>
                <a:ea typeface="Meiryo UI" pitchFamily="50" charset="-128"/>
                <a:cs typeface="Meiryo UI" pitchFamily="50" charset="-128"/>
                <a:sym typeface="Meiryo UI" pitchFamily="50" charset="-128"/>
              </a:rPr>
              <a:t>）工事効果</a:t>
            </a:r>
            <a:r>
              <a:rPr lang="en-US" altLang="ja-JP" sz="1800" dirty="0">
                <a:latin typeface="Meiryo UI" pitchFamily="50" charset="-128"/>
                <a:ea typeface="Meiryo UI" pitchFamily="50" charset="-128"/>
                <a:cs typeface="Meiryo UI" pitchFamily="50" charset="-128"/>
                <a:sym typeface="Meiryo UI" pitchFamily="50" charset="-128"/>
              </a:rPr>
              <a:t>	</a:t>
            </a:r>
            <a:r>
              <a:rPr lang="ja-JP" altLang="en-US" sz="1800" dirty="0">
                <a:latin typeface="Meiryo UI" pitchFamily="50" charset="-128"/>
                <a:ea typeface="Meiryo UI" pitchFamily="50" charset="-128"/>
                <a:cs typeface="Meiryo UI" pitchFamily="50" charset="-128"/>
                <a:sym typeface="Meiryo UI" pitchFamily="50" charset="-128"/>
              </a:rPr>
              <a:t>：自然災害（豪雨、台風）による</a:t>
            </a:r>
            <a:r>
              <a:rPr lang="en-US" altLang="ja-JP" sz="1800" dirty="0">
                <a:latin typeface="Meiryo UI" pitchFamily="50" charset="-128"/>
                <a:ea typeface="Meiryo UI" pitchFamily="50" charset="-128"/>
                <a:cs typeface="Meiryo UI" pitchFamily="50" charset="-128"/>
                <a:sym typeface="Meiryo UI" pitchFamily="50" charset="-128"/>
              </a:rPr>
              <a:t>7</a:t>
            </a:r>
            <a:r>
              <a:rPr lang="ja-JP" altLang="en-US" sz="1800" dirty="0">
                <a:latin typeface="Meiryo UI" pitchFamily="50" charset="-128"/>
                <a:ea typeface="Meiryo UI" pitchFamily="50" charset="-128"/>
                <a:cs typeface="Meiryo UI" pitchFamily="50" charset="-128"/>
                <a:sym typeface="Meiryo UI" pitchFamily="50" charset="-128"/>
              </a:rPr>
              <a:t>線材、３加工工場の減産回避</a:t>
            </a: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lnSpc>
                <a:spcPts val="1600"/>
              </a:lnSpc>
              <a:spcBef>
                <a:spcPct val="0"/>
              </a:spcBef>
              <a:buFont typeface="Arial" charset="0"/>
              <a:buNone/>
            </a:pPr>
            <a:r>
              <a:rPr lang="ja-JP" altLang="en-US" sz="1800" dirty="0">
                <a:latin typeface="Meiryo UI" pitchFamily="50" charset="-128"/>
                <a:ea typeface="Meiryo UI" pitchFamily="50" charset="-128"/>
                <a:cs typeface="Meiryo UI" pitchFamily="50" charset="-128"/>
                <a:sym typeface="Meiryo UI" pitchFamily="50" charset="-128"/>
              </a:rPr>
              <a:t>　　　　　　</a:t>
            </a:r>
          </a:p>
          <a:p>
            <a:pPr eaLnBrk="1" hangingPunct="1">
              <a:lnSpc>
                <a:spcPts val="1600"/>
              </a:lnSpc>
              <a:spcBef>
                <a:spcPct val="0"/>
              </a:spcBef>
              <a:buFont typeface="Arial" charset="0"/>
              <a:buNone/>
            </a:pPr>
            <a:r>
              <a:rPr lang="en-US" altLang="ja-JP" sz="1800" dirty="0">
                <a:latin typeface="Meiryo UI" pitchFamily="50" charset="-128"/>
                <a:ea typeface="Meiryo UI" pitchFamily="50" charset="-128"/>
                <a:cs typeface="Meiryo UI" pitchFamily="50" charset="-128"/>
                <a:sym typeface="Meiryo UI" pitchFamily="50" charset="-128"/>
              </a:rPr>
              <a:t>3</a:t>
            </a:r>
            <a:r>
              <a:rPr lang="ja-JP" altLang="en-US" sz="1800" dirty="0">
                <a:latin typeface="Meiryo UI" pitchFamily="50" charset="-128"/>
                <a:ea typeface="Meiryo UI" pitchFamily="50" charset="-128"/>
                <a:cs typeface="Meiryo UI" pitchFamily="50" charset="-128"/>
                <a:sym typeface="Meiryo UI" pitchFamily="50" charset="-128"/>
              </a:rPr>
              <a:t>）知的財産</a:t>
            </a:r>
            <a:r>
              <a:rPr lang="en-US" altLang="ja-JP" sz="1800" dirty="0">
                <a:latin typeface="Meiryo UI" pitchFamily="50" charset="-128"/>
                <a:ea typeface="Meiryo UI" pitchFamily="50" charset="-128"/>
                <a:cs typeface="Meiryo UI" pitchFamily="50" charset="-128"/>
                <a:sym typeface="Meiryo UI" pitchFamily="50" charset="-128"/>
              </a:rPr>
              <a:t>	</a:t>
            </a:r>
            <a:r>
              <a:rPr lang="ja-JP" altLang="en-US" sz="1800" dirty="0">
                <a:latin typeface="Meiryo UI" pitchFamily="50" charset="-128"/>
                <a:ea typeface="Meiryo UI" pitchFamily="50" charset="-128"/>
                <a:cs typeface="Meiryo UI" pitchFamily="50" charset="-128"/>
                <a:sym typeface="Meiryo UI" pitchFamily="50" charset="-128"/>
              </a:rPr>
              <a:t>：問題なし</a:t>
            </a: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lnSpc>
                <a:spcPts val="1600"/>
              </a:lnSpc>
              <a:spcBef>
                <a:spcPct val="0"/>
              </a:spcBef>
              <a:buFont typeface="Arial" charset="0"/>
              <a:buNone/>
            </a:pP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lnSpc>
                <a:spcPts val="1600"/>
              </a:lnSpc>
              <a:spcBef>
                <a:spcPct val="0"/>
              </a:spcBef>
              <a:buFont typeface="Arial" charset="0"/>
              <a:buNone/>
            </a:pPr>
            <a:r>
              <a:rPr lang="en-US" altLang="ja-JP" sz="1800" dirty="0">
                <a:latin typeface="Meiryo UI" pitchFamily="50" charset="-128"/>
                <a:ea typeface="Meiryo UI" pitchFamily="50" charset="-128"/>
                <a:cs typeface="Meiryo UI" pitchFamily="50" charset="-128"/>
                <a:sym typeface="Meiryo UI" pitchFamily="50" charset="-128"/>
              </a:rPr>
              <a:t>4</a:t>
            </a:r>
            <a:r>
              <a:rPr lang="ja-JP" altLang="en-US" sz="1800" dirty="0">
                <a:latin typeface="Meiryo UI" pitchFamily="50" charset="-128"/>
                <a:ea typeface="Meiryo UI" pitchFamily="50" charset="-128"/>
                <a:cs typeface="Meiryo UI" pitchFamily="50" charset="-128"/>
                <a:sym typeface="Meiryo UI" pitchFamily="50" charset="-128"/>
              </a:rPr>
              <a:t>）届出関係</a:t>
            </a:r>
            <a:r>
              <a:rPr lang="en-US" altLang="ja-JP" sz="1800" dirty="0">
                <a:latin typeface="Meiryo UI" pitchFamily="50" charset="-128"/>
                <a:ea typeface="Meiryo UI" pitchFamily="50" charset="-128"/>
                <a:cs typeface="Meiryo UI" pitchFamily="50" charset="-128"/>
                <a:sym typeface="Meiryo UI" pitchFamily="50" charset="-128"/>
              </a:rPr>
              <a:t>	</a:t>
            </a:r>
            <a:r>
              <a:rPr lang="ja-JP" altLang="en-US" sz="1800" dirty="0">
                <a:latin typeface="Meiryo UI" pitchFamily="50" charset="-128"/>
                <a:ea typeface="Meiryo UI" pitchFamily="50" charset="-128"/>
                <a:cs typeface="Meiryo UI" pitchFamily="50" charset="-128"/>
                <a:sym typeface="Meiryo UI" pitchFamily="50" charset="-128"/>
              </a:rPr>
              <a:t>：水質汚濁防止法</a:t>
            </a: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lnSpc>
                <a:spcPts val="1600"/>
              </a:lnSpc>
              <a:spcBef>
                <a:spcPct val="0"/>
              </a:spcBef>
              <a:buFont typeface="Arial" charset="0"/>
              <a:buNone/>
            </a:pPr>
            <a:endParaRPr lang="en-US" altLang="ja-JP" sz="1800" dirty="0">
              <a:latin typeface="Meiryo UI" pitchFamily="50" charset="-128"/>
              <a:ea typeface="Meiryo UI" pitchFamily="50" charset="-128"/>
              <a:cs typeface="Meiryo UI" pitchFamily="50" charset="-128"/>
              <a:sym typeface="Meiryo UI" pitchFamily="50" charset="-128"/>
            </a:endParaRPr>
          </a:p>
          <a:p>
            <a:pPr eaLnBrk="1" hangingPunct="1">
              <a:lnSpc>
                <a:spcPts val="1600"/>
              </a:lnSpc>
              <a:spcBef>
                <a:spcPct val="0"/>
              </a:spcBef>
              <a:buFont typeface="Arial" charset="0"/>
              <a:buNone/>
            </a:pPr>
            <a:r>
              <a:rPr lang="en-US" altLang="ja-JP" sz="1800" dirty="0">
                <a:latin typeface="Meiryo UI" pitchFamily="50" charset="-128"/>
                <a:ea typeface="Meiryo UI" pitchFamily="50" charset="-128"/>
                <a:cs typeface="Meiryo UI" pitchFamily="50" charset="-128"/>
                <a:sym typeface="Meiryo UI" pitchFamily="50" charset="-128"/>
              </a:rPr>
              <a:t>5</a:t>
            </a:r>
            <a:r>
              <a:rPr lang="ja-JP" altLang="en-US" sz="1800" dirty="0">
                <a:latin typeface="Meiryo UI" pitchFamily="50" charset="-128"/>
                <a:ea typeface="Meiryo UI" pitchFamily="50" charset="-128"/>
                <a:cs typeface="Meiryo UI" pitchFamily="50" charset="-128"/>
                <a:sym typeface="Meiryo UI" pitchFamily="50" charset="-128"/>
              </a:rPr>
              <a:t>）実行責任者</a:t>
            </a:r>
            <a:r>
              <a:rPr lang="en-US" altLang="ja-JP" sz="1800" dirty="0">
                <a:latin typeface="Meiryo UI" pitchFamily="50" charset="-128"/>
                <a:ea typeface="Meiryo UI" pitchFamily="50" charset="-128"/>
                <a:cs typeface="Meiryo UI" pitchFamily="50" charset="-128"/>
                <a:sym typeface="Meiryo UI" pitchFamily="50" charset="-128"/>
              </a:rPr>
              <a:t>	</a:t>
            </a:r>
            <a:r>
              <a:rPr lang="ja-JP" altLang="en-US" sz="1800" dirty="0">
                <a:latin typeface="Meiryo UI" pitchFamily="50" charset="-128"/>
                <a:ea typeface="Meiryo UI" pitchFamily="50" charset="-128"/>
                <a:cs typeface="Meiryo UI" pitchFamily="50" charset="-128"/>
                <a:sym typeface="Meiryo UI" pitchFamily="50" charset="-128"/>
              </a:rPr>
              <a:t>：神戸製鉄所　環境防災管理室長</a:t>
            </a:r>
            <a:endParaRPr lang="en-US" altLang="ja-JP" sz="1800" dirty="0">
              <a:latin typeface="Meiryo UI" pitchFamily="50" charset="-128"/>
              <a:ea typeface="Meiryo UI" pitchFamily="50" charset="-128"/>
              <a:cs typeface="Meiryo UI" pitchFamily="50" charset="-128"/>
              <a:sym typeface="Meiryo UI" pitchFamily="50" charset="-128"/>
            </a:endParaRPr>
          </a:p>
          <a:p>
            <a:pPr algn="r" eaLnBrk="1" hangingPunct="1">
              <a:spcBef>
                <a:spcPct val="0"/>
              </a:spcBef>
              <a:buFont typeface="Arial" charset="0"/>
              <a:buNone/>
            </a:pPr>
            <a:r>
              <a:rPr lang="ja-JP" altLang="en-US" sz="1800" dirty="0">
                <a:latin typeface="Meiryo UI" pitchFamily="50" charset="-128"/>
                <a:ea typeface="Meiryo UI" pitchFamily="50" charset="-128"/>
                <a:cs typeface="Meiryo UI" pitchFamily="50" charset="-128"/>
                <a:sym typeface="Meiryo UI" pitchFamily="50" charset="-128"/>
              </a:rPr>
              <a:t>以上</a:t>
            </a:r>
            <a:endParaRPr lang="en-US" altLang="ja-JP" sz="1800" dirty="0">
              <a:latin typeface="Meiryo UI" pitchFamily="50" charset="-128"/>
              <a:ea typeface="Meiryo UI" pitchFamily="50" charset="-128"/>
              <a:cs typeface="Meiryo UI" pitchFamily="50" charset="-128"/>
              <a:sym typeface="Meiryo UI" pitchFamily="50" charset="-128"/>
            </a:endParaRPr>
          </a:p>
        </p:txBody>
      </p:sp>
      <p:sp>
        <p:nvSpPr>
          <p:cNvPr id="23" name="右矢印 6175"/>
          <p:cNvSpPr>
            <a:spLocks noChangeArrowheads="1"/>
          </p:cNvSpPr>
          <p:nvPr/>
        </p:nvSpPr>
        <p:spPr bwMode="auto">
          <a:xfrm>
            <a:off x="3479515" y="2564424"/>
            <a:ext cx="2166990"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設計・製作</a:t>
            </a:r>
            <a:endParaRPr lang="ja-JP" altLang="ja-JP" sz="1800" dirty="0"/>
          </a:p>
        </p:txBody>
      </p:sp>
      <p:sp>
        <p:nvSpPr>
          <p:cNvPr id="24" name="右矢印 6175"/>
          <p:cNvSpPr>
            <a:spLocks noChangeArrowheads="1"/>
          </p:cNvSpPr>
          <p:nvPr/>
        </p:nvSpPr>
        <p:spPr bwMode="auto">
          <a:xfrm>
            <a:off x="5677881" y="2564424"/>
            <a:ext cx="2027209"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工事</a:t>
            </a:r>
            <a:endParaRPr lang="ja-JP" altLang="ja-JP" sz="1800" dirty="0"/>
          </a:p>
        </p:txBody>
      </p:sp>
      <p:sp>
        <p:nvSpPr>
          <p:cNvPr id="26" name="右矢印 6175"/>
          <p:cNvSpPr>
            <a:spLocks noChangeArrowheads="1"/>
          </p:cNvSpPr>
          <p:nvPr/>
        </p:nvSpPr>
        <p:spPr bwMode="auto">
          <a:xfrm>
            <a:off x="3479515" y="3138562"/>
            <a:ext cx="1494609"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設計・製作</a:t>
            </a:r>
            <a:endParaRPr lang="ja-JP" altLang="ja-JP" sz="1800" dirty="0"/>
          </a:p>
        </p:txBody>
      </p:sp>
      <p:sp>
        <p:nvSpPr>
          <p:cNvPr id="30" name="右矢印 6175"/>
          <p:cNvSpPr>
            <a:spLocks noChangeArrowheads="1"/>
          </p:cNvSpPr>
          <p:nvPr/>
        </p:nvSpPr>
        <p:spPr bwMode="auto">
          <a:xfrm>
            <a:off x="4974124" y="3138562"/>
            <a:ext cx="2730967"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工事</a:t>
            </a:r>
            <a:endParaRPr lang="ja-JP" altLang="ja-JP" sz="1800" dirty="0"/>
          </a:p>
        </p:txBody>
      </p:sp>
      <p:sp>
        <p:nvSpPr>
          <p:cNvPr id="32" name="右矢印 6175"/>
          <p:cNvSpPr>
            <a:spLocks noChangeArrowheads="1"/>
          </p:cNvSpPr>
          <p:nvPr/>
        </p:nvSpPr>
        <p:spPr bwMode="auto">
          <a:xfrm>
            <a:off x="3479515" y="3733106"/>
            <a:ext cx="2166990"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設計・製作</a:t>
            </a:r>
            <a:endParaRPr lang="ja-JP" altLang="ja-JP" sz="1800" dirty="0"/>
          </a:p>
        </p:txBody>
      </p:sp>
      <p:sp>
        <p:nvSpPr>
          <p:cNvPr id="33" name="右矢印 6175"/>
          <p:cNvSpPr>
            <a:spLocks noChangeArrowheads="1"/>
          </p:cNvSpPr>
          <p:nvPr/>
        </p:nvSpPr>
        <p:spPr bwMode="auto">
          <a:xfrm>
            <a:off x="5677881" y="3733106"/>
            <a:ext cx="2831487" cy="240506"/>
          </a:xfrm>
          <a:prstGeom prst="rightArrow">
            <a:avLst>
              <a:gd name="adj1" fmla="val 100000"/>
              <a:gd name="adj2" fmla="val 36641"/>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1800" dirty="0"/>
              <a:t>工事</a:t>
            </a:r>
            <a:endParaRPr lang="ja-JP" altLang="ja-JP" sz="1800" dirty="0"/>
          </a:p>
        </p:txBody>
      </p:sp>
      <p:sp>
        <p:nvSpPr>
          <p:cNvPr id="17" name="右矢印 6175">
            <a:extLst>
              <a:ext uri="{FF2B5EF4-FFF2-40B4-BE49-F238E27FC236}">
                <a16:creationId xmlns:a16="http://schemas.microsoft.com/office/drawing/2014/main" id="{809ED656-6CCE-492F-A123-80A665EEAD48}"/>
              </a:ext>
            </a:extLst>
          </p:cNvPr>
          <p:cNvSpPr>
            <a:spLocks noChangeArrowheads="1"/>
          </p:cNvSpPr>
          <p:nvPr/>
        </p:nvSpPr>
        <p:spPr bwMode="auto">
          <a:xfrm>
            <a:off x="4789195" y="4215816"/>
            <a:ext cx="2831487" cy="240506"/>
          </a:xfrm>
          <a:prstGeom prst="rightArrow">
            <a:avLst>
              <a:gd name="adj1" fmla="val 100000"/>
              <a:gd name="adj2" fmla="val 36641"/>
            </a:avLst>
          </a:prstGeom>
          <a:solidFill>
            <a:srgbClr val="7F7F7F">
              <a:alpha val="50000"/>
            </a:srgbClr>
          </a:solidFill>
          <a:ln>
            <a:noFill/>
          </a:ln>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endParaRPr lang="ja-JP" altLang="ja-JP" sz="1800" dirty="0"/>
          </a:p>
        </p:txBody>
      </p:sp>
      <p:sp>
        <p:nvSpPr>
          <p:cNvPr id="3" name="正方形/長方形 2">
            <a:extLst>
              <a:ext uri="{FF2B5EF4-FFF2-40B4-BE49-F238E27FC236}">
                <a16:creationId xmlns:a16="http://schemas.microsoft.com/office/drawing/2014/main" id="{57864B32-3149-421B-BCD2-2E2172C9C788}"/>
              </a:ext>
            </a:extLst>
          </p:cNvPr>
          <p:cNvSpPr/>
          <p:nvPr/>
        </p:nvSpPr>
        <p:spPr>
          <a:xfrm>
            <a:off x="4632863" y="4488515"/>
            <a:ext cx="4312984" cy="307777"/>
          </a:xfrm>
          <a:prstGeom prst="rect">
            <a:avLst/>
          </a:prstGeom>
        </p:spPr>
        <p:txBody>
          <a:bodyPr wrap="square">
            <a:spAutoFit/>
          </a:bodyPr>
          <a:lstStyle/>
          <a:p>
            <a:r>
              <a:rPr lang="ja-JP" altLang="en-US" sz="1400" dirty="0">
                <a:latin typeface="Meiryo UI" panose="020B0604030504040204" pitchFamily="50" charset="-128"/>
                <a:ea typeface="Meiryo UI" panose="020B0604030504040204" pitchFamily="50" charset="-128"/>
                <a:cs typeface="Meiryo UI" panose="020B0604030504040204" pitchFamily="50" charset="-128"/>
              </a:rPr>
              <a:t>工事完了までの仮処置で対応（経費</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16.4</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百万円）</a:t>
            </a:r>
            <a:endParaRPr lang="ja-JP" altLang="en-US" sz="1400" dirty="0"/>
          </a:p>
        </p:txBody>
      </p:sp>
    </p:spTree>
    <p:extLst>
      <p:ext uri="{BB962C8B-B14F-4D97-AF65-F5344CB8AC3E}">
        <p14:creationId xmlns:p14="http://schemas.microsoft.com/office/powerpoint/2010/main" val="145457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テキスト ボックス 8"/>
          <p:cNvSpPr txBox="1">
            <a:spLocks noChangeArrowheads="1"/>
          </p:cNvSpPr>
          <p:nvPr/>
        </p:nvSpPr>
        <p:spPr bwMode="auto">
          <a:xfrm>
            <a:off x="165100" y="3122613"/>
            <a:ext cx="8764588"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algn="ctr" eaLnBrk="1" hangingPunct="1">
              <a:spcBef>
                <a:spcPct val="0"/>
              </a:spcBef>
              <a:buFont typeface="Arial" charset="0"/>
              <a:buNone/>
            </a:pPr>
            <a:r>
              <a:rPr lang="ja-JP" altLang="en-US" sz="3600">
                <a:latin typeface="メイリオ" pitchFamily="50" charset="-128"/>
                <a:ea typeface="メイリオ" pitchFamily="50" charset="-128"/>
                <a:cs typeface="メイリオ" pitchFamily="50" charset="-128"/>
              </a:rPr>
              <a:t>以上</a:t>
            </a:r>
            <a:endParaRPr lang="en-US" altLang="ja-JP" sz="3600">
              <a:latin typeface="メイリオ" pitchFamily="50" charset="-128"/>
              <a:ea typeface="メイリオ" pitchFamily="50" charset="-128"/>
              <a:cs typeface="メイリオ" pitchFamily="50" charset="-128"/>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p:cNvSpPr>
            <a:spLocks noGrp="1" noChangeArrowheads="1"/>
          </p:cNvSpPr>
          <p:nvPr/>
        </p:nvSpPr>
        <p:spPr bwMode="auto">
          <a:xfrm>
            <a:off x="0" y="26988"/>
            <a:ext cx="82280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Font typeface="Arial" charset="0"/>
              <a:buNone/>
            </a:pP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参考</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1</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冠水深さ計算方法</a:t>
            </a:r>
            <a:endParaRPr lang="ja-JP" altLang="en-US" sz="4400" dirty="0"/>
          </a:p>
        </p:txBody>
      </p:sp>
      <p:sp>
        <p:nvSpPr>
          <p:cNvPr id="3" name="テキスト ボックス 2"/>
          <p:cNvSpPr txBox="1"/>
          <p:nvPr/>
        </p:nvSpPr>
        <p:spPr>
          <a:xfrm>
            <a:off x="10814" y="589897"/>
            <a:ext cx="5472752"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dirty="0" err="1">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建屋面積、道路面積、土壌面積計算</a:t>
            </a:r>
          </a:p>
        </p:txBody>
      </p:sp>
      <p:graphicFrame>
        <p:nvGraphicFramePr>
          <p:cNvPr id="4" name="表 3"/>
          <p:cNvGraphicFramePr>
            <a:graphicFrameLocks noGrp="1"/>
          </p:cNvGraphicFramePr>
          <p:nvPr>
            <p:extLst>
              <p:ext uri="{D42A27DB-BD31-4B8C-83A1-F6EECF244321}">
                <p14:modId xmlns:p14="http://schemas.microsoft.com/office/powerpoint/2010/main" val="3470452043"/>
              </p:ext>
            </p:extLst>
          </p:nvPr>
        </p:nvGraphicFramePr>
        <p:xfrm>
          <a:off x="406600" y="1243336"/>
          <a:ext cx="2584551" cy="759210"/>
        </p:xfrm>
        <a:graphic>
          <a:graphicData uri="http://schemas.openxmlformats.org/drawingml/2006/table">
            <a:tbl>
              <a:tblPr>
                <a:tableStyleId>{21E4AEA4-8DFA-4A89-87EB-49C32662AFE0}</a:tableStyleId>
              </a:tblPr>
              <a:tblGrid>
                <a:gridCol w="861517">
                  <a:extLst>
                    <a:ext uri="{9D8B030D-6E8A-4147-A177-3AD203B41FA5}">
                      <a16:colId xmlns:a16="http://schemas.microsoft.com/office/drawing/2014/main" val="20000"/>
                    </a:ext>
                  </a:extLst>
                </a:gridCol>
                <a:gridCol w="861517">
                  <a:extLst>
                    <a:ext uri="{9D8B030D-6E8A-4147-A177-3AD203B41FA5}">
                      <a16:colId xmlns:a16="http://schemas.microsoft.com/office/drawing/2014/main" val="20001"/>
                    </a:ext>
                  </a:extLst>
                </a:gridCol>
                <a:gridCol w="861517">
                  <a:extLst>
                    <a:ext uri="{9D8B030D-6E8A-4147-A177-3AD203B41FA5}">
                      <a16:colId xmlns:a16="http://schemas.microsoft.com/office/drawing/2014/main" val="20002"/>
                    </a:ext>
                  </a:extLst>
                </a:gridCol>
              </a:tblGrid>
              <a:tr h="379605">
                <a:tc>
                  <a:txBody>
                    <a:bodyPr/>
                    <a:lstStyle/>
                    <a:p>
                      <a:pPr algn="ctr" fontAlgn="b"/>
                      <a:r>
                        <a:rPr lang="ja-JP" altLang="en-US" sz="1600" u="none" strike="noStrike" dirty="0">
                          <a:effectLst/>
                          <a:latin typeface="Meiryo UI" panose="020B0604030504040204" pitchFamily="50" charset="-128"/>
                          <a:ea typeface="Meiryo UI" panose="020B0604030504040204" pitchFamily="50" charset="-128"/>
                          <a:cs typeface="Meiryo UI" panose="020B0604030504040204" pitchFamily="50" charset="-128"/>
                        </a:rPr>
                        <a:t>建屋</a:t>
                      </a:r>
                      <a:endPar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b"/>
                </a:tc>
                <a:tc>
                  <a:txBody>
                    <a:bodyPr/>
                    <a:lstStyle/>
                    <a:p>
                      <a:pPr algn="ctr" fontAlgn="b"/>
                      <a:r>
                        <a:rPr lang="ja-JP" altLang="en-US" sz="1600" u="none" strike="noStrike" dirty="0">
                          <a:effectLst/>
                          <a:latin typeface="Meiryo UI" panose="020B0604030504040204" pitchFamily="50" charset="-128"/>
                          <a:ea typeface="Meiryo UI" panose="020B0604030504040204" pitchFamily="50" charset="-128"/>
                          <a:cs typeface="Meiryo UI" panose="020B0604030504040204" pitchFamily="50" charset="-128"/>
                        </a:rPr>
                        <a:t>道路</a:t>
                      </a:r>
                      <a:endParaRPr lang="ja-JP" altLang="en-US" sz="16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b"/>
                </a:tc>
                <a:tc>
                  <a:txBody>
                    <a:bodyPr/>
                    <a:lstStyle/>
                    <a:p>
                      <a:pPr algn="ctr" fontAlgn="b"/>
                      <a:r>
                        <a:rPr lang="ja-JP" altLang="en-US" sz="1600" u="none" strike="noStrike">
                          <a:effectLst/>
                          <a:latin typeface="Meiryo UI" panose="020B0604030504040204" pitchFamily="50" charset="-128"/>
                          <a:ea typeface="Meiryo UI" panose="020B0604030504040204" pitchFamily="50" charset="-128"/>
                          <a:cs typeface="Meiryo UI" panose="020B0604030504040204" pitchFamily="50" charset="-128"/>
                        </a:rPr>
                        <a:t>土壌</a:t>
                      </a:r>
                      <a:endParaRPr lang="ja-JP" altLang="en-US" sz="16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525" marR="9525" marT="9525" marB="0" anchor="b"/>
                </a:tc>
                <a:extLst>
                  <a:ext uri="{0D108BD9-81ED-4DB2-BD59-A6C34878D82A}">
                    <a16:rowId xmlns:a16="http://schemas.microsoft.com/office/drawing/2014/main" val="10000"/>
                  </a:ext>
                </a:extLst>
              </a:tr>
              <a:tr h="379605">
                <a:tc>
                  <a:txBody>
                    <a:bodyPr/>
                    <a:lstStyle/>
                    <a:p>
                      <a:pPr algn="r" fontAlgn="b"/>
                      <a:r>
                        <a:rPr lang="en-US" alt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rPr>
                        <a:t>106,296</a:t>
                      </a:r>
                    </a:p>
                  </a:txBody>
                  <a:tcPr marL="9525" marR="9525" marT="9525" marB="0" anchor="b"/>
                </a:tc>
                <a:tc>
                  <a:txBody>
                    <a:bodyPr/>
                    <a:lstStyle/>
                    <a:p>
                      <a:pPr algn="r" fontAlgn="b"/>
                      <a:r>
                        <a:rPr lang="en-US" alt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rPr>
                        <a:t>28,444</a:t>
                      </a:r>
                    </a:p>
                  </a:txBody>
                  <a:tcPr marL="9525" marR="9525" marT="9525" marB="0" anchor="b"/>
                </a:tc>
                <a:tc>
                  <a:txBody>
                    <a:bodyPr/>
                    <a:lstStyle/>
                    <a:p>
                      <a:pPr algn="r" fontAlgn="b"/>
                      <a:r>
                        <a:rPr lang="en-US" alt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rPr>
                        <a:t>42,708</a:t>
                      </a:r>
                    </a:p>
                  </a:txBody>
                  <a:tcPr marL="9525" marR="9525" marT="9525" marB="0" anchor="b"/>
                </a:tc>
                <a:extLst>
                  <a:ext uri="{0D108BD9-81ED-4DB2-BD59-A6C34878D82A}">
                    <a16:rowId xmlns:a16="http://schemas.microsoft.com/office/drawing/2014/main" val="10001"/>
                  </a:ext>
                </a:extLst>
              </a:tr>
            </a:tbl>
          </a:graphicData>
        </a:graphic>
      </p:graphicFrame>
      <p:sp>
        <p:nvSpPr>
          <p:cNvPr id="5" name="テキスト ボックス 4"/>
          <p:cNvSpPr txBox="1"/>
          <p:nvPr/>
        </p:nvSpPr>
        <p:spPr>
          <a:xfrm>
            <a:off x="3090272" y="1106991"/>
            <a:ext cx="5472752"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①建屋、道路に降った雨はすべて地上に溜まる。</a:t>
            </a:r>
          </a:p>
        </p:txBody>
      </p:sp>
      <p:sp>
        <p:nvSpPr>
          <p:cNvPr id="6" name="テキスト ボックス 5"/>
          <p:cNvSpPr txBox="1"/>
          <p:nvPr/>
        </p:nvSpPr>
        <p:spPr>
          <a:xfrm>
            <a:off x="3094893" y="1478477"/>
            <a:ext cx="5992839" cy="584775"/>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②土壌体積の間隙率２０％　地下</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1.4m</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までは保水（</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42708*1.4*0.2=11,958</a:t>
            </a:r>
            <a:r>
              <a:rPr kumimoji="1" lang="ja-JP" altLang="en-US" sz="1600" dirty="0" err="1">
                <a:latin typeface="Meiryo UI" panose="020B0604030504040204" pitchFamily="50" charset="-128"/>
                <a:ea typeface="Meiryo UI" panose="020B0604030504040204" pitchFamily="50" charset="-128"/>
                <a:cs typeface="Meiryo UI" panose="020B0604030504040204" pitchFamily="50" charset="-128"/>
              </a:rPr>
              <a:t>ｔ</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は保水）これ以上は地上に溜まる</a:t>
            </a:r>
          </a:p>
        </p:txBody>
      </p:sp>
      <p:sp>
        <p:nvSpPr>
          <p:cNvPr id="7" name="テキスト ボックス 6"/>
          <p:cNvSpPr txBox="1"/>
          <p:nvPr/>
        </p:nvSpPr>
        <p:spPr>
          <a:xfrm>
            <a:off x="10814" y="2159055"/>
            <a:ext cx="8697088" cy="646331"/>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2</a:t>
            </a:r>
            <a:r>
              <a:rPr kumimoji="1" lang="ja-JP" altLang="en-US" dirty="0" err="1">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毎時間の</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（建屋面積＋道路面積＋土壌面積）</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雨量</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(m</a:t>
            </a:r>
            <a:r>
              <a:rPr kumimoji="1" lang="ja-JP" altLang="en-US" dirty="0" err="1">
                <a:latin typeface="Meiryo UI" panose="020B0604030504040204" pitchFamily="50" charset="-128"/>
                <a:ea typeface="Meiryo UI" panose="020B0604030504040204" pitchFamily="50" charset="-128"/>
                <a:cs typeface="Meiryo UI" panose="020B0604030504040204" pitchFamily="50" charset="-128"/>
              </a:rPr>
              <a:t>ｍ</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/h)</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排水量（</a:t>
            </a:r>
            <a:r>
              <a:rPr kumimoji="1" lang="ja-JP" altLang="en-US" dirty="0" err="1">
                <a:latin typeface="Meiryo UI" panose="020B0604030504040204" pitchFamily="50" charset="-128"/>
                <a:ea typeface="Meiryo UI" panose="020B0604030504040204" pitchFamily="50" charset="-128"/>
                <a:cs typeface="Meiryo UI" panose="020B0604030504040204" pitchFamily="50" charset="-128"/>
              </a:rPr>
              <a:t>ｔ</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/h)</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を累積</a:t>
            </a:r>
          </a:p>
        </p:txBody>
      </p:sp>
      <p:sp>
        <p:nvSpPr>
          <p:cNvPr id="8" name="テキスト ボックス 7"/>
          <p:cNvSpPr txBox="1"/>
          <p:nvPr/>
        </p:nvSpPr>
        <p:spPr>
          <a:xfrm>
            <a:off x="-45458" y="2889367"/>
            <a:ext cx="7042246" cy="923330"/>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dirty="0" err="1">
                <a:latin typeface="Meiryo UI" panose="020B0604030504040204" pitchFamily="50" charset="-128"/>
                <a:ea typeface="Meiryo UI" panose="020B0604030504040204" pitchFamily="50" charset="-128"/>
                <a:cs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道路と土壌に溜まる前提で、</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この累積値を（道路面積＋土壌面積）で割り戻し、冠水高さを計算</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テキスト ボックス 8">
            <a:extLst>
              <a:ext uri="{FF2B5EF4-FFF2-40B4-BE49-F238E27FC236}">
                <a16:creationId xmlns:a16="http://schemas.microsoft.com/office/drawing/2014/main" id="{4BC66E0A-521F-4518-A412-3D2A467EBC53}"/>
              </a:ext>
            </a:extLst>
          </p:cNvPr>
          <p:cNvSpPr txBox="1"/>
          <p:nvPr/>
        </p:nvSpPr>
        <p:spPr>
          <a:xfrm>
            <a:off x="406600" y="946986"/>
            <a:ext cx="2688293" cy="338554"/>
          </a:xfrm>
          <a:prstGeom prst="rect">
            <a:avLst/>
          </a:prstGeom>
          <a:noFill/>
        </p:spPr>
        <p:txBody>
          <a:bodyPr wrap="square" rtlCol="0">
            <a:spAutoFit/>
          </a:bodyPr>
          <a:lstStyle/>
          <a:p>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線・棒鋼エリア面積（</a:t>
            </a: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m2</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a:t>
            </a:r>
          </a:p>
        </p:txBody>
      </p:sp>
      <p:graphicFrame>
        <p:nvGraphicFramePr>
          <p:cNvPr id="12" name="表 11">
            <a:extLst>
              <a:ext uri="{FF2B5EF4-FFF2-40B4-BE49-F238E27FC236}">
                <a16:creationId xmlns:a16="http://schemas.microsoft.com/office/drawing/2014/main" id="{9B3E13D7-D796-4A79-AF69-BB112CF787EF}"/>
              </a:ext>
            </a:extLst>
          </p:cNvPr>
          <p:cNvGraphicFramePr>
            <a:graphicFrameLocks noGrp="1"/>
          </p:cNvGraphicFramePr>
          <p:nvPr>
            <p:extLst>
              <p:ext uri="{D42A27DB-BD31-4B8C-83A1-F6EECF244321}">
                <p14:modId xmlns:p14="http://schemas.microsoft.com/office/powerpoint/2010/main" val="1807170646"/>
              </p:ext>
            </p:extLst>
          </p:nvPr>
        </p:nvGraphicFramePr>
        <p:xfrm>
          <a:off x="53018" y="3518896"/>
          <a:ext cx="9034714" cy="3304129"/>
        </p:xfrm>
        <a:graphic>
          <a:graphicData uri="http://schemas.openxmlformats.org/drawingml/2006/table">
            <a:tbl>
              <a:tblPr/>
              <a:tblGrid>
                <a:gridCol w="1037736">
                  <a:extLst>
                    <a:ext uri="{9D8B030D-6E8A-4147-A177-3AD203B41FA5}">
                      <a16:colId xmlns:a16="http://schemas.microsoft.com/office/drawing/2014/main" val="3522186392"/>
                    </a:ext>
                  </a:extLst>
                </a:gridCol>
                <a:gridCol w="524218">
                  <a:extLst>
                    <a:ext uri="{9D8B030D-6E8A-4147-A177-3AD203B41FA5}">
                      <a16:colId xmlns:a16="http://schemas.microsoft.com/office/drawing/2014/main" val="3463212888"/>
                    </a:ext>
                  </a:extLst>
                </a:gridCol>
                <a:gridCol w="577708">
                  <a:extLst>
                    <a:ext uri="{9D8B030D-6E8A-4147-A177-3AD203B41FA5}">
                      <a16:colId xmlns:a16="http://schemas.microsoft.com/office/drawing/2014/main" val="2434478866"/>
                    </a:ext>
                  </a:extLst>
                </a:gridCol>
                <a:gridCol w="577708">
                  <a:extLst>
                    <a:ext uri="{9D8B030D-6E8A-4147-A177-3AD203B41FA5}">
                      <a16:colId xmlns:a16="http://schemas.microsoft.com/office/drawing/2014/main" val="690404023"/>
                    </a:ext>
                  </a:extLst>
                </a:gridCol>
                <a:gridCol w="577708">
                  <a:extLst>
                    <a:ext uri="{9D8B030D-6E8A-4147-A177-3AD203B41FA5}">
                      <a16:colId xmlns:a16="http://schemas.microsoft.com/office/drawing/2014/main" val="3360480823"/>
                    </a:ext>
                  </a:extLst>
                </a:gridCol>
                <a:gridCol w="460027">
                  <a:extLst>
                    <a:ext uri="{9D8B030D-6E8A-4147-A177-3AD203B41FA5}">
                      <a16:colId xmlns:a16="http://schemas.microsoft.com/office/drawing/2014/main" val="4005110338"/>
                    </a:ext>
                  </a:extLst>
                </a:gridCol>
                <a:gridCol w="577708">
                  <a:extLst>
                    <a:ext uri="{9D8B030D-6E8A-4147-A177-3AD203B41FA5}">
                      <a16:colId xmlns:a16="http://schemas.microsoft.com/office/drawing/2014/main" val="51278358"/>
                    </a:ext>
                  </a:extLst>
                </a:gridCol>
                <a:gridCol w="492121">
                  <a:extLst>
                    <a:ext uri="{9D8B030D-6E8A-4147-A177-3AD203B41FA5}">
                      <a16:colId xmlns:a16="http://schemas.microsoft.com/office/drawing/2014/main" val="721187880"/>
                    </a:ext>
                  </a:extLst>
                </a:gridCol>
                <a:gridCol w="492121">
                  <a:extLst>
                    <a:ext uri="{9D8B030D-6E8A-4147-A177-3AD203B41FA5}">
                      <a16:colId xmlns:a16="http://schemas.microsoft.com/office/drawing/2014/main" val="641591401"/>
                    </a:ext>
                  </a:extLst>
                </a:gridCol>
                <a:gridCol w="922729">
                  <a:extLst>
                    <a:ext uri="{9D8B030D-6E8A-4147-A177-3AD203B41FA5}">
                      <a16:colId xmlns:a16="http://schemas.microsoft.com/office/drawing/2014/main" val="3402595921"/>
                    </a:ext>
                  </a:extLst>
                </a:gridCol>
                <a:gridCol w="898656">
                  <a:extLst>
                    <a:ext uri="{9D8B030D-6E8A-4147-A177-3AD203B41FA5}">
                      <a16:colId xmlns:a16="http://schemas.microsoft.com/office/drawing/2014/main" val="2929373788"/>
                    </a:ext>
                  </a:extLst>
                </a:gridCol>
                <a:gridCol w="954824">
                  <a:extLst>
                    <a:ext uri="{9D8B030D-6E8A-4147-A177-3AD203B41FA5}">
                      <a16:colId xmlns:a16="http://schemas.microsoft.com/office/drawing/2014/main" val="763897247"/>
                    </a:ext>
                  </a:extLst>
                </a:gridCol>
                <a:gridCol w="941450">
                  <a:extLst>
                    <a:ext uri="{9D8B030D-6E8A-4147-A177-3AD203B41FA5}">
                      <a16:colId xmlns:a16="http://schemas.microsoft.com/office/drawing/2014/main" val="2147788674"/>
                    </a:ext>
                  </a:extLst>
                </a:gridCol>
              </a:tblGrid>
              <a:tr h="293178">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iryo UI" panose="020B0604030504040204" pitchFamily="50" charset="-128"/>
                          <a:ea typeface="Meiryo UI" panose="020B0604030504040204" pitchFamily="50" charset="-128"/>
                        </a:rPr>
                        <a:t>A</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iryo UI" panose="020B0604030504040204" pitchFamily="50" charset="-128"/>
                          <a:ea typeface="Meiryo UI" panose="020B0604030504040204" pitchFamily="50" charset="-128"/>
                        </a:rPr>
                        <a:t>C</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iryo UI" panose="020B0604030504040204" pitchFamily="50" charset="-128"/>
                          <a:ea typeface="Meiryo UI" panose="020B0604030504040204" pitchFamily="50" charset="-128"/>
                        </a:rPr>
                        <a:t>D</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Meiryo UI" panose="020B0604030504040204" pitchFamily="50" charset="-128"/>
                          <a:ea typeface="Meiryo UI" panose="020B0604030504040204" pitchFamily="50" charset="-128"/>
                        </a:rPr>
                        <a:t>A-C</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iryo UI" panose="020B0604030504040204" pitchFamily="50" charset="-128"/>
                          <a:ea typeface="Meiryo UI" panose="020B0604030504040204" pitchFamily="50" charset="-128"/>
                        </a:rPr>
                        <a:t>A-D</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iryo UI" panose="020B0604030504040204" pitchFamily="50" charset="-128"/>
                          <a:ea typeface="Meiryo UI" panose="020B0604030504040204" pitchFamily="50" charset="-128"/>
                        </a:rPr>
                        <a:t>(A-C)/（</a:t>
                      </a:r>
                      <a:r>
                        <a:rPr lang="ja-JP" altLang="en-US" sz="900" b="0" i="0" u="none" strike="noStrike">
                          <a:solidFill>
                            <a:srgbClr val="000000"/>
                          </a:solidFill>
                          <a:effectLst/>
                          <a:latin typeface="Meiryo UI" panose="020B0604030504040204" pitchFamily="50" charset="-128"/>
                          <a:ea typeface="Meiryo UI" panose="020B0604030504040204" pitchFamily="50" charset="-128"/>
                        </a:rPr>
                        <a:t>道＋土）</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Meiryo UI" panose="020B0604030504040204" pitchFamily="50" charset="-128"/>
                          <a:ea typeface="Meiryo UI" panose="020B0604030504040204" pitchFamily="50" charset="-128"/>
                        </a:rPr>
                        <a:t>(A-D)/（</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道＋土）</a:t>
                      </a:r>
                    </a:p>
                  </a:txBody>
                  <a:tcPr marL="7313" marR="7313" marT="7313"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9452206"/>
                  </a:ext>
                </a:extLst>
              </a:tr>
              <a:tr h="293178">
                <a:tc rowSpan="3">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日時</a:t>
                      </a:r>
                    </a:p>
                  </a:txBody>
                  <a:tcPr marL="7313" marR="7313" marT="7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降雨量</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gridSpan="4">
                  <a:txBody>
                    <a:bodyPr/>
                    <a:lstStyle/>
                    <a:p>
                      <a:pPr algn="ctr" fontAlgn="b"/>
                      <a:r>
                        <a:rPr lang="pt-BR" sz="900" b="0" i="0" u="none" strike="noStrike">
                          <a:solidFill>
                            <a:srgbClr val="000000"/>
                          </a:solidFill>
                          <a:effectLst/>
                          <a:latin typeface="Meiryo UI" panose="020B0604030504040204" pitchFamily="50" charset="-128"/>
                          <a:ea typeface="Meiryo UI" panose="020B0604030504040204" pitchFamily="50" charset="-128"/>
                        </a:rPr>
                        <a:t>雨水流入量（m3/H)</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b"/>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貯留補正</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gridSpan="2">
                  <a:txBody>
                    <a:bodyPr/>
                    <a:lstStyle/>
                    <a:p>
                      <a:pPr algn="l" fontAlgn="b"/>
                      <a:r>
                        <a:rPr lang="pt-BR" sz="900" b="0" i="0" u="none" strike="noStrike">
                          <a:solidFill>
                            <a:srgbClr val="000000"/>
                          </a:solidFill>
                          <a:effectLst/>
                          <a:latin typeface="Meiryo UI" panose="020B0604030504040204" pitchFamily="50" charset="-128"/>
                          <a:ea typeface="Meiryo UI" panose="020B0604030504040204" pitchFamily="50" charset="-128"/>
                        </a:rPr>
                        <a:t>水処理能力（ｔ/h)</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gridSpan="2">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水収支（</a:t>
                      </a:r>
                      <a:r>
                        <a:rPr lang="en-US" sz="900" b="0" i="0" u="none" strike="noStrike">
                          <a:solidFill>
                            <a:srgbClr val="000000"/>
                          </a:solidFill>
                          <a:effectLst/>
                          <a:latin typeface="Meiryo UI" panose="020B0604030504040204" pitchFamily="50" charset="-128"/>
                          <a:ea typeface="Meiryo UI" panose="020B0604030504040204" pitchFamily="50" charset="-128"/>
                        </a:rPr>
                        <a:t>ｔ）</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gridSpan="2">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浸水深さ（ｍｍ）</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89244666"/>
                  </a:ext>
                </a:extLst>
              </a:tr>
              <a:tr h="159869">
                <a:tc vMerge="1">
                  <a:txBody>
                    <a:bodyPr/>
                    <a:lstStyle/>
                    <a:p>
                      <a:endParaRPr kumimoji="1" lang="ja-JP" altLang="en-US"/>
                    </a:p>
                  </a:txBody>
                  <a:tcPr/>
                </a:tc>
                <a:tc>
                  <a:txBody>
                    <a:bodyPr/>
                    <a:lstStyle/>
                    <a:p>
                      <a:pPr algn="l"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建屋</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道路</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土壌</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rowSpan="2">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合計</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rowSpan="2">
                  <a:txBody>
                    <a:bodyPr/>
                    <a:lstStyle/>
                    <a:p>
                      <a:pPr algn="ct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水処理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a:t>
                      </a:r>
                      <a:r>
                        <a:rPr lang="en-US" sz="900" b="0" i="0" u="none" strike="noStrike">
                          <a:solidFill>
                            <a:srgbClr val="000000"/>
                          </a:solidFill>
                          <a:effectLst/>
                          <a:latin typeface="Meiryo UI" panose="020B0604030504040204" pitchFamily="50" charset="-128"/>
                          <a:ea typeface="Meiryo UI" panose="020B0604030504040204" pitchFamily="50" charset="-128"/>
                        </a:rPr>
                        <a:t>ｔ/h</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水処理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940</a:t>
                      </a:r>
                      <a:r>
                        <a:rPr lang="en-US" sz="900" b="0" i="0" u="none" strike="noStrike">
                          <a:solidFill>
                            <a:srgbClr val="000000"/>
                          </a:solidFill>
                          <a:effectLst/>
                          <a:latin typeface="Meiryo UI" panose="020B0604030504040204" pitchFamily="50" charset="-128"/>
                          <a:ea typeface="Meiryo UI" panose="020B0604030504040204" pitchFamily="50" charset="-128"/>
                        </a:rPr>
                        <a:t>ｔ/h</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水処理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a:t>
                      </a:r>
                      <a:r>
                        <a:rPr lang="en-US" sz="900" b="0" i="0" u="none" strike="noStrike">
                          <a:solidFill>
                            <a:srgbClr val="000000"/>
                          </a:solidFill>
                          <a:effectLst/>
                          <a:latin typeface="Meiryo UI" panose="020B0604030504040204" pitchFamily="50" charset="-128"/>
                          <a:ea typeface="Meiryo UI" panose="020B0604030504040204" pitchFamily="50" charset="-128"/>
                        </a:rPr>
                        <a:t>ｔ/h</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水処理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940</a:t>
                      </a:r>
                      <a:r>
                        <a:rPr lang="en-US" sz="900" b="0" i="0" u="none" strike="noStrike">
                          <a:solidFill>
                            <a:srgbClr val="000000"/>
                          </a:solidFill>
                          <a:effectLst/>
                          <a:latin typeface="Meiryo UI" panose="020B0604030504040204" pitchFamily="50" charset="-128"/>
                          <a:ea typeface="Meiryo UI" panose="020B0604030504040204" pitchFamily="50" charset="-128"/>
                        </a:rPr>
                        <a:t>ｔ/h</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23608902"/>
                  </a:ext>
                </a:extLst>
              </a:tr>
              <a:tr h="159869">
                <a:tc vMerge="1">
                  <a:txBody>
                    <a:bodyPr/>
                    <a:lstStyle/>
                    <a:p>
                      <a:endParaRPr kumimoji="1" lang="ja-JP" altLang="en-US"/>
                    </a:p>
                  </a:txBody>
                  <a:tcPr/>
                </a:tc>
                <a:tc>
                  <a:txBody>
                    <a:bodyPr/>
                    <a:lstStyle/>
                    <a:p>
                      <a:pPr algn="l" fontAlgn="b"/>
                      <a:r>
                        <a:rPr lang="en-US" sz="900" b="0" i="0" u="none" strike="noStrike">
                          <a:solidFill>
                            <a:srgbClr val="000000"/>
                          </a:solidFill>
                          <a:effectLst/>
                          <a:latin typeface="Meiryo UI" panose="020B0604030504040204" pitchFamily="50" charset="-128"/>
                          <a:ea typeface="Meiryo UI" panose="020B0604030504040204" pitchFamily="50" charset="-128"/>
                        </a:rPr>
                        <a:t>mm/h</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106,296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28,444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42,708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tc vMerge="1">
                  <a:txBody>
                    <a:bodyPr/>
                    <a:lstStyle/>
                    <a:p>
                      <a:endParaRPr kumimoji="1" lang="ja-JP" altLang="en-US"/>
                    </a:p>
                  </a:txBody>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US" altLang="ja-JP" sz="900" b="0" i="0" u="none" strike="noStrike" dirty="0">
                          <a:solidFill>
                            <a:srgbClr val="FFFFFF"/>
                          </a:solidFill>
                          <a:effectLst/>
                          <a:latin typeface="Meiryo UI" panose="020B0604030504040204" pitchFamily="50" charset="-128"/>
                          <a:ea typeface="Meiryo UI" panose="020B0604030504040204" pitchFamily="50" charset="-128"/>
                        </a:rPr>
                        <a:t>71,152</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0146154"/>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266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-11692</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0.0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71628622"/>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2:00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691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185</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278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1153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-10539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-10939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-11479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-153.7</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-161.3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21217205"/>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3:00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531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214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887</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-9651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1880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-10451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-11531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-146.9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-162.1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625609573"/>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638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171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256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1065</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-8587</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1200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2820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-9787</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-11407</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-137.5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-160.3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69140383"/>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5:00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904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242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363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1508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-7078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1600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3760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-8678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-10838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-122.0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-152.3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22320244"/>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6:00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744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199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299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1242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-5836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4700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-7836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-10536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-110.1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-148.1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683986545"/>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7:00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904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242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363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1508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-4328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5640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-6728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-9968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-140.1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24752293"/>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8:00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1541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412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619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2573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-1755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2800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6580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-4555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-8335</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-64.0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-117.1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18071053"/>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9:00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2126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569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854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3549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1794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3200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7520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-1406</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-5726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-19.8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-80.5</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56204253"/>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10:00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1648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441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662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2750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4544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3600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8460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-3916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13.3</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-55.0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89545520"/>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11:00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957</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256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384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1597</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6141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4000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9400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2141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-3259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30.1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-45.8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95211469"/>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12:00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850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228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342</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1420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7561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10340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3161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-2779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44.4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-39.1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644523097"/>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13:00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425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171</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710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8271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4800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11280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3471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-3009</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48.8</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-42.3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542946834"/>
                  </a:ext>
                </a:extLst>
              </a:tr>
              <a:tr h="159869">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2018/7/5 14:00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691</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185</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278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1153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9424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5200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12220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4224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-2796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59.4</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-39.3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39691111"/>
                  </a:ext>
                </a:extLst>
              </a:tr>
              <a:tr h="159869">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2018/7/5 15:00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159</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64</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266</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9690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5600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13160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4090</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-3470</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altLang="ja-JP" sz="900" b="0" i="0" u="none" strike="noStrike">
                          <a:solidFill>
                            <a:srgbClr val="000000"/>
                          </a:solidFill>
                          <a:effectLst/>
                          <a:latin typeface="Meiryo UI" panose="020B0604030504040204" pitchFamily="50" charset="-128"/>
                          <a:ea typeface="Meiryo UI" panose="020B0604030504040204" pitchFamily="50" charset="-128"/>
                        </a:rPr>
                        <a:t>57.5</a:t>
                      </a:r>
                    </a:p>
                  </a:txBody>
                  <a:tcPr marL="7313" marR="7313" marT="7313" marB="0" anchor="b">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a:noFill/>
                    </a:lnB>
                  </a:tcPr>
                </a:tc>
                <a:tc>
                  <a:txBody>
                    <a:bodyPr/>
                    <a:lstStyle/>
                    <a:p>
                      <a:pPr algn="r" fontAlgn="b"/>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-48.8</a:t>
                      </a:r>
                    </a:p>
                  </a:txBody>
                  <a:tcPr marL="7313" marR="7313" marT="7313" marB="0" anchor="b">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77263575"/>
                  </a:ext>
                </a:extLst>
              </a:tr>
            </a:tbl>
          </a:graphicData>
        </a:graphic>
      </p:graphicFrame>
    </p:spTree>
    <p:extLst>
      <p:ext uri="{BB962C8B-B14F-4D97-AF65-F5344CB8AC3E}">
        <p14:creationId xmlns:p14="http://schemas.microsoft.com/office/powerpoint/2010/main" val="260081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参考</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2</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7</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線材、</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3</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加工工場周り冠水対策工事</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graphicFrame>
        <p:nvGraphicFramePr>
          <p:cNvPr id="5" name="表 4">
            <a:extLst>
              <a:ext uri="{FF2B5EF4-FFF2-40B4-BE49-F238E27FC236}">
                <a16:creationId xmlns:a16="http://schemas.microsoft.com/office/drawing/2014/main" id="{2F78B147-2EF3-439B-A9BA-1B8FB738B640}"/>
              </a:ext>
            </a:extLst>
          </p:cNvPr>
          <p:cNvGraphicFramePr>
            <a:graphicFrameLocks noGrp="1"/>
          </p:cNvGraphicFramePr>
          <p:nvPr>
            <p:extLst>
              <p:ext uri="{D42A27DB-BD31-4B8C-83A1-F6EECF244321}">
                <p14:modId xmlns:p14="http://schemas.microsoft.com/office/powerpoint/2010/main" val="1929660755"/>
              </p:ext>
            </p:extLst>
          </p:nvPr>
        </p:nvGraphicFramePr>
        <p:xfrm>
          <a:off x="79171" y="1367983"/>
          <a:ext cx="8970631" cy="5113140"/>
        </p:xfrm>
        <a:graphic>
          <a:graphicData uri="http://schemas.openxmlformats.org/drawingml/2006/table">
            <a:tbl>
              <a:tblPr firstRow="1" bandRow="1">
                <a:tableStyleId>{5C22544A-7EE6-4342-B048-85BDC9FD1C3A}</a:tableStyleId>
              </a:tblPr>
              <a:tblGrid>
                <a:gridCol w="1799773">
                  <a:extLst>
                    <a:ext uri="{9D8B030D-6E8A-4147-A177-3AD203B41FA5}">
                      <a16:colId xmlns:a16="http://schemas.microsoft.com/office/drawing/2014/main" val="20000"/>
                    </a:ext>
                  </a:extLst>
                </a:gridCol>
                <a:gridCol w="377371">
                  <a:extLst>
                    <a:ext uri="{9D8B030D-6E8A-4147-A177-3AD203B41FA5}">
                      <a16:colId xmlns:a16="http://schemas.microsoft.com/office/drawing/2014/main" val="20001"/>
                    </a:ext>
                  </a:extLst>
                </a:gridCol>
                <a:gridCol w="653143">
                  <a:extLst>
                    <a:ext uri="{9D8B030D-6E8A-4147-A177-3AD203B41FA5}">
                      <a16:colId xmlns:a16="http://schemas.microsoft.com/office/drawing/2014/main" val="20002"/>
                    </a:ext>
                  </a:extLst>
                </a:gridCol>
                <a:gridCol w="3514729">
                  <a:extLst>
                    <a:ext uri="{9D8B030D-6E8A-4147-A177-3AD203B41FA5}">
                      <a16:colId xmlns:a16="http://schemas.microsoft.com/office/drawing/2014/main" val="20003"/>
                    </a:ext>
                  </a:extLst>
                </a:gridCol>
                <a:gridCol w="1237957">
                  <a:extLst>
                    <a:ext uri="{9D8B030D-6E8A-4147-A177-3AD203B41FA5}">
                      <a16:colId xmlns:a16="http://schemas.microsoft.com/office/drawing/2014/main" val="20005"/>
                    </a:ext>
                  </a:extLst>
                </a:gridCol>
                <a:gridCol w="689317">
                  <a:extLst>
                    <a:ext uri="{9D8B030D-6E8A-4147-A177-3AD203B41FA5}">
                      <a16:colId xmlns:a16="http://schemas.microsoft.com/office/drawing/2014/main" val="20006"/>
                    </a:ext>
                  </a:extLst>
                </a:gridCol>
                <a:gridCol w="698341">
                  <a:extLst>
                    <a:ext uri="{9D8B030D-6E8A-4147-A177-3AD203B41FA5}">
                      <a16:colId xmlns:a16="http://schemas.microsoft.com/office/drawing/2014/main" val="1356536983"/>
                    </a:ext>
                  </a:extLst>
                </a:gridCol>
              </a:tblGrid>
              <a:tr h="480573">
                <a:tc rowSpan="2">
                  <a:txBody>
                    <a:bodyPr/>
                    <a:lstStyle/>
                    <a:p>
                      <a:pPr algn="ctr"/>
                      <a:r>
                        <a:rPr kumimoji="1" lang="ja-JP" altLang="en-US" sz="1400" dirty="0"/>
                        <a:t>対象エリア</a:t>
                      </a:r>
                    </a:p>
                  </a:txBody>
                  <a:tcPr marL="91451" marR="91451" marT="45715" marB="45715" anchor="ctr"/>
                </a:tc>
                <a:tc rowSpan="2">
                  <a:txBody>
                    <a:bodyPr/>
                    <a:lstStyle/>
                    <a:p>
                      <a:pPr algn="ctr"/>
                      <a:r>
                        <a:rPr kumimoji="1" lang="ja-JP" altLang="en-US" sz="1400" dirty="0"/>
                        <a:t>大雨</a:t>
                      </a:r>
                    </a:p>
                  </a:txBody>
                  <a:tcPr marL="91451" marR="91451" marT="45715" marB="45715" anchor="ctr"/>
                </a:tc>
                <a:tc rowSpan="2">
                  <a:txBody>
                    <a:bodyPr/>
                    <a:lstStyle/>
                    <a:p>
                      <a:pPr algn="ctr"/>
                      <a:r>
                        <a:rPr kumimoji="1" lang="ja-JP" altLang="en-US" sz="1400" dirty="0"/>
                        <a:t>高高波潮</a:t>
                      </a:r>
                    </a:p>
                  </a:txBody>
                  <a:tcPr marL="91451" marR="91451" marT="45715" marB="45715" anchor="ctr"/>
                </a:tc>
                <a:tc rowSpan="2">
                  <a:txBody>
                    <a:bodyPr/>
                    <a:lstStyle/>
                    <a:p>
                      <a:pPr algn="ctr"/>
                      <a:r>
                        <a:rPr kumimoji="1" lang="ja-JP" altLang="en-US" sz="1400" dirty="0"/>
                        <a:t>対策案</a:t>
                      </a:r>
                    </a:p>
                  </a:txBody>
                  <a:tcPr marL="91451" marR="91451" marT="45715" marB="45715" anchor="ctr"/>
                </a:tc>
                <a:tc rowSpan="2">
                  <a:txBody>
                    <a:bodyPr/>
                    <a:lstStyle/>
                    <a:p>
                      <a:pPr algn="ctr"/>
                      <a:r>
                        <a:rPr kumimoji="1" lang="ja-JP" altLang="en-US" sz="1400" dirty="0"/>
                        <a:t>納期</a:t>
                      </a:r>
                    </a:p>
                  </a:txBody>
                  <a:tcPr marL="91451" marR="91451" marT="45715" marB="45715" anchor="ctr"/>
                </a:tc>
                <a:tc gridSpan="2">
                  <a:txBody>
                    <a:bodyPr/>
                    <a:lstStyle/>
                    <a:p>
                      <a:pPr algn="ctr"/>
                      <a:r>
                        <a:rPr kumimoji="1" lang="ja-JP" altLang="en-US" sz="1400" dirty="0"/>
                        <a:t>概算費用</a:t>
                      </a:r>
                      <a:endParaRPr kumimoji="1" lang="en-US" altLang="ja-JP" sz="1400" dirty="0"/>
                    </a:p>
                    <a:p>
                      <a:pPr algn="ctr"/>
                      <a:r>
                        <a:rPr kumimoji="1" lang="ja-JP" altLang="en-US" sz="1400" dirty="0"/>
                        <a:t>（百万円）</a:t>
                      </a:r>
                      <a:endParaRPr kumimoji="1" lang="en-US" altLang="ja-JP" sz="1400" dirty="0"/>
                    </a:p>
                  </a:txBody>
                  <a:tcPr marL="91451" marR="91451" marT="45715" marB="45715" anchor="ctr">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0000"/>
                  </a:ext>
                </a:extLst>
              </a:tr>
              <a:tr h="480573">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新調</a:t>
                      </a:r>
                      <a:endParaRPr kumimoji="1" lang="en-US" altLang="ja-JP" sz="1400" b="1" dirty="0">
                        <a:solidFill>
                          <a:schemeClr val="bg1"/>
                        </a:solidFill>
                        <a:latin typeface="Meiryo UI" panose="020B0604030504040204" pitchFamily="50" charset="-128"/>
                        <a:ea typeface="Meiryo UI" panose="020B0604030504040204" pitchFamily="50" charset="-128"/>
                      </a:endParaRPr>
                    </a:p>
                  </a:txBody>
                  <a:tcPr marL="91451" marR="91451" marT="45715" marB="45715"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1" lang="ja-JP" altLang="en-US" sz="1400" b="1">
                          <a:solidFill>
                            <a:schemeClr val="bg1"/>
                          </a:solidFill>
                          <a:latin typeface="Meiryo UI" panose="020B0604030504040204" pitchFamily="50" charset="-128"/>
                          <a:ea typeface="Meiryo UI" panose="020B0604030504040204" pitchFamily="50" charset="-128"/>
                        </a:rPr>
                        <a:t>保全経費</a:t>
                      </a:r>
                      <a:endParaRPr kumimoji="1" lang="en-US" altLang="ja-JP" sz="1400" b="1" dirty="0">
                        <a:solidFill>
                          <a:schemeClr val="bg1"/>
                        </a:solidFill>
                        <a:latin typeface="Meiryo UI" panose="020B0604030504040204" pitchFamily="50" charset="-128"/>
                        <a:ea typeface="Meiryo UI" panose="020B0604030504040204" pitchFamily="50" charset="-128"/>
                      </a:endParaRPr>
                    </a:p>
                  </a:txBody>
                  <a:tcPr marL="91451" marR="91451" marT="45715" marB="45715"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accent1"/>
                    </a:solidFill>
                  </a:tcPr>
                </a:tc>
                <a:extLst>
                  <a:ext uri="{0D108BD9-81ED-4DB2-BD59-A6C34878D82A}">
                    <a16:rowId xmlns:a16="http://schemas.microsoft.com/office/drawing/2014/main" val="4199128052"/>
                  </a:ext>
                </a:extLst>
              </a:tr>
              <a:tr h="317265">
                <a:tc rowSpan="3">
                  <a:txBody>
                    <a:bodyPr/>
                    <a:lstStyle/>
                    <a:p>
                      <a:r>
                        <a:rPr kumimoji="1" lang="en-US" altLang="ja-JP" sz="1400" dirty="0">
                          <a:solidFill>
                            <a:schemeClr val="tx1"/>
                          </a:solidFill>
                        </a:rPr>
                        <a:t>No.3</a:t>
                      </a:r>
                      <a:r>
                        <a:rPr kumimoji="1" lang="ja-JP" altLang="en-US" sz="1400" dirty="0">
                          <a:solidFill>
                            <a:schemeClr val="tx1"/>
                          </a:solidFill>
                        </a:rPr>
                        <a:t>ビレットヤード</a:t>
                      </a:r>
                      <a:endParaRPr kumimoji="1" lang="en-US" altLang="ja-JP" sz="1400" dirty="0">
                        <a:solidFill>
                          <a:schemeClr val="tx1"/>
                        </a:solidFill>
                      </a:endParaRPr>
                    </a:p>
                    <a:p>
                      <a:r>
                        <a:rPr kumimoji="1" lang="en-US" altLang="ja-JP" sz="1400" dirty="0">
                          <a:solidFill>
                            <a:schemeClr val="tx1"/>
                          </a:solidFill>
                        </a:rPr>
                        <a:t>KS</a:t>
                      </a:r>
                      <a:r>
                        <a:rPr kumimoji="1" lang="ja-JP" altLang="en-US" sz="1400" dirty="0">
                          <a:solidFill>
                            <a:schemeClr val="tx1"/>
                          </a:solidFill>
                        </a:rPr>
                        <a:t>４、</a:t>
                      </a:r>
                      <a:r>
                        <a:rPr kumimoji="1" lang="en-US" altLang="ja-JP" sz="1400" dirty="0">
                          <a:solidFill>
                            <a:schemeClr val="tx1"/>
                          </a:solidFill>
                        </a:rPr>
                        <a:t>5</a:t>
                      </a:r>
                      <a:r>
                        <a:rPr kumimoji="1" lang="ja-JP" altLang="en-US" sz="1400" dirty="0">
                          <a:solidFill>
                            <a:schemeClr val="tx1"/>
                          </a:solidFill>
                        </a:rPr>
                        <a:t>岸壁</a:t>
                      </a:r>
                    </a:p>
                  </a:txBody>
                  <a:tcPr marL="91451" marR="91451" marT="45715" marB="45715" anchor="ctr">
                    <a:lnR w="12700" cmpd="sng">
                      <a:noFill/>
                    </a:lnR>
                  </a:tcPr>
                </a:tc>
                <a:tc>
                  <a:txBody>
                    <a:bodyPr/>
                    <a:lstStyle/>
                    <a:p>
                      <a:pPr algn="ctr"/>
                      <a:r>
                        <a:rPr kumimoji="1" lang="ja-JP" altLang="en-US" sz="1400" dirty="0">
                          <a:solidFill>
                            <a:schemeClr val="tx1"/>
                          </a:solidFill>
                        </a:rPr>
                        <a:t>●</a:t>
                      </a:r>
                    </a:p>
                  </a:txBody>
                  <a:tcPr marL="91451" marR="91451" marT="45715" marB="45715" anchor="ctr">
                    <a:lnL w="12700" cmpd="sng">
                      <a:noFill/>
                    </a:lnL>
                  </a:tcPr>
                </a:tc>
                <a:tc>
                  <a:txBody>
                    <a:bodyPr/>
                    <a:lstStyle/>
                    <a:p>
                      <a:pPr algn="ctr"/>
                      <a:r>
                        <a:rPr kumimoji="1" lang="ja-JP" altLang="en-US" sz="1400" dirty="0">
                          <a:solidFill>
                            <a:schemeClr val="tx1"/>
                          </a:solidFill>
                        </a:rPr>
                        <a:t>●</a:t>
                      </a:r>
                    </a:p>
                  </a:txBody>
                  <a:tcPr marL="91451" marR="91451" marT="45715" marB="45715" anchor="ctr"/>
                </a:tc>
                <a:tc>
                  <a:txBody>
                    <a:bodyPr/>
                    <a:lstStyle/>
                    <a:p>
                      <a:pPr>
                        <a:lnSpc>
                          <a:spcPts val="1700"/>
                        </a:lnSpc>
                      </a:pPr>
                      <a:r>
                        <a:rPr kumimoji="1" lang="ja-JP" altLang="en-US" sz="1400" dirty="0">
                          <a:solidFill>
                            <a:schemeClr val="tx1"/>
                          </a:solidFill>
                        </a:rPr>
                        <a:t>産廃置場移設（</a:t>
                      </a:r>
                      <a:r>
                        <a:rPr kumimoji="1" lang="en-US" altLang="ja-JP" sz="1400" dirty="0">
                          <a:solidFill>
                            <a:schemeClr val="tx1"/>
                          </a:solidFill>
                        </a:rPr>
                        <a:t>COD</a:t>
                      </a:r>
                      <a:r>
                        <a:rPr kumimoji="1" lang="ja-JP" altLang="en-US" sz="1400" dirty="0">
                          <a:solidFill>
                            <a:schemeClr val="tx1"/>
                          </a:solidFill>
                        </a:rPr>
                        <a:t>対策）</a:t>
                      </a: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6</a:t>
                      </a:r>
                      <a:r>
                        <a:rPr kumimoji="1" lang="ja-JP" altLang="en-US" sz="1400" dirty="0">
                          <a:solidFill>
                            <a:schemeClr val="tx1"/>
                          </a:solidFill>
                        </a:rPr>
                        <a:t>月末</a:t>
                      </a:r>
                    </a:p>
                  </a:txBody>
                  <a:tcPr marL="91451" marR="91451" marT="45715" marB="45715" anchor="ctr"/>
                </a:tc>
                <a:tc>
                  <a:txBody>
                    <a:bodyPr/>
                    <a:lstStyle/>
                    <a:p>
                      <a:pPr algn="ctr"/>
                      <a:r>
                        <a:rPr kumimoji="1" lang="en-US" altLang="ja-JP" sz="1400" dirty="0">
                          <a:solidFill>
                            <a:schemeClr val="tx1"/>
                          </a:solidFill>
                        </a:rPr>
                        <a:t>10</a:t>
                      </a: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tcPr>
                </a:tc>
                <a:tc>
                  <a:txBody>
                    <a:bodyPr/>
                    <a:lstStyle/>
                    <a:p>
                      <a:pPr algn="ctr"/>
                      <a:r>
                        <a:rPr kumimoji="1" lang="en-US" altLang="ja-JP" sz="1400" dirty="0">
                          <a:solidFill>
                            <a:schemeClr val="tx1"/>
                          </a:solidFill>
                        </a:rPr>
                        <a:t>35</a:t>
                      </a: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1"/>
                  </a:ext>
                </a:extLst>
              </a:tr>
              <a:tr h="328041">
                <a:tc vMerge="1">
                  <a:txBody>
                    <a:bodyPr/>
                    <a:lstStyle/>
                    <a:p>
                      <a:endParaRPr kumimoji="1" lang="ja-JP" altLang="en-US" sz="1400" dirty="0">
                        <a:solidFill>
                          <a:schemeClr val="tx1"/>
                        </a:solidFill>
                      </a:endParaRPr>
                    </a:p>
                  </a:txBody>
                  <a:tcPr marL="91451" marR="91451" marT="45715" marB="45715" anchor="c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p>
                  </a:txBody>
                  <a:tcPr marL="91451" marR="91451" marT="45715" marB="45715" anchor="ctr"/>
                </a:tc>
                <a:tc>
                  <a:txBody>
                    <a:body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1" lang="ja-JP" altLang="en-US" sz="1400" dirty="0">
                          <a:solidFill>
                            <a:schemeClr val="tx1"/>
                          </a:solidFill>
                        </a:rPr>
                        <a:t>止水ゲートの設置（岸壁及びランプウェイ）</a:t>
                      </a:r>
                      <a:endParaRPr kumimoji="1" lang="en-US" altLang="ja-JP" sz="1400" dirty="0">
                        <a:solidFill>
                          <a:schemeClr val="tx1"/>
                        </a:solidFill>
                      </a:endParaRP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9</a:t>
                      </a:r>
                      <a:r>
                        <a:rPr kumimoji="1" lang="ja-JP" altLang="en-US" sz="1400" dirty="0">
                          <a:solidFill>
                            <a:schemeClr val="tx1"/>
                          </a:solidFill>
                        </a:rPr>
                        <a:t>月末</a:t>
                      </a:r>
                    </a:p>
                  </a:txBody>
                  <a:tcPr marL="91451" marR="91451" marT="45715" marB="45715" anchor="c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22</a:t>
                      </a: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4.9</a:t>
                      </a: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solidFill>
                      <a:schemeClr val="accent1">
                        <a:lumMod val="40000"/>
                        <a:lumOff val="60000"/>
                      </a:schemeClr>
                    </a:solidFill>
                  </a:tcPr>
                </a:tc>
                <a:extLst>
                  <a:ext uri="{0D108BD9-81ED-4DB2-BD59-A6C34878D82A}">
                    <a16:rowId xmlns:a16="http://schemas.microsoft.com/office/drawing/2014/main" val="3884555543"/>
                  </a:ext>
                </a:extLst>
              </a:tr>
              <a:tr h="328041">
                <a:tc vMerge="1">
                  <a:txBody>
                    <a:bodyPr/>
                    <a:lstStyle/>
                    <a:p>
                      <a:endParaRPr kumimoji="1" lang="ja-JP" altLang="en-US" sz="1400" dirty="0">
                        <a:solidFill>
                          <a:schemeClr val="tx1"/>
                        </a:solidFill>
                      </a:endParaRPr>
                    </a:p>
                  </a:txBody>
                  <a:tcPr marL="91451" marR="91451" marT="45715" marB="45715" anchor="c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p>
                  </a:txBody>
                  <a:tcPr marL="91451" marR="91451" marT="45715" marB="45715" anchor="ctr"/>
                </a:tc>
                <a:tc>
                  <a:txBody>
                    <a:body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1" lang="en-US" altLang="ja-JP" sz="1400" dirty="0">
                          <a:solidFill>
                            <a:schemeClr val="tx1"/>
                          </a:solidFill>
                        </a:rPr>
                        <a:t>KS4,5</a:t>
                      </a:r>
                      <a:r>
                        <a:rPr kumimoji="1" lang="ja-JP" altLang="en-US" sz="1400" dirty="0">
                          <a:solidFill>
                            <a:schemeClr val="tx1"/>
                          </a:solidFill>
                        </a:rPr>
                        <a:t>岸壁の排水ラインの設置</a:t>
                      </a:r>
                      <a:endParaRPr kumimoji="1" lang="en-US" altLang="ja-JP" sz="1400" dirty="0">
                        <a:solidFill>
                          <a:schemeClr val="tx1"/>
                        </a:solidFill>
                      </a:endParaRP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9</a:t>
                      </a:r>
                      <a:r>
                        <a:rPr kumimoji="1" lang="ja-JP" altLang="en-US" sz="1400" dirty="0">
                          <a:solidFill>
                            <a:schemeClr val="tx1"/>
                          </a:solidFill>
                        </a:rPr>
                        <a:t>月末</a:t>
                      </a:r>
                    </a:p>
                  </a:txBody>
                  <a:tcPr marL="91451" marR="91451" marT="45715" marB="45715"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23</a:t>
                      </a: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solidFill>
                      <a:schemeClr val="accent1">
                        <a:lumMod val="20000"/>
                        <a:lumOff val="80000"/>
                      </a:schemeClr>
                    </a:solidFill>
                  </a:tcPr>
                </a:tc>
                <a:extLst>
                  <a:ext uri="{0D108BD9-81ED-4DB2-BD59-A6C34878D82A}">
                    <a16:rowId xmlns:a16="http://schemas.microsoft.com/office/drawing/2014/main" val="2828717765"/>
                  </a:ext>
                </a:extLst>
              </a:tr>
              <a:tr h="475568">
                <a:tc>
                  <a:txBody>
                    <a:bodyPr/>
                    <a:lstStyle/>
                    <a:p>
                      <a:r>
                        <a:rPr kumimoji="1" lang="ja-JP" altLang="en-US" sz="1400" dirty="0">
                          <a:solidFill>
                            <a:schemeClr val="tx1"/>
                          </a:solidFill>
                        </a:rPr>
                        <a:t>７線山側</a:t>
                      </a:r>
                    </a:p>
                  </a:txBody>
                  <a:tcPr marL="91451" marR="91451" marT="45715" marB="45715" anchor="ctr">
                    <a:solidFill>
                      <a:srgbClr val="E9EDF4"/>
                    </a:solidFill>
                  </a:tcPr>
                </a:tc>
                <a:tc>
                  <a:txBody>
                    <a:bodyPr/>
                    <a:lstStyle/>
                    <a:p>
                      <a:pPr algn="ctr"/>
                      <a:r>
                        <a:rPr kumimoji="1" lang="ja-JP" altLang="en-US" sz="1400" dirty="0">
                          <a:solidFill>
                            <a:schemeClr val="tx1"/>
                          </a:solidFill>
                        </a:rPr>
                        <a:t>●</a:t>
                      </a:r>
                    </a:p>
                  </a:txBody>
                  <a:tcPr marL="91451" marR="91451" marT="45715" marB="45715" anchor="ctr"/>
                </a:tc>
                <a:tc>
                  <a:txBody>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a:txBody>
                  <a:tcPr marL="91451" marR="91451" marT="45715" marB="45715" anchor="ctr"/>
                </a:tc>
                <a:tc>
                  <a:txBody>
                    <a:body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1" lang="en-US" altLang="ja-JP" sz="1400" dirty="0">
                          <a:solidFill>
                            <a:schemeClr val="tx1"/>
                          </a:solidFill>
                        </a:rPr>
                        <a:t>No.16COD</a:t>
                      </a:r>
                      <a:r>
                        <a:rPr kumimoji="1" lang="ja-JP" altLang="en-US" sz="1400" dirty="0">
                          <a:solidFill>
                            <a:schemeClr val="tx1"/>
                          </a:solidFill>
                        </a:rPr>
                        <a:t>低減策</a:t>
                      </a:r>
                      <a:r>
                        <a:rPr kumimoji="1" lang="en-US" altLang="ja-JP" sz="1400" dirty="0">
                          <a:solidFill>
                            <a:schemeClr val="tx1"/>
                          </a:solidFill>
                        </a:rPr>
                        <a:t>(3</a:t>
                      </a:r>
                      <a:r>
                        <a:rPr kumimoji="1" lang="ja-JP" altLang="en-US" sz="1400" dirty="0">
                          <a:solidFill>
                            <a:schemeClr val="tx1"/>
                          </a:solidFill>
                        </a:rPr>
                        <a:t>加工西埋設配管湧水防止）</a:t>
                      </a:r>
                      <a:endParaRPr kumimoji="1" lang="en-US" altLang="ja-JP" sz="1400" dirty="0">
                        <a:solidFill>
                          <a:schemeClr val="tx1"/>
                        </a:solidFill>
                      </a:endParaRPr>
                    </a:p>
                  </a:txBody>
                  <a:tcPr marL="91451" marR="91451" marT="45715" marB="45715" anchor="ctr"/>
                </a:tc>
                <a:tc>
                  <a:txBody>
                    <a:bodyPr/>
                    <a:lstStyle/>
                    <a:p>
                      <a:pPr algn="ct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6</a:t>
                      </a:r>
                      <a:r>
                        <a:rPr kumimoji="1" lang="ja-JP" altLang="en-US" sz="1400" dirty="0">
                          <a:solidFill>
                            <a:schemeClr val="tx1"/>
                          </a:solidFill>
                        </a:rPr>
                        <a:t>月末</a:t>
                      </a: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20</a:t>
                      </a: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6"/>
                  </a:ext>
                </a:extLst>
              </a:tr>
              <a:tr h="282686">
                <a:tc>
                  <a:txBody>
                    <a:bodyPr/>
                    <a:lstStyle/>
                    <a:p>
                      <a:r>
                        <a:rPr kumimoji="1" lang="en-US" altLang="ja-JP" sz="1400" dirty="0">
                          <a:solidFill>
                            <a:schemeClr val="tx1"/>
                          </a:solidFill>
                        </a:rPr>
                        <a:t>7</a:t>
                      </a:r>
                      <a:r>
                        <a:rPr kumimoji="1" lang="ja-JP" altLang="en-US" sz="1400" dirty="0">
                          <a:solidFill>
                            <a:schemeClr val="tx1"/>
                          </a:solidFill>
                        </a:rPr>
                        <a:t>線地下全般湧水</a:t>
                      </a:r>
                      <a:endParaRPr kumimoji="1" lang="en-US" altLang="ja-JP" sz="1400" dirty="0">
                        <a:solidFill>
                          <a:schemeClr val="tx1"/>
                        </a:solidFill>
                      </a:endParaRPr>
                    </a:p>
                  </a:txBody>
                  <a:tcPr marL="91451" marR="91451" marT="45715" marB="45715" anchor="ctr">
                    <a:lnB w="12700" cap="flat" cmpd="sng" algn="ctr">
                      <a:solidFill>
                        <a:schemeClr val="bg1"/>
                      </a:solidFill>
                      <a:prstDash val="solid"/>
                      <a:round/>
                      <a:headEnd type="none" w="med" len="med"/>
                      <a:tailEnd type="none" w="med" len="med"/>
                    </a:lnB>
                  </a:tcPr>
                </a:tc>
                <a:tc>
                  <a:txBody>
                    <a:bodyPr/>
                    <a:lstStyle/>
                    <a:p>
                      <a:pPr algn="ctr"/>
                      <a:r>
                        <a:rPr kumimoji="1" lang="ja-JP" altLang="en-US" sz="1400" dirty="0">
                          <a:solidFill>
                            <a:schemeClr val="tx1"/>
                          </a:solidFill>
                        </a:rPr>
                        <a:t>●</a:t>
                      </a:r>
                    </a:p>
                  </a:txBody>
                  <a:tcPr marL="91451" marR="91451" marT="45715" marB="45715" anchor="ctr">
                    <a:lnB w="12700" cap="flat" cmpd="sng" algn="ctr">
                      <a:solidFill>
                        <a:schemeClr val="bg1"/>
                      </a:solidFill>
                      <a:prstDash val="solid"/>
                      <a:round/>
                      <a:headEnd type="none" w="med" len="med"/>
                      <a:tailEnd type="none" w="med" len="med"/>
                    </a:lnB>
                  </a:tcPr>
                </a:tc>
                <a:tc>
                  <a:txBody>
                    <a:bodyPr/>
                    <a:lstStyle/>
                    <a:p>
                      <a:pPr algn="ctr"/>
                      <a:r>
                        <a:rPr kumimoji="1" lang="ja-JP" altLang="en-US" sz="1400" dirty="0">
                          <a:solidFill>
                            <a:schemeClr val="tx1"/>
                          </a:solidFill>
                        </a:rPr>
                        <a:t>●</a:t>
                      </a:r>
                      <a:endParaRPr kumimoji="1" lang="en-US" altLang="ja-JP" sz="1400" dirty="0">
                        <a:solidFill>
                          <a:schemeClr val="tx1"/>
                        </a:solidFill>
                      </a:endParaRPr>
                    </a:p>
                  </a:txBody>
                  <a:tcPr marL="91451" marR="91451" marT="45715" marB="45715" anchor="ctr">
                    <a:lnB w="12700" cap="flat" cmpd="sng" algn="ctr">
                      <a:solidFill>
                        <a:schemeClr val="bg1"/>
                      </a:solidFill>
                      <a:prstDash val="solid"/>
                      <a:round/>
                      <a:headEnd type="none" w="med" len="med"/>
                      <a:tailEnd type="none" w="med" len="med"/>
                    </a:lnB>
                  </a:tcPr>
                </a:tc>
                <a:tc>
                  <a:txBody>
                    <a:bodyPr/>
                    <a:lstStyle/>
                    <a:p>
                      <a:pPr>
                        <a:lnSpc>
                          <a:spcPts val="1700"/>
                        </a:lnSpc>
                      </a:pPr>
                      <a:r>
                        <a:rPr kumimoji="1" lang="ja-JP" altLang="en-US" sz="1400" dirty="0">
                          <a:solidFill>
                            <a:schemeClr val="tx1"/>
                          </a:solidFill>
                        </a:rPr>
                        <a:t>止水工事</a:t>
                      </a:r>
                      <a:endParaRPr kumimoji="1" lang="en-US" altLang="ja-JP" sz="1400" dirty="0">
                        <a:solidFill>
                          <a:schemeClr val="tx1"/>
                        </a:solidFill>
                      </a:endParaRPr>
                    </a:p>
                  </a:txBody>
                  <a:tcPr marL="91451" marR="91451" marT="45715" marB="45715" anchor="ctr">
                    <a:lnB w="12700" cap="flat" cmpd="sng" algn="ctr">
                      <a:solidFill>
                        <a:schemeClr val="bg1"/>
                      </a:solidFill>
                      <a:prstDash val="solid"/>
                      <a:round/>
                      <a:headEnd type="none" w="med" len="med"/>
                      <a:tailEnd type="none" w="med" len="med"/>
                    </a:lnB>
                  </a:tcPr>
                </a:tc>
                <a:tc>
                  <a:txBody>
                    <a:bodyPr/>
                    <a:lstStyle/>
                    <a:p>
                      <a:pPr algn="ctr"/>
                      <a:r>
                        <a:rPr kumimoji="1" lang="ja-JP" altLang="en-US" sz="1400" dirty="0">
                          <a:solidFill>
                            <a:schemeClr val="tx1"/>
                          </a:solidFill>
                        </a:rPr>
                        <a:t>‘</a:t>
                      </a:r>
                      <a:r>
                        <a:rPr kumimoji="1" lang="en-US" altLang="ja-JP" sz="1400" dirty="0">
                          <a:solidFill>
                            <a:schemeClr val="tx1"/>
                          </a:solidFill>
                        </a:rPr>
                        <a:t>20</a:t>
                      </a:r>
                      <a:r>
                        <a:rPr kumimoji="1" lang="ja-JP" altLang="en-US" sz="1400" dirty="0">
                          <a:solidFill>
                            <a:schemeClr val="tx1"/>
                          </a:solidFill>
                        </a:rPr>
                        <a:t>年</a:t>
                      </a:r>
                      <a:r>
                        <a:rPr kumimoji="1" lang="en-US" altLang="ja-JP" sz="1400" dirty="0">
                          <a:solidFill>
                            <a:schemeClr val="tx1"/>
                          </a:solidFill>
                        </a:rPr>
                        <a:t>1</a:t>
                      </a:r>
                      <a:r>
                        <a:rPr kumimoji="1" lang="ja-JP" altLang="en-US" sz="1400" dirty="0">
                          <a:solidFill>
                            <a:schemeClr val="tx1"/>
                          </a:solidFill>
                        </a:rPr>
                        <a:t>月末</a:t>
                      </a:r>
                    </a:p>
                  </a:txBody>
                  <a:tcPr marL="91451" marR="91451" marT="45715" marB="45715" anchor="ctr">
                    <a:lnB w="12700" cap="flat" cmpd="sng" algn="ctr">
                      <a:solidFill>
                        <a:schemeClr val="bg1"/>
                      </a:solidFill>
                      <a:prstDash val="solid"/>
                      <a:round/>
                      <a:headEnd type="none" w="med" len="med"/>
                      <a:tailEnd type="none" w="med" len="med"/>
                    </a:lnB>
                  </a:tcPr>
                </a:tc>
                <a:tc>
                  <a:txBody>
                    <a:bodyPr/>
                    <a:lstStyle/>
                    <a:p>
                      <a:pPr algn="ct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kumimoji="1" lang="en-US" altLang="ja-JP" sz="1400" dirty="0">
                          <a:solidFill>
                            <a:schemeClr val="tx1"/>
                          </a:solidFill>
                        </a:rPr>
                        <a:t>8</a:t>
                      </a: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96031">
                <a:tc rowSpan="2">
                  <a:txBody>
                    <a:bodyPr/>
                    <a:lstStyle/>
                    <a:p>
                      <a:r>
                        <a:rPr kumimoji="1" lang="en-US" altLang="ja-JP" sz="1400" dirty="0">
                          <a:solidFill>
                            <a:schemeClr val="tx1"/>
                          </a:solidFill>
                        </a:rPr>
                        <a:t>7</a:t>
                      </a:r>
                      <a:r>
                        <a:rPr kumimoji="1" lang="ja-JP" altLang="en-US" sz="1400" dirty="0">
                          <a:solidFill>
                            <a:schemeClr val="tx1"/>
                          </a:solidFill>
                        </a:rPr>
                        <a:t>線</a:t>
                      </a:r>
                      <a:r>
                        <a:rPr kumimoji="1" lang="en-US" altLang="ja-JP" sz="1400" dirty="0">
                          <a:solidFill>
                            <a:schemeClr val="tx1"/>
                          </a:solidFill>
                        </a:rPr>
                        <a:t>H</a:t>
                      </a:r>
                      <a:r>
                        <a:rPr kumimoji="1" lang="ja-JP" altLang="en-US" sz="1400" dirty="0">
                          <a:solidFill>
                            <a:schemeClr val="tx1"/>
                          </a:solidFill>
                        </a:rPr>
                        <a:t>台、ステルモア</a:t>
                      </a:r>
                    </a:p>
                  </a:txBody>
                  <a:tcPr marL="91451" marR="91451" marT="45715" marB="45715" anchor="ctr">
                    <a:lnT w="12700" cap="flat" cmpd="sng" algn="ctr">
                      <a:solidFill>
                        <a:schemeClr val="bg1"/>
                      </a:solidFill>
                      <a:prstDash val="solid"/>
                      <a:round/>
                      <a:headEnd type="none" w="med" len="med"/>
                      <a:tailEnd type="none" w="med" len="med"/>
                    </a:lnT>
                  </a:tcPr>
                </a:tc>
                <a:tc rowSpan="2">
                  <a:txBody>
                    <a:bodyPr/>
                    <a:lstStyle/>
                    <a:p>
                      <a:pPr algn="ctr"/>
                      <a:r>
                        <a:rPr kumimoji="1" lang="ja-JP" altLang="en-US" sz="1400" dirty="0">
                          <a:solidFill>
                            <a:schemeClr val="tx1"/>
                          </a:solidFill>
                        </a:rPr>
                        <a:t>●</a:t>
                      </a:r>
                    </a:p>
                  </a:txBody>
                  <a:tcPr marL="91451" marR="91451" marT="45715" marB="45715" anchor="ctr">
                    <a:lnT w="12700" cap="flat" cmpd="sng" algn="ctr">
                      <a:solidFill>
                        <a:schemeClr val="bg1"/>
                      </a:solidFill>
                      <a:prstDash val="solid"/>
                      <a:round/>
                      <a:headEnd type="none" w="med" len="med"/>
                      <a:tailEnd type="none" w="med" len="med"/>
                    </a:lnT>
                  </a:tcPr>
                </a:tc>
                <a:tc rowSpan="2">
                  <a:txBody>
                    <a:bodyPr/>
                    <a:lstStyle/>
                    <a:p>
                      <a:pPr algn="ctr"/>
                      <a:r>
                        <a:rPr kumimoji="1" lang="ja-JP" altLang="en-US" sz="1400" dirty="0">
                          <a:solidFill>
                            <a:schemeClr val="tx1"/>
                          </a:solidFill>
                        </a:rPr>
                        <a:t>●</a:t>
                      </a:r>
                    </a:p>
                  </a:txBody>
                  <a:tcPr marL="91451" marR="91451" marT="45715" marB="45715" anchor="ctr">
                    <a:lnT w="12700" cap="flat" cmpd="sng" algn="ctr">
                      <a:solidFill>
                        <a:schemeClr val="bg1"/>
                      </a:solidFill>
                      <a:prstDash val="solid"/>
                      <a:round/>
                      <a:headEnd type="none" w="med" len="med"/>
                      <a:tailEnd type="none" w="med" len="med"/>
                    </a:lnT>
                  </a:tcPr>
                </a:tc>
                <a:tc>
                  <a:txBody>
                    <a:bodyPr/>
                    <a:lstStyle/>
                    <a:p>
                      <a:pPr>
                        <a:lnSpc>
                          <a:spcPts val="1700"/>
                        </a:lnSpc>
                      </a:pPr>
                      <a:r>
                        <a:rPr kumimoji="1" lang="ja-JP" altLang="en-US" sz="1400" dirty="0">
                          <a:solidFill>
                            <a:schemeClr val="tx1"/>
                          </a:solidFill>
                        </a:rPr>
                        <a:t>排水ポンプ、排水ルート常設化</a:t>
                      </a:r>
                      <a:endParaRPr kumimoji="1" lang="en-US" altLang="ja-JP" sz="1400" dirty="0">
                        <a:solidFill>
                          <a:schemeClr val="tx1"/>
                        </a:solidFill>
                      </a:endParaRPr>
                    </a:p>
                  </a:txBody>
                  <a:tcPr marL="91451" marR="91451" marT="45715" marB="45715"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8</a:t>
                      </a:r>
                      <a:r>
                        <a:rPr kumimoji="1" lang="ja-JP" altLang="en-US" sz="1400" dirty="0">
                          <a:solidFill>
                            <a:schemeClr val="tx1"/>
                          </a:solidFill>
                        </a:rPr>
                        <a:t>月末</a:t>
                      </a:r>
                    </a:p>
                  </a:txBody>
                  <a:tcPr marL="91451" marR="91451" marT="45715" marB="45715"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kumimoji="1" lang="en-US" altLang="ja-JP" sz="1400" dirty="0">
                          <a:solidFill>
                            <a:schemeClr val="tx1"/>
                          </a:solidFill>
                        </a:rPr>
                        <a:t>20</a:t>
                      </a:r>
                    </a:p>
                  </a:txBody>
                  <a:tcPr marL="91451" marR="91451" marT="45715" marB="45715"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kumimoji="1" lang="en-US" altLang="ja-JP"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8268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nSpc>
                          <a:spcPts val="1700"/>
                        </a:lnSpc>
                      </a:pPr>
                      <a:r>
                        <a:rPr kumimoji="1" lang="ja-JP" altLang="en-US" sz="1400" dirty="0">
                          <a:solidFill>
                            <a:schemeClr val="tx1"/>
                          </a:solidFill>
                        </a:rPr>
                        <a:t>雨水、海水浸水防止板の設置</a:t>
                      </a:r>
                      <a:endParaRPr kumimoji="1" lang="en-US" altLang="ja-JP" sz="1400" dirty="0">
                        <a:solidFill>
                          <a:schemeClr val="tx1"/>
                        </a:solidFill>
                      </a:endParaRPr>
                    </a:p>
                  </a:txBody>
                  <a:tcPr marL="91451" marR="91451" marT="45715" marB="45715"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済</a:t>
                      </a:r>
                    </a:p>
                  </a:txBody>
                  <a:tcPr marL="91451" marR="91451" marT="45715" marB="45715"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kumimoji="1" lang="en-US" altLang="ja-JP" sz="1400" dirty="0">
                        <a:solidFill>
                          <a:srgbClr val="FF0000"/>
                        </a:solidFill>
                      </a:endParaRPr>
                    </a:p>
                  </a:txBody>
                  <a:tcPr marL="91451" marR="91451" marT="45715" marB="45715"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kumimoji="1" lang="en-US" altLang="ja-JP" sz="1400" dirty="0">
                        <a:solidFill>
                          <a:srgbClr val="FF0000"/>
                        </a:solidFill>
                      </a:endParaRPr>
                    </a:p>
                  </a:txBody>
                  <a:tcPr marL="91451" marR="91451" marT="45715" marB="45715"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480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tx1"/>
                          </a:solidFill>
                          <a:latin typeface="+mn-lt"/>
                          <a:ea typeface="+mn-ea"/>
                          <a:cs typeface="+mn-cs"/>
                        </a:rPr>
                        <a:t>7</a:t>
                      </a:r>
                      <a:r>
                        <a:rPr kumimoji="1" lang="ja-JP" altLang="en-US" sz="1400" kern="1200" dirty="0">
                          <a:solidFill>
                            <a:schemeClr val="tx1"/>
                          </a:solidFill>
                          <a:latin typeface="+mn-lt"/>
                          <a:ea typeface="+mn-ea"/>
                          <a:cs typeface="+mn-cs"/>
                        </a:rPr>
                        <a:t>線水処理</a:t>
                      </a:r>
                      <a:endParaRPr kumimoji="1" lang="en-US" altLang="ja-JP" sz="14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kern="1200" dirty="0">
                          <a:solidFill>
                            <a:schemeClr val="tx1"/>
                          </a:solidFill>
                          <a:latin typeface="+mn-lt"/>
                          <a:ea typeface="+mn-ea"/>
                          <a:cs typeface="+mn-cs"/>
                        </a:rPr>
                        <a:t>（塩素濃度上昇対策）</a:t>
                      </a:r>
                    </a:p>
                  </a:txBody>
                  <a:tcPr marL="91451" marR="91451" marT="45715" marB="45715" anchor="ctr"/>
                </a:tc>
                <a:tc>
                  <a:txBody>
                    <a:bodyPr/>
                    <a:lstStyle/>
                    <a:p>
                      <a:pPr algn="ctr"/>
                      <a:r>
                        <a:rPr kumimoji="1" lang="ja-JP" altLang="en-US" sz="1400" dirty="0">
                          <a:solidFill>
                            <a:schemeClr val="tx1"/>
                          </a:solidFill>
                        </a:rPr>
                        <a:t>●</a:t>
                      </a:r>
                    </a:p>
                  </a:txBody>
                  <a:tcPr marL="91451" marR="91451" marT="45715" marB="45715" anchor="ctr"/>
                </a:tc>
                <a:tc>
                  <a:txBody>
                    <a:bodyPr/>
                    <a:lstStyle/>
                    <a:p>
                      <a:pPr algn="ctr"/>
                      <a:r>
                        <a:rPr kumimoji="1" lang="ja-JP" altLang="en-US" sz="1400" dirty="0">
                          <a:solidFill>
                            <a:schemeClr val="tx1"/>
                          </a:solidFill>
                        </a:rPr>
                        <a:t>●</a:t>
                      </a:r>
                    </a:p>
                  </a:txBody>
                  <a:tcPr marL="91451" marR="91451" marT="45715" marB="45715" anchor="ctr"/>
                </a:tc>
                <a:tc>
                  <a:txBody>
                    <a:bodyPr/>
                    <a:lstStyle/>
                    <a:p>
                      <a:pPr>
                        <a:lnSpc>
                          <a:spcPts val="1700"/>
                        </a:lnSpc>
                      </a:pPr>
                      <a:r>
                        <a:rPr kumimoji="1" lang="ja-JP" altLang="en-US" sz="1400" dirty="0">
                          <a:solidFill>
                            <a:schemeClr val="tx1"/>
                          </a:solidFill>
                        </a:rPr>
                        <a:t>ブローダウン、補給水能力増強</a:t>
                      </a:r>
                      <a:endParaRPr kumimoji="1" lang="en-US" altLang="ja-JP" sz="1400" dirty="0">
                        <a:solidFill>
                          <a:schemeClr val="tx1"/>
                        </a:solidFill>
                      </a:endParaRPr>
                    </a:p>
                    <a:p>
                      <a:pPr>
                        <a:lnSpc>
                          <a:spcPts val="1700"/>
                        </a:lnSpc>
                      </a:pPr>
                      <a:r>
                        <a:rPr kumimoji="1" lang="ja-JP" altLang="en-US" sz="1400" dirty="0">
                          <a:solidFill>
                            <a:schemeClr val="tx1"/>
                          </a:solidFill>
                        </a:rPr>
                        <a:t>排水先変更（油不含は雨水排水）</a:t>
                      </a:r>
                      <a:endParaRPr kumimoji="1" lang="en-US" altLang="ja-JP" sz="1400" dirty="0">
                        <a:solidFill>
                          <a:schemeClr val="tx1"/>
                        </a:solidFill>
                      </a:endParaRPr>
                    </a:p>
                  </a:txBody>
                  <a:tcPr marL="91451" marR="91451" marT="45715" marB="45715" anchor="ctr">
                    <a:lnT w="12700" cap="flat" cmpd="sng" algn="ctr">
                      <a:solidFill>
                        <a:schemeClr val="bg1"/>
                      </a:solidFill>
                      <a:prstDash val="solid"/>
                      <a:round/>
                      <a:headEnd type="none" w="med" len="med"/>
                      <a:tailEnd type="none" w="med" len="med"/>
                    </a:lnT>
                  </a:tcPr>
                </a:tc>
                <a:tc>
                  <a:txBody>
                    <a:bodyPr/>
                    <a:lstStyle/>
                    <a:p>
                      <a:pPr algn="ct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6</a:t>
                      </a:r>
                      <a:r>
                        <a:rPr kumimoji="1" lang="ja-JP" altLang="en-US" sz="1400" dirty="0">
                          <a:solidFill>
                            <a:schemeClr val="tx1"/>
                          </a:solidFill>
                        </a:rPr>
                        <a:t>月末</a:t>
                      </a:r>
                    </a:p>
                  </a:txBody>
                  <a:tcPr marL="91451" marR="91451" marT="45715" marB="45715" anchor="ctr">
                    <a:lnT w="12700" cap="flat" cmpd="sng" algn="ctr">
                      <a:solidFill>
                        <a:schemeClr val="bg1"/>
                      </a:solidFill>
                      <a:prstDash val="solid"/>
                      <a:round/>
                      <a:headEnd type="none" w="med" len="med"/>
                      <a:tailEnd type="none" w="med" len="med"/>
                    </a:lnT>
                  </a:tcPr>
                </a:tc>
                <a:tc>
                  <a:txBody>
                    <a:bodyPr/>
                    <a:lstStyle/>
                    <a:p>
                      <a:pPr algn="ctr"/>
                      <a:r>
                        <a:rPr kumimoji="1" lang="en-US" altLang="ja-JP" sz="1400" dirty="0">
                          <a:solidFill>
                            <a:schemeClr val="tx1"/>
                          </a:solidFill>
                        </a:rPr>
                        <a:t>11</a:t>
                      </a: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10"/>
                  </a:ext>
                </a:extLst>
              </a:tr>
              <a:tr h="593652">
                <a:tc>
                  <a:txBody>
                    <a:bodyPr/>
                    <a:lstStyle/>
                    <a:p>
                      <a:r>
                        <a:rPr kumimoji="1" lang="ja-JP" altLang="en-US" sz="1400" dirty="0">
                          <a:solidFill>
                            <a:schemeClr val="tx1"/>
                          </a:solidFill>
                        </a:rPr>
                        <a:t>所内排水処理</a:t>
                      </a:r>
                    </a:p>
                  </a:txBody>
                  <a:tcPr marL="91451" marR="91451" marT="45715" marB="45715" anchor="ctr"/>
                </a:tc>
                <a:tc>
                  <a:txBody>
                    <a:bodyPr/>
                    <a:lstStyle/>
                    <a:p>
                      <a:pPr algn="ctr"/>
                      <a:r>
                        <a:rPr kumimoji="1" lang="ja-JP" altLang="en-US" sz="1400" dirty="0">
                          <a:solidFill>
                            <a:schemeClr val="tx1"/>
                          </a:solidFill>
                        </a:rPr>
                        <a:t>●</a:t>
                      </a:r>
                    </a:p>
                  </a:txBody>
                  <a:tcPr marL="91451" marR="91451" marT="45715" marB="45715" anchor="ctr"/>
                </a:tc>
                <a:tc>
                  <a:txBody>
                    <a:bodyPr/>
                    <a:lstStyle/>
                    <a:p>
                      <a:pPr algn="ctr"/>
                      <a:r>
                        <a:rPr kumimoji="1" lang="ja-JP" altLang="en-US" sz="1400" dirty="0">
                          <a:solidFill>
                            <a:schemeClr val="tx1"/>
                          </a:solidFill>
                        </a:rPr>
                        <a:t>●</a:t>
                      </a:r>
                    </a:p>
                  </a:txBody>
                  <a:tcPr marL="91451" marR="91451" marT="45715" marB="45715" anchor="ctr"/>
                </a:tc>
                <a:tc>
                  <a:txBody>
                    <a:bodyPr/>
                    <a:lstStyle/>
                    <a:p>
                      <a:pPr>
                        <a:lnSpc>
                          <a:spcPts val="1700"/>
                        </a:lnSpc>
                      </a:pPr>
                      <a:r>
                        <a:rPr kumimoji="1" lang="ja-JP" altLang="en-US" sz="1400" dirty="0">
                          <a:solidFill>
                            <a:schemeClr val="tx1"/>
                          </a:solidFill>
                        </a:rPr>
                        <a:t>旧ガスホルダー活用、</a:t>
                      </a:r>
                      <a:r>
                        <a:rPr kumimoji="1" lang="en-US" altLang="ja-JP" sz="1400" dirty="0">
                          <a:solidFill>
                            <a:schemeClr val="tx1"/>
                          </a:solidFill>
                        </a:rPr>
                        <a:t>2000</a:t>
                      </a:r>
                      <a:r>
                        <a:rPr kumimoji="1" lang="ja-JP" altLang="en-US" sz="1400" dirty="0">
                          <a:solidFill>
                            <a:schemeClr val="tx1"/>
                          </a:solidFill>
                        </a:rPr>
                        <a:t>㎥ピット３</a:t>
                      </a:r>
                      <a:r>
                        <a:rPr kumimoji="1" lang="en-US" altLang="ja-JP" sz="1400" dirty="0">
                          <a:solidFill>
                            <a:schemeClr val="tx1"/>
                          </a:solidFill>
                        </a:rPr>
                        <a:t>CC</a:t>
                      </a:r>
                      <a:r>
                        <a:rPr kumimoji="1" lang="ja-JP" altLang="en-US" sz="1400" dirty="0">
                          <a:solidFill>
                            <a:schemeClr val="tx1"/>
                          </a:solidFill>
                        </a:rPr>
                        <a:t>水処理容量増、バキューム活用</a:t>
                      </a:r>
                      <a:endParaRPr kumimoji="1" lang="en-US" altLang="ja-JP" sz="1400" dirty="0">
                        <a:solidFill>
                          <a:schemeClr val="tx1"/>
                        </a:solidFill>
                      </a:endParaRPr>
                    </a:p>
                  </a:txBody>
                  <a:tcPr marL="91451" marR="91451" marT="45715" marB="45715" anchor="ctr"/>
                </a:tc>
                <a:tc>
                  <a:txBody>
                    <a:bodyPr/>
                    <a:lstStyle/>
                    <a:p>
                      <a:pPr algn="ct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6</a:t>
                      </a:r>
                      <a:r>
                        <a:rPr kumimoji="1" lang="ja-JP" altLang="en-US" sz="1400" dirty="0">
                          <a:solidFill>
                            <a:schemeClr val="tx1"/>
                          </a:solidFill>
                        </a:rPr>
                        <a:t>月末</a:t>
                      </a:r>
                    </a:p>
                  </a:txBody>
                  <a:tcPr marL="91451" marR="91451" marT="45715" marB="45715" anchor="ctr"/>
                </a:tc>
                <a:tc>
                  <a:txBody>
                    <a:bodyPr/>
                    <a:lstStyle/>
                    <a:p>
                      <a:pPr algn="ctr"/>
                      <a:r>
                        <a:rPr kumimoji="1" lang="en-US" altLang="ja-JP" sz="1400" dirty="0">
                          <a:solidFill>
                            <a:schemeClr val="tx1"/>
                          </a:solidFill>
                        </a:rPr>
                        <a:t>3</a:t>
                      </a:r>
                    </a:p>
                  </a:txBody>
                  <a:tcPr marL="91451" marR="91451" marT="45715" marB="45715" anchor="ctr">
                    <a:lnR w="12700" cap="flat" cmpd="sng" algn="ctr">
                      <a:solidFill>
                        <a:schemeClr val="bg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rPr>
                        <a:t>ﾊﾞｷｭｰﾑ</a:t>
                      </a:r>
                      <a:r>
                        <a:rPr kumimoji="1" lang="en-US" altLang="ja-JP" sz="1100" dirty="0">
                          <a:solidFill>
                            <a:schemeClr val="tx1"/>
                          </a:solidFill>
                        </a:rPr>
                        <a:t>6</a:t>
                      </a:r>
                      <a:r>
                        <a:rPr kumimoji="1" lang="ja-JP" altLang="en-US" sz="1100" dirty="0">
                          <a:solidFill>
                            <a:schemeClr val="tx1"/>
                          </a:solidFill>
                        </a:rPr>
                        <a:t>台</a:t>
                      </a:r>
                      <a:r>
                        <a:rPr kumimoji="1" lang="en-US" altLang="ja-JP" sz="1100" dirty="0">
                          <a:solidFill>
                            <a:schemeClr val="tx1"/>
                          </a:solidFill>
                        </a:rPr>
                        <a:t>/</a:t>
                      </a:r>
                      <a:r>
                        <a:rPr kumimoji="1" lang="ja-JP" altLang="en-US" sz="1100" dirty="0">
                          <a:solidFill>
                            <a:schemeClr val="tx1"/>
                          </a:solidFill>
                        </a:rPr>
                        <a:t>日</a:t>
                      </a:r>
                    </a:p>
                  </a:txBody>
                  <a:tcPr marL="91451" marR="91451" marT="45715" marB="45715"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11"/>
                  </a:ext>
                </a:extLst>
              </a:tr>
              <a:tr h="480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設備個別</a:t>
                      </a:r>
                      <a:endParaRPr kumimoji="1" lang="en-US" altLang="ja-JP" sz="1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BMG</a:t>
                      </a:r>
                      <a:r>
                        <a:rPr kumimoji="1" lang="ja-JP" altLang="en-US" sz="1400" dirty="0" err="1">
                          <a:solidFill>
                            <a:schemeClr val="tx1"/>
                          </a:solidFill>
                        </a:rPr>
                        <a:t>，</a:t>
                      </a:r>
                      <a:r>
                        <a:rPr kumimoji="1" lang="ja-JP" altLang="en-US" sz="1400" dirty="0">
                          <a:solidFill>
                            <a:schemeClr val="tx1"/>
                          </a:solidFill>
                        </a:rPr>
                        <a:t>整列台車</a:t>
                      </a:r>
                    </a:p>
                  </a:txBody>
                  <a:tcPr marL="91451" marR="91451" marT="45715" marB="45715" anchor="ctr"/>
                </a:tc>
                <a:tc>
                  <a:txBody>
                    <a:bodyPr/>
                    <a:lstStyle/>
                    <a:p>
                      <a:pPr algn="ctr"/>
                      <a:r>
                        <a:rPr kumimoji="1" lang="ja-JP" altLang="en-US" sz="1400" dirty="0">
                          <a:solidFill>
                            <a:schemeClr val="tx1"/>
                          </a:solidFill>
                        </a:rPr>
                        <a:t>●</a:t>
                      </a:r>
                    </a:p>
                  </a:txBody>
                  <a:tcPr marL="91451" marR="91451" marT="45715" marB="45715" anchor="ctr"/>
                </a:tc>
                <a:tc>
                  <a:txBody>
                    <a:bodyPr/>
                    <a:lstStyle/>
                    <a:p>
                      <a:pPr algn="ctr"/>
                      <a:endParaRPr kumimoji="1" lang="ja-JP" altLang="en-US" sz="1400" dirty="0">
                        <a:solidFill>
                          <a:schemeClr val="tx1"/>
                        </a:solidFill>
                      </a:endParaRPr>
                    </a:p>
                  </a:txBody>
                  <a:tcPr marL="91451" marR="91451" marT="45715" marB="45715" anchor="ctr"/>
                </a:tc>
                <a:tc>
                  <a:txBody>
                    <a:bodyPr/>
                    <a:lstStyle/>
                    <a:p>
                      <a:pPr>
                        <a:lnSpc>
                          <a:spcPts val="1700"/>
                        </a:lnSpc>
                      </a:pPr>
                      <a:r>
                        <a:rPr kumimoji="1" lang="ja-JP" altLang="en-US" sz="1400" dirty="0">
                          <a:solidFill>
                            <a:schemeClr val="tx1"/>
                          </a:solidFill>
                        </a:rPr>
                        <a:t>嵩上げ、浸水防止、予備購入等</a:t>
                      </a:r>
                      <a:endParaRPr kumimoji="1" lang="en-US" altLang="ja-JP" sz="1400" dirty="0">
                        <a:solidFill>
                          <a:schemeClr val="tx1"/>
                        </a:solidFill>
                      </a:endParaRPr>
                    </a:p>
                  </a:txBody>
                  <a:tcPr marL="91451" marR="91451" marT="45715" marB="4571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a:t>
                      </a:r>
                      <a:r>
                        <a:rPr kumimoji="1" lang="en-US" altLang="ja-JP" sz="1400" dirty="0">
                          <a:solidFill>
                            <a:schemeClr val="tx1"/>
                          </a:solidFill>
                        </a:rPr>
                        <a:t>19</a:t>
                      </a:r>
                      <a:r>
                        <a:rPr kumimoji="1" lang="ja-JP" altLang="en-US" sz="1400" dirty="0">
                          <a:solidFill>
                            <a:schemeClr val="tx1"/>
                          </a:solidFill>
                        </a:rPr>
                        <a:t>年</a:t>
                      </a:r>
                      <a:r>
                        <a:rPr kumimoji="1" lang="en-US" altLang="ja-JP" sz="1400" dirty="0">
                          <a:solidFill>
                            <a:schemeClr val="tx1"/>
                          </a:solidFill>
                        </a:rPr>
                        <a:t>6</a:t>
                      </a:r>
                      <a:r>
                        <a:rPr kumimoji="1" lang="ja-JP" altLang="en-US" sz="1400" dirty="0">
                          <a:solidFill>
                            <a:schemeClr val="tx1"/>
                          </a:solidFill>
                        </a:rPr>
                        <a:t>月末</a:t>
                      </a:r>
                    </a:p>
                  </a:txBody>
                  <a:tcPr marL="91451" marR="91451" marT="45715" marB="45715" anchor="ctr"/>
                </a:tc>
                <a:tc>
                  <a:txBody>
                    <a:bodyPr/>
                    <a:lstStyle/>
                    <a:p>
                      <a:pPr algn="ctr"/>
                      <a:r>
                        <a:rPr kumimoji="1" lang="en-US" altLang="ja-JP" sz="1400" dirty="0">
                          <a:solidFill>
                            <a:schemeClr val="tx1"/>
                          </a:solidFill>
                        </a:rPr>
                        <a:t>50</a:t>
                      </a:r>
                      <a:r>
                        <a:rPr kumimoji="1" lang="ja-JP" altLang="en-US" sz="1400" dirty="0">
                          <a:solidFill>
                            <a:schemeClr val="tx1"/>
                          </a:solidFill>
                        </a:rPr>
                        <a:t>～</a:t>
                      </a:r>
                      <a:r>
                        <a:rPr kumimoji="1" lang="en-US" altLang="ja-JP" sz="1400" dirty="0">
                          <a:solidFill>
                            <a:schemeClr val="tx1"/>
                          </a:solidFill>
                        </a:rPr>
                        <a:t>60</a:t>
                      </a:r>
                      <a:endParaRPr kumimoji="1" lang="ja-JP" altLang="en-US" sz="1400" dirty="0">
                        <a:solidFill>
                          <a:schemeClr val="tx1"/>
                        </a:solidFill>
                      </a:endParaRPr>
                    </a:p>
                  </a:txBody>
                  <a:tcPr marL="91451" marR="91451" marT="45715" marB="45715" anchor="ctr">
                    <a:lnR w="12700" cap="flat" cmpd="sng" algn="ctr">
                      <a:solidFill>
                        <a:schemeClr val="bg1"/>
                      </a:solidFill>
                      <a:prstDash val="solid"/>
                      <a:round/>
                      <a:headEnd type="none" w="med" len="med"/>
                      <a:tailEnd type="none" w="med" len="med"/>
                    </a:lnR>
                  </a:tcPr>
                </a:tc>
                <a:tc>
                  <a:txBody>
                    <a:bodyPr/>
                    <a:lstStyle/>
                    <a:p>
                      <a:pPr algn="ctr"/>
                      <a:endParaRPr kumimoji="1" lang="ja-JP" altLang="en-US" sz="1400" dirty="0">
                        <a:solidFill>
                          <a:schemeClr val="tx1"/>
                        </a:solidFill>
                      </a:endParaRPr>
                    </a:p>
                  </a:txBody>
                  <a:tcPr marL="91451" marR="91451" marT="45715" marB="45715"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12"/>
                  </a:ext>
                </a:extLst>
              </a:tr>
            </a:tbl>
          </a:graphicData>
        </a:graphic>
      </p:graphicFrame>
      <p:sp>
        <p:nvSpPr>
          <p:cNvPr id="4" name="角丸四角形 10">
            <a:extLst>
              <a:ext uri="{FF2B5EF4-FFF2-40B4-BE49-F238E27FC236}">
                <a16:creationId xmlns:a16="http://schemas.microsoft.com/office/drawing/2014/main" id="{1FE5C90E-F5AE-4C0B-B0E4-7E2B84B64B86}"/>
              </a:ext>
            </a:extLst>
          </p:cNvPr>
          <p:cNvSpPr/>
          <p:nvPr/>
        </p:nvSpPr>
        <p:spPr>
          <a:xfrm>
            <a:off x="173105" y="762851"/>
            <a:ext cx="8670221" cy="383619"/>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r>
              <a:rPr kumimoji="1" lang="ja-JP" altLang="en-US" dirty="0">
                <a:latin typeface="メイリオ" panose="020B0604030504040204" pitchFamily="50" charset="-128"/>
                <a:ea typeface="メイリオ" panose="020B0604030504040204" pitchFamily="50" charset="-128"/>
                <a:cs typeface="メイリオ" panose="020B0604030504040204" pitchFamily="50" charset="-128"/>
              </a:rPr>
              <a:t>個別機器の冠水対策（冠水した機器の嵩上げ等）は、順次実行中。</a:t>
            </a:r>
            <a:endParaRPr kumimoji="1"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5155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2"/>
          <p:cNvSpPr>
            <a:spLocks noGrp="1" noChangeArrowheads="1"/>
          </p:cNvSpPr>
          <p:nvPr/>
        </p:nvSpPr>
        <p:spPr bwMode="auto">
          <a:xfrm>
            <a:off x="0" y="19050"/>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参考</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3-</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１　　</a:t>
            </a:r>
            <a:r>
              <a:rPr lang="ja-JP" altLang="en-US" sz="2400" b="1" dirty="0">
                <a:solidFill>
                  <a:schemeClr val="tx2"/>
                </a:solidFill>
                <a:latin typeface="Meiryo UI" pitchFamily="50" charset="-128"/>
                <a:ea typeface="Meiryo UI" pitchFamily="50" charset="-128"/>
                <a:cs typeface="Meiryo UI" pitchFamily="50" charset="-128"/>
              </a:rPr>
              <a:t>岸壁高さの不足</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a:t>
            </a:r>
          </a:p>
        </p:txBody>
      </p:sp>
      <p:grpSp>
        <p:nvGrpSpPr>
          <p:cNvPr id="6" name="グループ化 5">
            <a:extLst>
              <a:ext uri="{FF2B5EF4-FFF2-40B4-BE49-F238E27FC236}">
                <a16:creationId xmlns:a16="http://schemas.microsoft.com/office/drawing/2014/main" id="{A125D002-FCB4-4EAB-B695-14148A4566DF}"/>
              </a:ext>
            </a:extLst>
          </p:cNvPr>
          <p:cNvGrpSpPr/>
          <p:nvPr/>
        </p:nvGrpSpPr>
        <p:grpSpPr>
          <a:xfrm>
            <a:off x="5804943" y="2803197"/>
            <a:ext cx="3022260" cy="3508764"/>
            <a:chOff x="425036" y="633478"/>
            <a:chExt cx="2880554" cy="3617847"/>
          </a:xfrm>
        </p:grpSpPr>
        <p:pic>
          <p:nvPicPr>
            <p:cNvPr id="7" name="Picture 2">
              <a:extLst>
                <a:ext uri="{FF2B5EF4-FFF2-40B4-BE49-F238E27FC236}">
                  <a16:creationId xmlns:a16="http://schemas.microsoft.com/office/drawing/2014/main" id="{18192EF9-5EFC-430F-B82E-95B1109778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8334" r="38776"/>
            <a:stretch>
              <a:fillRect/>
            </a:stretch>
          </p:blipFill>
          <p:spPr bwMode="auto">
            <a:xfrm>
              <a:off x="1125952" y="728663"/>
              <a:ext cx="2179638" cy="3522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テキスト ボックス 11">
              <a:extLst>
                <a:ext uri="{FF2B5EF4-FFF2-40B4-BE49-F238E27FC236}">
                  <a16:creationId xmlns:a16="http://schemas.microsoft.com/office/drawing/2014/main" id="{E405EA9F-2F14-404E-A43C-F7AF5268E079}"/>
                </a:ext>
              </a:extLst>
            </p:cNvPr>
            <p:cNvSpPr txBox="1">
              <a:spLocks noChangeArrowheads="1"/>
            </p:cNvSpPr>
            <p:nvPr/>
          </p:nvSpPr>
          <p:spPr bwMode="auto">
            <a:xfrm rot="16200000">
              <a:off x="-431919" y="2135660"/>
              <a:ext cx="2000479" cy="2865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神戸港 有義波高さ</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(m)</a:t>
              </a:r>
            </a:p>
          </p:txBody>
        </p:sp>
        <p:sp>
          <p:nvSpPr>
            <p:cNvPr id="9" name="テキスト ボックス 11">
              <a:extLst>
                <a:ext uri="{FF2B5EF4-FFF2-40B4-BE49-F238E27FC236}">
                  <a16:creationId xmlns:a16="http://schemas.microsoft.com/office/drawing/2014/main" id="{14201B5C-4C2C-408E-9746-82182F098F0C}"/>
                </a:ext>
              </a:extLst>
            </p:cNvPr>
            <p:cNvSpPr txBox="1">
              <a:spLocks noChangeArrowheads="1"/>
            </p:cNvSpPr>
            <p:nvPr/>
          </p:nvSpPr>
          <p:spPr bwMode="auto">
            <a:xfrm>
              <a:off x="826988" y="633478"/>
              <a:ext cx="437722" cy="278281"/>
            </a:xfrm>
            <a:prstGeom prst="rect">
              <a:avLst/>
            </a:prstGeom>
            <a:noFill/>
            <a:ln>
              <a:noFill/>
            </a:ln>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5m</a:t>
              </a:r>
            </a:p>
          </p:txBody>
        </p:sp>
        <p:sp>
          <p:nvSpPr>
            <p:cNvPr id="10" name="正方形/長方形 14">
              <a:extLst>
                <a:ext uri="{FF2B5EF4-FFF2-40B4-BE49-F238E27FC236}">
                  <a16:creationId xmlns:a16="http://schemas.microsoft.com/office/drawing/2014/main" id="{F3BE22C0-955E-4F95-898C-6621ACB3F995}"/>
                </a:ext>
              </a:extLst>
            </p:cNvPr>
            <p:cNvSpPr>
              <a:spLocks noChangeArrowheads="1"/>
            </p:cNvSpPr>
            <p:nvPr/>
          </p:nvSpPr>
          <p:spPr bwMode="auto">
            <a:xfrm>
              <a:off x="1106408" y="3854369"/>
              <a:ext cx="622416" cy="2782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HG丸ｺﾞｼｯｸM-PRO" pitchFamily="50" charset="-128"/>
                  <a:ea typeface="HG丸ｺﾞｼｯｸM-PRO" pitchFamily="50" charset="-128"/>
                </a:rPr>
                <a:t>8/23</a:t>
              </a:r>
              <a:endParaRPr lang="ja-JP" altLang="en-US" sz="1200" dirty="0">
                <a:latin typeface="HG丸ｺﾞｼｯｸM-PRO" pitchFamily="50" charset="-128"/>
                <a:ea typeface="HG丸ｺﾞｼｯｸM-PRO" pitchFamily="50" charset="-128"/>
              </a:endParaRPr>
            </a:p>
          </p:txBody>
        </p:sp>
        <p:sp>
          <p:nvSpPr>
            <p:cNvPr id="11" name="正方形/長方形 15">
              <a:extLst>
                <a:ext uri="{FF2B5EF4-FFF2-40B4-BE49-F238E27FC236}">
                  <a16:creationId xmlns:a16="http://schemas.microsoft.com/office/drawing/2014/main" id="{548381FC-7F1E-4F6C-84A4-B5FA139938A9}"/>
                </a:ext>
              </a:extLst>
            </p:cNvPr>
            <p:cNvSpPr>
              <a:spLocks noChangeArrowheads="1"/>
            </p:cNvSpPr>
            <p:nvPr/>
          </p:nvSpPr>
          <p:spPr bwMode="auto">
            <a:xfrm>
              <a:off x="2066994" y="3870196"/>
              <a:ext cx="622416" cy="2782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HG丸ｺﾞｼｯｸM-PRO" pitchFamily="50" charset="-128"/>
                  <a:ea typeface="HG丸ｺﾞｼｯｸM-PRO" pitchFamily="50" charset="-128"/>
                </a:rPr>
                <a:t>8/24</a:t>
              </a:r>
              <a:endParaRPr lang="ja-JP" altLang="en-US" sz="1200" dirty="0">
                <a:latin typeface="HG丸ｺﾞｼｯｸM-PRO" pitchFamily="50" charset="-128"/>
                <a:ea typeface="HG丸ｺﾞｼｯｸM-PRO" pitchFamily="50" charset="-128"/>
              </a:endParaRPr>
            </a:p>
          </p:txBody>
        </p:sp>
        <p:sp>
          <p:nvSpPr>
            <p:cNvPr id="12" name="テキスト ボックス 11">
              <a:extLst>
                <a:ext uri="{FF2B5EF4-FFF2-40B4-BE49-F238E27FC236}">
                  <a16:creationId xmlns:a16="http://schemas.microsoft.com/office/drawing/2014/main" id="{B3A2A8D2-0D8E-48E3-AD7F-C113300A213F}"/>
                </a:ext>
              </a:extLst>
            </p:cNvPr>
            <p:cNvSpPr txBox="1">
              <a:spLocks noChangeArrowheads="1"/>
            </p:cNvSpPr>
            <p:nvPr/>
          </p:nvSpPr>
          <p:spPr bwMode="auto">
            <a:xfrm>
              <a:off x="802950" y="1227155"/>
              <a:ext cx="437722" cy="278281"/>
            </a:xfrm>
            <a:prstGeom prst="rect">
              <a:avLst/>
            </a:prstGeom>
            <a:noFill/>
            <a:ln>
              <a:noFill/>
            </a:ln>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4m</a:t>
              </a:r>
            </a:p>
          </p:txBody>
        </p:sp>
        <p:sp>
          <p:nvSpPr>
            <p:cNvPr id="13" name="テキスト ボックス 11">
              <a:extLst>
                <a:ext uri="{FF2B5EF4-FFF2-40B4-BE49-F238E27FC236}">
                  <a16:creationId xmlns:a16="http://schemas.microsoft.com/office/drawing/2014/main" id="{CD542D77-F604-4F4C-BE08-5928AE72D719}"/>
                </a:ext>
              </a:extLst>
            </p:cNvPr>
            <p:cNvSpPr txBox="1">
              <a:spLocks noChangeArrowheads="1"/>
            </p:cNvSpPr>
            <p:nvPr/>
          </p:nvSpPr>
          <p:spPr bwMode="auto">
            <a:xfrm>
              <a:off x="818386" y="1800361"/>
              <a:ext cx="437722" cy="278281"/>
            </a:xfrm>
            <a:prstGeom prst="rect">
              <a:avLst/>
            </a:prstGeom>
            <a:noFill/>
            <a:ln>
              <a:noFill/>
            </a:ln>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3m</a:t>
              </a:r>
            </a:p>
          </p:txBody>
        </p:sp>
        <p:sp>
          <p:nvSpPr>
            <p:cNvPr id="14" name="テキスト ボックス 11">
              <a:extLst>
                <a:ext uri="{FF2B5EF4-FFF2-40B4-BE49-F238E27FC236}">
                  <a16:creationId xmlns:a16="http://schemas.microsoft.com/office/drawing/2014/main" id="{99F41149-0F18-4F36-9B3C-1F10DD5309C3}"/>
                </a:ext>
              </a:extLst>
            </p:cNvPr>
            <p:cNvSpPr txBox="1">
              <a:spLocks noChangeArrowheads="1"/>
            </p:cNvSpPr>
            <p:nvPr/>
          </p:nvSpPr>
          <p:spPr bwMode="auto">
            <a:xfrm>
              <a:off x="818386" y="2370437"/>
              <a:ext cx="437722" cy="278281"/>
            </a:xfrm>
            <a:prstGeom prst="rect">
              <a:avLst/>
            </a:prstGeom>
            <a:noFill/>
            <a:ln>
              <a:noFill/>
            </a:ln>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2m</a:t>
              </a:r>
            </a:p>
          </p:txBody>
        </p:sp>
        <p:sp>
          <p:nvSpPr>
            <p:cNvPr id="15" name="テキスト ボックス 11">
              <a:extLst>
                <a:ext uri="{FF2B5EF4-FFF2-40B4-BE49-F238E27FC236}">
                  <a16:creationId xmlns:a16="http://schemas.microsoft.com/office/drawing/2014/main" id="{75CC5E75-4997-4D6F-836B-D55EDC9EF87C}"/>
                </a:ext>
              </a:extLst>
            </p:cNvPr>
            <p:cNvSpPr txBox="1">
              <a:spLocks noChangeArrowheads="1"/>
            </p:cNvSpPr>
            <p:nvPr/>
          </p:nvSpPr>
          <p:spPr bwMode="auto">
            <a:xfrm>
              <a:off x="818386" y="2970939"/>
              <a:ext cx="437722" cy="278281"/>
            </a:xfrm>
            <a:prstGeom prst="rect">
              <a:avLst/>
            </a:prstGeom>
            <a:noFill/>
            <a:ln>
              <a:noFill/>
            </a:ln>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1m</a:t>
              </a:r>
            </a:p>
          </p:txBody>
        </p:sp>
      </p:grpSp>
      <p:grpSp>
        <p:nvGrpSpPr>
          <p:cNvPr id="16" name="グループ化 15">
            <a:extLst>
              <a:ext uri="{FF2B5EF4-FFF2-40B4-BE49-F238E27FC236}">
                <a16:creationId xmlns:a16="http://schemas.microsoft.com/office/drawing/2014/main" id="{813CABCE-69E6-42C2-BF63-9DBFE4357FB2}"/>
              </a:ext>
            </a:extLst>
          </p:cNvPr>
          <p:cNvGrpSpPr/>
          <p:nvPr/>
        </p:nvGrpSpPr>
        <p:grpSpPr>
          <a:xfrm>
            <a:off x="71734" y="2545581"/>
            <a:ext cx="5323785" cy="3951163"/>
            <a:chOff x="2938485" y="1178543"/>
            <a:chExt cx="5818800" cy="3106670"/>
          </a:xfrm>
        </p:grpSpPr>
        <p:sp>
          <p:nvSpPr>
            <p:cNvPr id="17" name="Rectangle 6">
              <a:extLst>
                <a:ext uri="{FF2B5EF4-FFF2-40B4-BE49-F238E27FC236}">
                  <a16:creationId xmlns:a16="http://schemas.microsoft.com/office/drawing/2014/main" id="{64FFD021-11E5-421F-8F60-3584B93C041A}"/>
                </a:ext>
              </a:extLst>
            </p:cNvPr>
            <p:cNvSpPr>
              <a:spLocks noChangeArrowheads="1"/>
            </p:cNvSpPr>
            <p:nvPr/>
          </p:nvSpPr>
          <p:spPr bwMode="auto">
            <a:xfrm>
              <a:off x="3267913" y="1178543"/>
              <a:ext cx="2670128" cy="38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16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南海トラフ地震津波</a:t>
              </a:r>
              <a:r>
                <a:rPr kumimoji="1" lang="ja-JP"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の想定】</a:t>
              </a:r>
              <a:endParaRPr kumimoji="1" lang="en-US"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lang="ja-JP" altLang="en-US" sz="16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（レベル</a:t>
              </a:r>
              <a:r>
                <a:rPr lang="en-US" altLang="ja-JP" sz="16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16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ja-JP"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Rectangle 8">
              <a:extLst>
                <a:ext uri="{FF2B5EF4-FFF2-40B4-BE49-F238E27FC236}">
                  <a16:creationId xmlns:a16="http://schemas.microsoft.com/office/drawing/2014/main" id="{8A646AC9-88CC-4D34-9061-DA7E021D262B}"/>
                </a:ext>
              </a:extLst>
            </p:cNvPr>
            <p:cNvSpPr>
              <a:spLocks noChangeArrowheads="1"/>
            </p:cNvSpPr>
            <p:nvPr/>
          </p:nvSpPr>
          <p:spPr bwMode="auto">
            <a:xfrm>
              <a:off x="2938485" y="1973658"/>
              <a:ext cx="2766186"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岸壁高さ</a:t>
              </a:r>
              <a:r>
                <a:rPr lang="ja-JP" altLang="en-US"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KP+5.70m</a:t>
              </a: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Rectangle 11">
              <a:extLst>
                <a:ext uri="{FF2B5EF4-FFF2-40B4-BE49-F238E27FC236}">
                  <a16:creationId xmlns:a16="http://schemas.microsoft.com/office/drawing/2014/main" id="{88D72176-9714-4A72-828E-E3DB462F95F3}"/>
                </a:ext>
              </a:extLst>
            </p:cNvPr>
            <p:cNvSpPr>
              <a:spLocks noChangeArrowheads="1"/>
            </p:cNvSpPr>
            <p:nvPr/>
          </p:nvSpPr>
          <p:spPr bwMode="auto">
            <a:xfrm>
              <a:off x="3131723" y="3745828"/>
              <a:ext cx="2365272" cy="23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満潮時の潮位 　KP+1.70m</a:t>
              </a: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Rectangle 12">
              <a:extLst>
                <a:ext uri="{FF2B5EF4-FFF2-40B4-BE49-F238E27FC236}">
                  <a16:creationId xmlns:a16="http://schemas.microsoft.com/office/drawing/2014/main" id="{55EDD89C-35FE-43A9-8FD4-87F63AF089D3}"/>
                </a:ext>
              </a:extLst>
            </p:cNvPr>
            <p:cNvSpPr>
              <a:spLocks noChangeArrowheads="1"/>
            </p:cNvSpPr>
            <p:nvPr/>
          </p:nvSpPr>
          <p:spPr bwMode="auto">
            <a:xfrm>
              <a:off x="3051958"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Rectangle 13">
              <a:extLst>
                <a:ext uri="{FF2B5EF4-FFF2-40B4-BE49-F238E27FC236}">
                  <a16:creationId xmlns:a16="http://schemas.microsoft.com/office/drawing/2014/main" id="{2A14C041-6EBD-46B8-8BB8-3E138241151C}"/>
                </a:ext>
              </a:extLst>
            </p:cNvPr>
            <p:cNvSpPr>
              <a:spLocks noChangeArrowheads="1"/>
            </p:cNvSpPr>
            <p:nvPr/>
          </p:nvSpPr>
          <p:spPr bwMode="auto">
            <a:xfrm>
              <a:off x="3744108"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Rectangle 14">
              <a:extLst>
                <a:ext uri="{FF2B5EF4-FFF2-40B4-BE49-F238E27FC236}">
                  <a16:creationId xmlns:a16="http://schemas.microsoft.com/office/drawing/2014/main" id="{7DA84184-9F10-4C3F-88AF-85E8244AF97E}"/>
                </a:ext>
              </a:extLst>
            </p:cNvPr>
            <p:cNvSpPr>
              <a:spLocks noChangeArrowheads="1"/>
            </p:cNvSpPr>
            <p:nvPr/>
          </p:nvSpPr>
          <p:spPr bwMode="auto">
            <a:xfrm>
              <a:off x="4436258"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Rectangle 15">
              <a:extLst>
                <a:ext uri="{FF2B5EF4-FFF2-40B4-BE49-F238E27FC236}">
                  <a16:creationId xmlns:a16="http://schemas.microsoft.com/office/drawing/2014/main" id="{3505395E-AD5E-49A8-B581-632D132A733C}"/>
                </a:ext>
              </a:extLst>
            </p:cNvPr>
            <p:cNvSpPr>
              <a:spLocks noChangeArrowheads="1"/>
            </p:cNvSpPr>
            <p:nvPr/>
          </p:nvSpPr>
          <p:spPr bwMode="auto">
            <a:xfrm>
              <a:off x="5128408"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Rectangle 16">
              <a:extLst>
                <a:ext uri="{FF2B5EF4-FFF2-40B4-BE49-F238E27FC236}">
                  <a16:creationId xmlns:a16="http://schemas.microsoft.com/office/drawing/2014/main" id="{99889D17-413D-47F6-8761-B141676C68D2}"/>
                </a:ext>
              </a:extLst>
            </p:cNvPr>
            <p:cNvSpPr>
              <a:spLocks noChangeArrowheads="1"/>
            </p:cNvSpPr>
            <p:nvPr/>
          </p:nvSpPr>
          <p:spPr bwMode="auto">
            <a:xfrm>
              <a:off x="5695146"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Rectangle 17">
              <a:extLst>
                <a:ext uri="{FF2B5EF4-FFF2-40B4-BE49-F238E27FC236}">
                  <a16:creationId xmlns:a16="http://schemas.microsoft.com/office/drawing/2014/main" id="{8E9733F8-E68A-4B23-B22C-B0F443B039E4}"/>
                </a:ext>
              </a:extLst>
            </p:cNvPr>
            <p:cNvSpPr>
              <a:spLocks noChangeArrowheads="1"/>
            </p:cNvSpPr>
            <p:nvPr/>
          </p:nvSpPr>
          <p:spPr bwMode="auto">
            <a:xfrm>
              <a:off x="6387296"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Rectangle 18">
              <a:extLst>
                <a:ext uri="{FF2B5EF4-FFF2-40B4-BE49-F238E27FC236}">
                  <a16:creationId xmlns:a16="http://schemas.microsoft.com/office/drawing/2014/main" id="{E8DD2332-AB92-46E2-A3EC-65D737F28943}"/>
                </a:ext>
              </a:extLst>
            </p:cNvPr>
            <p:cNvSpPr>
              <a:spLocks noChangeArrowheads="1"/>
            </p:cNvSpPr>
            <p:nvPr/>
          </p:nvSpPr>
          <p:spPr bwMode="auto">
            <a:xfrm>
              <a:off x="6636533" y="1326113"/>
              <a:ext cx="9525" cy="1588"/>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Line 28">
              <a:extLst>
                <a:ext uri="{FF2B5EF4-FFF2-40B4-BE49-F238E27FC236}">
                  <a16:creationId xmlns:a16="http://schemas.microsoft.com/office/drawing/2014/main" id="{BD7A779A-7405-4BA9-930C-710474F1E2B7}"/>
                </a:ext>
              </a:extLst>
            </p:cNvPr>
            <p:cNvSpPr>
              <a:spLocks noChangeShapeType="1"/>
            </p:cNvSpPr>
            <p:nvPr/>
          </p:nvSpPr>
          <p:spPr bwMode="auto">
            <a:xfrm>
              <a:off x="5704671" y="2191301"/>
              <a:ext cx="37973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Line 39">
              <a:extLst>
                <a:ext uri="{FF2B5EF4-FFF2-40B4-BE49-F238E27FC236}">
                  <a16:creationId xmlns:a16="http://schemas.microsoft.com/office/drawing/2014/main" id="{8FB741A5-7E13-4C5B-AFDE-329DFC220981}"/>
                </a:ext>
              </a:extLst>
            </p:cNvPr>
            <p:cNvSpPr>
              <a:spLocks noChangeShapeType="1"/>
            </p:cNvSpPr>
            <p:nvPr/>
          </p:nvSpPr>
          <p:spPr bwMode="auto">
            <a:xfrm>
              <a:off x="5695146" y="2191301"/>
              <a:ext cx="0" cy="208438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Rectangle 40">
              <a:extLst>
                <a:ext uri="{FF2B5EF4-FFF2-40B4-BE49-F238E27FC236}">
                  <a16:creationId xmlns:a16="http://schemas.microsoft.com/office/drawing/2014/main" id="{EF8D96CB-5680-40FF-ABF2-93A6816A26E0}"/>
                </a:ext>
              </a:extLst>
            </p:cNvPr>
            <p:cNvSpPr>
              <a:spLocks noChangeArrowheads="1"/>
            </p:cNvSpPr>
            <p:nvPr/>
          </p:nvSpPr>
          <p:spPr bwMode="auto">
            <a:xfrm>
              <a:off x="5695146" y="2191301"/>
              <a:ext cx="9525" cy="20843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Line 41">
              <a:extLst>
                <a:ext uri="{FF2B5EF4-FFF2-40B4-BE49-F238E27FC236}">
                  <a16:creationId xmlns:a16="http://schemas.microsoft.com/office/drawing/2014/main" id="{A29CE824-6BFE-43ED-8BD1-701F5DD6F61F}"/>
                </a:ext>
              </a:extLst>
            </p:cNvPr>
            <p:cNvSpPr>
              <a:spLocks noChangeShapeType="1"/>
            </p:cNvSpPr>
            <p:nvPr/>
          </p:nvSpPr>
          <p:spPr bwMode="auto">
            <a:xfrm>
              <a:off x="3051958"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Rectangle 42">
              <a:extLst>
                <a:ext uri="{FF2B5EF4-FFF2-40B4-BE49-F238E27FC236}">
                  <a16:creationId xmlns:a16="http://schemas.microsoft.com/office/drawing/2014/main" id="{5002444D-D151-4E47-BA03-335ADD6558B9}"/>
                </a:ext>
              </a:extLst>
            </p:cNvPr>
            <p:cNvSpPr>
              <a:spLocks noChangeArrowheads="1"/>
            </p:cNvSpPr>
            <p:nvPr/>
          </p:nvSpPr>
          <p:spPr bwMode="auto">
            <a:xfrm>
              <a:off x="3051958"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Line 43">
              <a:extLst>
                <a:ext uri="{FF2B5EF4-FFF2-40B4-BE49-F238E27FC236}">
                  <a16:creationId xmlns:a16="http://schemas.microsoft.com/office/drawing/2014/main" id="{E0D2B157-9C04-4839-A551-14C5E12DD823}"/>
                </a:ext>
              </a:extLst>
            </p:cNvPr>
            <p:cNvSpPr>
              <a:spLocks noChangeShapeType="1"/>
            </p:cNvSpPr>
            <p:nvPr/>
          </p:nvSpPr>
          <p:spPr bwMode="auto">
            <a:xfrm>
              <a:off x="3744108"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Rectangle 44">
              <a:extLst>
                <a:ext uri="{FF2B5EF4-FFF2-40B4-BE49-F238E27FC236}">
                  <a16:creationId xmlns:a16="http://schemas.microsoft.com/office/drawing/2014/main" id="{3DF74824-549D-4B1E-BA69-CFA36EBEF60A}"/>
                </a:ext>
              </a:extLst>
            </p:cNvPr>
            <p:cNvSpPr>
              <a:spLocks noChangeArrowheads="1"/>
            </p:cNvSpPr>
            <p:nvPr/>
          </p:nvSpPr>
          <p:spPr bwMode="auto">
            <a:xfrm>
              <a:off x="3744108"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Line 45">
              <a:extLst>
                <a:ext uri="{FF2B5EF4-FFF2-40B4-BE49-F238E27FC236}">
                  <a16:creationId xmlns:a16="http://schemas.microsoft.com/office/drawing/2014/main" id="{7BD5732F-9E5B-4686-B391-B5E37F4CC45E}"/>
                </a:ext>
              </a:extLst>
            </p:cNvPr>
            <p:cNvSpPr>
              <a:spLocks noChangeShapeType="1"/>
            </p:cNvSpPr>
            <p:nvPr/>
          </p:nvSpPr>
          <p:spPr bwMode="auto">
            <a:xfrm>
              <a:off x="4436258"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Rectangle 46">
              <a:extLst>
                <a:ext uri="{FF2B5EF4-FFF2-40B4-BE49-F238E27FC236}">
                  <a16:creationId xmlns:a16="http://schemas.microsoft.com/office/drawing/2014/main" id="{5B06FCA0-E19D-4D41-AD9F-3ACE856EB9DB}"/>
                </a:ext>
              </a:extLst>
            </p:cNvPr>
            <p:cNvSpPr>
              <a:spLocks noChangeArrowheads="1"/>
            </p:cNvSpPr>
            <p:nvPr/>
          </p:nvSpPr>
          <p:spPr bwMode="auto">
            <a:xfrm>
              <a:off x="4436258"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Line 47">
              <a:extLst>
                <a:ext uri="{FF2B5EF4-FFF2-40B4-BE49-F238E27FC236}">
                  <a16:creationId xmlns:a16="http://schemas.microsoft.com/office/drawing/2014/main" id="{E04C09A1-03A3-4F7B-A111-B7E61E813D1D}"/>
                </a:ext>
              </a:extLst>
            </p:cNvPr>
            <p:cNvSpPr>
              <a:spLocks noChangeShapeType="1"/>
            </p:cNvSpPr>
            <p:nvPr/>
          </p:nvSpPr>
          <p:spPr bwMode="auto">
            <a:xfrm>
              <a:off x="5128408"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Rectangle 48">
              <a:extLst>
                <a:ext uri="{FF2B5EF4-FFF2-40B4-BE49-F238E27FC236}">
                  <a16:creationId xmlns:a16="http://schemas.microsoft.com/office/drawing/2014/main" id="{326345B6-3E6F-4665-90D0-815909C36C3C}"/>
                </a:ext>
              </a:extLst>
            </p:cNvPr>
            <p:cNvSpPr>
              <a:spLocks noChangeArrowheads="1"/>
            </p:cNvSpPr>
            <p:nvPr/>
          </p:nvSpPr>
          <p:spPr bwMode="auto">
            <a:xfrm>
              <a:off x="5128408"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Line 49">
              <a:extLst>
                <a:ext uri="{FF2B5EF4-FFF2-40B4-BE49-F238E27FC236}">
                  <a16:creationId xmlns:a16="http://schemas.microsoft.com/office/drawing/2014/main" id="{12F94CA6-EDD9-4470-B2E6-4ABA9A13A0B6}"/>
                </a:ext>
              </a:extLst>
            </p:cNvPr>
            <p:cNvSpPr>
              <a:spLocks noChangeShapeType="1"/>
            </p:cNvSpPr>
            <p:nvPr/>
          </p:nvSpPr>
          <p:spPr bwMode="auto">
            <a:xfrm>
              <a:off x="5695146"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Rectangle 50">
              <a:extLst>
                <a:ext uri="{FF2B5EF4-FFF2-40B4-BE49-F238E27FC236}">
                  <a16:creationId xmlns:a16="http://schemas.microsoft.com/office/drawing/2014/main" id="{F713EC0C-E841-491F-B019-346B6671E9B8}"/>
                </a:ext>
              </a:extLst>
            </p:cNvPr>
            <p:cNvSpPr>
              <a:spLocks noChangeArrowheads="1"/>
            </p:cNvSpPr>
            <p:nvPr/>
          </p:nvSpPr>
          <p:spPr bwMode="auto">
            <a:xfrm>
              <a:off x="5695146"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Line 51">
              <a:extLst>
                <a:ext uri="{FF2B5EF4-FFF2-40B4-BE49-F238E27FC236}">
                  <a16:creationId xmlns:a16="http://schemas.microsoft.com/office/drawing/2014/main" id="{A2E07E39-A35B-42E9-A349-1F146E5CACDC}"/>
                </a:ext>
              </a:extLst>
            </p:cNvPr>
            <p:cNvSpPr>
              <a:spLocks noChangeShapeType="1"/>
            </p:cNvSpPr>
            <p:nvPr/>
          </p:nvSpPr>
          <p:spPr bwMode="auto">
            <a:xfrm>
              <a:off x="6387296"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Rectangle 52">
              <a:extLst>
                <a:ext uri="{FF2B5EF4-FFF2-40B4-BE49-F238E27FC236}">
                  <a16:creationId xmlns:a16="http://schemas.microsoft.com/office/drawing/2014/main" id="{D56D3D09-92EE-4148-9B61-761345D3B398}"/>
                </a:ext>
              </a:extLst>
            </p:cNvPr>
            <p:cNvSpPr>
              <a:spLocks noChangeArrowheads="1"/>
            </p:cNvSpPr>
            <p:nvPr/>
          </p:nvSpPr>
          <p:spPr bwMode="auto">
            <a:xfrm>
              <a:off x="6387296"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Line 53">
              <a:extLst>
                <a:ext uri="{FF2B5EF4-FFF2-40B4-BE49-F238E27FC236}">
                  <a16:creationId xmlns:a16="http://schemas.microsoft.com/office/drawing/2014/main" id="{9CADFCDC-CF98-48F4-A476-708FD79C502F}"/>
                </a:ext>
              </a:extLst>
            </p:cNvPr>
            <p:cNvSpPr>
              <a:spLocks noChangeShapeType="1"/>
            </p:cNvSpPr>
            <p:nvPr/>
          </p:nvSpPr>
          <p:spPr bwMode="auto">
            <a:xfrm>
              <a:off x="6636533" y="4275688"/>
              <a:ext cx="1588" cy="1588"/>
            </a:xfrm>
            <a:prstGeom prst="line">
              <a:avLst/>
            </a:prstGeom>
            <a:noFill/>
            <a:ln w="0">
              <a:solidFill>
                <a:srgbClr val="DADCD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Rectangle 54">
              <a:extLst>
                <a:ext uri="{FF2B5EF4-FFF2-40B4-BE49-F238E27FC236}">
                  <a16:creationId xmlns:a16="http://schemas.microsoft.com/office/drawing/2014/main" id="{FE972A66-C7AE-4562-8917-8FB039FF6E0F}"/>
                </a:ext>
              </a:extLst>
            </p:cNvPr>
            <p:cNvSpPr>
              <a:spLocks noChangeArrowheads="1"/>
            </p:cNvSpPr>
            <p:nvPr/>
          </p:nvSpPr>
          <p:spPr bwMode="auto">
            <a:xfrm>
              <a:off x="6636533" y="4275688"/>
              <a:ext cx="9525" cy="9525"/>
            </a:xfrm>
            <a:prstGeom prst="rect">
              <a:avLst/>
            </a:prstGeom>
            <a:solidFill>
              <a:srgbClr val="DADC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Freeform 61">
              <a:extLst>
                <a:ext uri="{FF2B5EF4-FFF2-40B4-BE49-F238E27FC236}">
                  <a16:creationId xmlns:a16="http://schemas.microsoft.com/office/drawing/2014/main" id="{AA79BCCD-4A2B-4A77-BA5B-C605FF2E23F7}"/>
                </a:ext>
              </a:extLst>
            </p:cNvPr>
            <p:cNvSpPr>
              <a:spLocks noEditPoints="1"/>
            </p:cNvSpPr>
            <p:nvPr/>
          </p:nvSpPr>
          <p:spPr bwMode="auto">
            <a:xfrm>
              <a:off x="5522108" y="2630429"/>
              <a:ext cx="77788" cy="1289659"/>
            </a:xfrm>
            <a:custGeom>
              <a:avLst/>
              <a:gdLst>
                <a:gd name="T0" fmla="*/ 27 w 49"/>
                <a:gd name="T1" fmla="*/ 813 h 853"/>
                <a:gd name="T2" fmla="*/ 27 w 49"/>
                <a:gd name="T3" fmla="*/ 40 h 853"/>
                <a:gd name="T4" fmla="*/ 21 w 49"/>
                <a:gd name="T5" fmla="*/ 40 h 853"/>
                <a:gd name="T6" fmla="*/ 21 w 49"/>
                <a:gd name="T7" fmla="*/ 813 h 853"/>
                <a:gd name="T8" fmla="*/ 27 w 49"/>
                <a:gd name="T9" fmla="*/ 813 h 853"/>
                <a:gd name="T10" fmla="*/ 0 w 49"/>
                <a:gd name="T11" fmla="*/ 805 h 853"/>
                <a:gd name="T12" fmla="*/ 24 w 49"/>
                <a:gd name="T13" fmla="*/ 853 h 853"/>
                <a:gd name="T14" fmla="*/ 49 w 49"/>
                <a:gd name="T15" fmla="*/ 805 h 853"/>
                <a:gd name="T16" fmla="*/ 0 w 49"/>
                <a:gd name="T17" fmla="*/ 805 h 853"/>
                <a:gd name="T18" fmla="*/ 49 w 49"/>
                <a:gd name="T19" fmla="*/ 49 h 853"/>
                <a:gd name="T20" fmla="*/ 24 w 49"/>
                <a:gd name="T21" fmla="*/ 0 h 853"/>
                <a:gd name="T22" fmla="*/ 0 w 49"/>
                <a:gd name="T23" fmla="*/ 49 h 853"/>
                <a:gd name="T24" fmla="*/ 49 w 49"/>
                <a:gd name="T25" fmla="*/ 49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853">
                  <a:moveTo>
                    <a:pt x="27" y="813"/>
                  </a:moveTo>
                  <a:lnTo>
                    <a:pt x="27" y="40"/>
                  </a:lnTo>
                  <a:lnTo>
                    <a:pt x="21" y="40"/>
                  </a:lnTo>
                  <a:lnTo>
                    <a:pt x="21" y="813"/>
                  </a:lnTo>
                  <a:lnTo>
                    <a:pt x="27" y="813"/>
                  </a:lnTo>
                  <a:close/>
                  <a:moveTo>
                    <a:pt x="0" y="805"/>
                  </a:moveTo>
                  <a:lnTo>
                    <a:pt x="24" y="853"/>
                  </a:lnTo>
                  <a:lnTo>
                    <a:pt x="49" y="805"/>
                  </a:lnTo>
                  <a:lnTo>
                    <a:pt x="0" y="805"/>
                  </a:lnTo>
                  <a:close/>
                  <a:moveTo>
                    <a:pt x="49" y="49"/>
                  </a:moveTo>
                  <a:lnTo>
                    <a:pt x="24" y="0"/>
                  </a:lnTo>
                  <a:lnTo>
                    <a:pt x="0" y="49"/>
                  </a:lnTo>
                  <a:lnTo>
                    <a:pt x="49" y="49"/>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45" name="グループ化 44">
              <a:extLst>
                <a:ext uri="{FF2B5EF4-FFF2-40B4-BE49-F238E27FC236}">
                  <a16:creationId xmlns:a16="http://schemas.microsoft.com/office/drawing/2014/main" id="{FC347F6F-05D8-46B0-8119-DCBB86910572}"/>
                </a:ext>
              </a:extLst>
            </p:cNvPr>
            <p:cNvGrpSpPr/>
            <p:nvPr/>
          </p:nvGrpSpPr>
          <p:grpSpPr>
            <a:xfrm>
              <a:off x="4045985" y="3043787"/>
              <a:ext cx="1690136" cy="185322"/>
              <a:chOff x="3499742" y="4154489"/>
              <a:chExt cx="1690136" cy="185322"/>
            </a:xfrm>
          </p:grpSpPr>
          <p:sp>
            <p:nvSpPr>
              <p:cNvPr id="70" name="Rectangle 62">
                <a:extLst>
                  <a:ext uri="{FF2B5EF4-FFF2-40B4-BE49-F238E27FC236}">
                    <a16:creationId xmlns:a16="http://schemas.microsoft.com/office/drawing/2014/main" id="{0CFE1F30-5308-4B58-B240-D732B3990B0B}"/>
                  </a:ext>
                </a:extLst>
              </p:cNvPr>
              <p:cNvSpPr>
                <a:spLocks noChangeArrowheads="1"/>
              </p:cNvSpPr>
              <p:nvPr/>
            </p:nvSpPr>
            <p:spPr bwMode="auto">
              <a:xfrm>
                <a:off x="3679335" y="4154489"/>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1" name="Rectangle 63">
                <a:extLst>
                  <a:ext uri="{FF2B5EF4-FFF2-40B4-BE49-F238E27FC236}">
                    <a16:creationId xmlns:a16="http://schemas.microsoft.com/office/drawing/2014/main" id="{62969191-40B5-4E77-BF45-19B91A0A8F19}"/>
                  </a:ext>
                </a:extLst>
              </p:cNvPr>
              <p:cNvSpPr>
                <a:spLocks noChangeArrowheads="1"/>
              </p:cNvSpPr>
              <p:nvPr/>
            </p:nvSpPr>
            <p:spPr bwMode="auto">
              <a:xfrm>
                <a:off x="3499742" y="4154489"/>
                <a:ext cx="1690136"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r>
                  <a:rPr lang="ja-JP" altLang="en-US"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津波高さ　</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2.4</a:t>
                </a:r>
                <a:r>
                  <a:rPr kumimoji="1" lang="en-US"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m</a:t>
                </a: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46" name="Freeform 69">
              <a:extLst>
                <a:ext uri="{FF2B5EF4-FFF2-40B4-BE49-F238E27FC236}">
                  <a16:creationId xmlns:a16="http://schemas.microsoft.com/office/drawing/2014/main" id="{3AD00C27-CB06-40AB-846C-91E33F92F4BD}"/>
                </a:ext>
              </a:extLst>
            </p:cNvPr>
            <p:cNvSpPr>
              <a:spLocks noEditPoints="1"/>
            </p:cNvSpPr>
            <p:nvPr/>
          </p:nvSpPr>
          <p:spPr bwMode="auto">
            <a:xfrm>
              <a:off x="5522108" y="2191300"/>
              <a:ext cx="77788" cy="414315"/>
            </a:xfrm>
            <a:custGeom>
              <a:avLst/>
              <a:gdLst>
                <a:gd name="T0" fmla="*/ 27 w 49"/>
                <a:gd name="T1" fmla="*/ 184 h 224"/>
                <a:gd name="T2" fmla="*/ 27 w 49"/>
                <a:gd name="T3" fmla="*/ 40 h 224"/>
                <a:gd name="T4" fmla="*/ 21 w 49"/>
                <a:gd name="T5" fmla="*/ 40 h 224"/>
                <a:gd name="T6" fmla="*/ 21 w 49"/>
                <a:gd name="T7" fmla="*/ 184 h 224"/>
                <a:gd name="T8" fmla="*/ 27 w 49"/>
                <a:gd name="T9" fmla="*/ 184 h 224"/>
                <a:gd name="T10" fmla="*/ 0 w 49"/>
                <a:gd name="T11" fmla="*/ 175 h 224"/>
                <a:gd name="T12" fmla="*/ 24 w 49"/>
                <a:gd name="T13" fmla="*/ 224 h 224"/>
                <a:gd name="T14" fmla="*/ 49 w 49"/>
                <a:gd name="T15" fmla="*/ 175 h 224"/>
                <a:gd name="T16" fmla="*/ 0 w 49"/>
                <a:gd name="T17" fmla="*/ 175 h 224"/>
                <a:gd name="T18" fmla="*/ 49 w 49"/>
                <a:gd name="T19" fmla="*/ 48 h 224"/>
                <a:gd name="T20" fmla="*/ 24 w 49"/>
                <a:gd name="T21" fmla="*/ 0 h 224"/>
                <a:gd name="T22" fmla="*/ 0 w 49"/>
                <a:gd name="T23" fmla="*/ 48 h 224"/>
                <a:gd name="T24" fmla="*/ 49 w 49"/>
                <a:gd name="T25" fmla="*/ 4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224">
                  <a:moveTo>
                    <a:pt x="27" y="184"/>
                  </a:moveTo>
                  <a:lnTo>
                    <a:pt x="27" y="40"/>
                  </a:lnTo>
                  <a:lnTo>
                    <a:pt x="21" y="40"/>
                  </a:lnTo>
                  <a:lnTo>
                    <a:pt x="21" y="184"/>
                  </a:lnTo>
                  <a:lnTo>
                    <a:pt x="27" y="184"/>
                  </a:lnTo>
                  <a:close/>
                  <a:moveTo>
                    <a:pt x="0" y="175"/>
                  </a:moveTo>
                  <a:lnTo>
                    <a:pt x="24" y="224"/>
                  </a:lnTo>
                  <a:lnTo>
                    <a:pt x="49" y="175"/>
                  </a:lnTo>
                  <a:lnTo>
                    <a:pt x="0" y="175"/>
                  </a:lnTo>
                  <a:close/>
                  <a:moveTo>
                    <a:pt x="49" y="48"/>
                  </a:moveTo>
                  <a:lnTo>
                    <a:pt x="24" y="0"/>
                  </a:lnTo>
                  <a:lnTo>
                    <a:pt x="0" y="48"/>
                  </a:lnTo>
                  <a:lnTo>
                    <a:pt x="49" y="48"/>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Rectangle 70">
              <a:extLst>
                <a:ext uri="{FF2B5EF4-FFF2-40B4-BE49-F238E27FC236}">
                  <a16:creationId xmlns:a16="http://schemas.microsoft.com/office/drawing/2014/main" id="{FCBB6ACB-D442-4BA7-BB0E-127384D43495}"/>
                </a:ext>
              </a:extLst>
            </p:cNvPr>
            <p:cNvSpPr>
              <a:spLocks noChangeArrowheads="1"/>
            </p:cNvSpPr>
            <p:nvPr/>
          </p:nvSpPr>
          <p:spPr bwMode="auto">
            <a:xfrm>
              <a:off x="4443577" y="2335215"/>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Rectangle 71">
              <a:extLst>
                <a:ext uri="{FF2B5EF4-FFF2-40B4-BE49-F238E27FC236}">
                  <a16:creationId xmlns:a16="http://schemas.microsoft.com/office/drawing/2014/main" id="{8E003C65-77DF-4B98-AC29-1395A1D6FA56}"/>
                </a:ext>
              </a:extLst>
            </p:cNvPr>
            <p:cNvSpPr>
              <a:spLocks noChangeArrowheads="1"/>
            </p:cNvSpPr>
            <p:nvPr/>
          </p:nvSpPr>
          <p:spPr bwMode="auto">
            <a:xfrm>
              <a:off x="3899368" y="2335215"/>
              <a:ext cx="1754810"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r>
                <a:rPr lang="ja-JP" altLang="ja-JP" sz="1400" b="1"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余裕代</a:t>
              </a:r>
              <a:r>
                <a:rPr kumimoji="1" lang="ja-JP" altLang="ja-JP" sz="1400" b="1" i="0" u="none" strike="noStrike" cap="none" normalizeH="0" baseline="0" dirty="0">
                  <a:ln>
                    <a:noFill/>
                  </a:ln>
                  <a:solidFill>
                    <a:srgbClr val="7030A0"/>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en-US" altLang="ja-JP" sz="1400" b="1" i="0" u="none" strike="noStrike" cap="none" normalizeH="0" baseline="0" dirty="0">
                  <a:ln>
                    <a:noFill/>
                  </a:ln>
                  <a:solidFill>
                    <a:srgbClr val="7030A0"/>
                  </a:solidFill>
                  <a:effectLst/>
                  <a:latin typeface="Meiryo UI" panose="020B0604030504040204" pitchFamily="50" charset="-128"/>
                  <a:ea typeface="Meiryo UI" panose="020B0604030504040204" pitchFamily="50" charset="-128"/>
                  <a:cs typeface="Meiryo UI" panose="020B0604030504040204" pitchFamily="50" charset="-128"/>
                </a:rPr>
                <a:t>57</a:t>
              </a:r>
              <a:r>
                <a:rPr kumimoji="1" lang="ja-JP" altLang="ja-JP" sz="1400" b="1" i="0" u="none" strike="noStrike" cap="none" normalizeH="0" baseline="0" dirty="0">
                  <a:ln>
                    <a:noFill/>
                  </a:ln>
                  <a:solidFill>
                    <a:srgbClr val="7030A0"/>
                  </a:solidFill>
                  <a:effectLst/>
                  <a:latin typeface="Meiryo UI" panose="020B0604030504040204" pitchFamily="50" charset="-128"/>
                  <a:ea typeface="Meiryo UI" panose="020B0604030504040204" pitchFamily="50" charset="-128"/>
                  <a:cs typeface="Meiryo UI" panose="020B0604030504040204" pitchFamily="50" charset="-128"/>
                </a:rPr>
                <a:t>m </a:t>
              </a:r>
            </a:p>
          </p:txBody>
        </p:sp>
        <p:cxnSp>
          <p:nvCxnSpPr>
            <p:cNvPr id="49" name="直線コネクタ 48">
              <a:extLst>
                <a:ext uri="{FF2B5EF4-FFF2-40B4-BE49-F238E27FC236}">
                  <a16:creationId xmlns:a16="http://schemas.microsoft.com/office/drawing/2014/main" id="{BC4ACEEC-AA4C-456E-AECB-A708564D96AD}"/>
                </a:ext>
              </a:extLst>
            </p:cNvPr>
            <p:cNvCxnSpPr/>
            <p:nvPr/>
          </p:nvCxnSpPr>
          <p:spPr bwMode="auto">
            <a:xfrm flipH="1">
              <a:off x="3592444" y="2636498"/>
              <a:ext cx="2089450" cy="0"/>
            </a:xfrm>
            <a:prstGeom prst="line">
              <a:avLst/>
            </a:prstGeom>
            <a:solidFill>
              <a:schemeClr val="accent1"/>
            </a:solidFill>
            <a:ln w="9525" cap="flat" cmpd="sng" algn="ctr">
              <a:solidFill>
                <a:schemeClr val="tx1"/>
              </a:solidFill>
              <a:prstDash val="dash"/>
              <a:round/>
              <a:headEnd type="none" w="med" len="med"/>
              <a:tailEnd type="none" w="med" len="med"/>
            </a:ln>
          </p:spPr>
        </p:cxnSp>
        <p:cxnSp>
          <p:nvCxnSpPr>
            <p:cNvPr id="50" name="直線コネクタ 49">
              <a:extLst>
                <a:ext uri="{FF2B5EF4-FFF2-40B4-BE49-F238E27FC236}">
                  <a16:creationId xmlns:a16="http://schemas.microsoft.com/office/drawing/2014/main" id="{C621AB66-CAF7-43D4-805F-CD73AE6BF8F6}"/>
                </a:ext>
              </a:extLst>
            </p:cNvPr>
            <p:cNvCxnSpPr/>
            <p:nvPr/>
          </p:nvCxnSpPr>
          <p:spPr bwMode="auto">
            <a:xfrm flipH="1">
              <a:off x="3531029" y="3944903"/>
              <a:ext cx="2173642" cy="0"/>
            </a:xfrm>
            <a:prstGeom prst="line">
              <a:avLst/>
            </a:prstGeom>
            <a:solidFill>
              <a:schemeClr val="accent1"/>
            </a:solidFill>
            <a:ln w="9525" cap="flat" cmpd="sng" algn="ctr">
              <a:solidFill>
                <a:schemeClr val="tx1"/>
              </a:solidFill>
              <a:prstDash val="dash"/>
              <a:round/>
              <a:headEnd type="none" w="med" len="med"/>
              <a:tailEnd type="none" w="med" len="med"/>
            </a:ln>
          </p:spPr>
        </p:cxnSp>
        <p:grpSp>
          <p:nvGrpSpPr>
            <p:cNvPr id="51" name="グループ化 50">
              <a:extLst>
                <a:ext uri="{FF2B5EF4-FFF2-40B4-BE49-F238E27FC236}">
                  <a16:creationId xmlns:a16="http://schemas.microsoft.com/office/drawing/2014/main" id="{4F24B1F8-77F5-4C71-A298-54E553E1B2EA}"/>
                </a:ext>
              </a:extLst>
            </p:cNvPr>
            <p:cNvGrpSpPr/>
            <p:nvPr/>
          </p:nvGrpSpPr>
          <p:grpSpPr>
            <a:xfrm>
              <a:off x="6188652" y="3219068"/>
              <a:ext cx="2568633" cy="593590"/>
              <a:chOff x="3498133" y="4337052"/>
              <a:chExt cx="2568633" cy="593590"/>
            </a:xfrm>
          </p:grpSpPr>
          <p:sp>
            <p:nvSpPr>
              <p:cNvPr id="65" name="Rectangle 64">
                <a:extLst>
                  <a:ext uri="{FF2B5EF4-FFF2-40B4-BE49-F238E27FC236}">
                    <a16:creationId xmlns:a16="http://schemas.microsoft.com/office/drawing/2014/main" id="{911C067A-1426-436F-BBFB-29B565DBF659}"/>
                  </a:ext>
                </a:extLst>
              </p:cNvPr>
              <p:cNvSpPr>
                <a:spLocks noChangeArrowheads="1"/>
              </p:cNvSpPr>
              <p:nvPr/>
            </p:nvSpPr>
            <p:spPr bwMode="auto">
              <a:xfrm>
                <a:off x="3498133" y="4337052"/>
                <a:ext cx="1762566" cy="37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（潮位上昇</a:t>
                </a:r>
                <a:r>
                  <a:rPr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1.25</a:t>
                </a:r>
                <a:r>
                  <a:rPr lang="ja-JP"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a:t>
                </a:r>
                <a:endParaRPr lang="ja-JP" altLang="ja-JP" sz="1400" dirty="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Rectangle 65">
                <a:extLst>
                  <a:ext uri="{FF2B5EF4-FFF2-40B4-BE49-F238E27FC236}">
                    <a16:creationId xmlns:a16="http://schemas.microsoft.com/office/drawing/2014/main" id="{487E7B77-7F3C-48F2-AD54-F922213C3961}"/>
                  </a:ext>
                </a:extLst>
              </p:cNvPr>
              <p:cNvSpPr>
                <a:spLocks noChangeArrowheads="1"/>
              </p:cNvSpPr>
              <p:nvPr/>
            </p:nvSpPr>
            <p:spPr bwMode="auto">
              <a:xfrm>
                <a:off x="4172662" y="4594906"/>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Rectangle 66">
                <a:extLst>
                  <a:ext uri="{FF2B5EF4-FFF2-40B4-BE49-F238E27FC236}">
                    <a16:creationId xmlns:a16="http://schemas.microsoft.com/office/drawing/2014/main" id="{900E232C-B967-4023-A856-F557311B973F}"/>
                  </a:ext>
                </a:extLst>
              </p:cNvPr>
              <p:cNvSpPr>
                <a:spLocks noChangeArrowheads="1"/>
              </p:cNvSpPr>
              <p:nvPr/>
            </p:nvSpPr>
            <p:spPr bwMode="auto">
              <a:xfrm>
                <a:off x="4645690" y="4528824"/>
                <a:ext cx="1421076" cy="169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r>
                  <a:rPr kumimoji="1" lang="ja-JP" altLang="ja-JP" sz="1400" b="1"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波高</a:t>
                </a:r>
                <a:r>
                  <a:rPr kumimoji="1" lang="ja-JP" altLang="en-US" sz="1400" b="1"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さ</a:t>
                </a:r>
                <a:r>
                  <a:rPr lang="en-US" altLang="ja-JP" sz="14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5.1</a:t>
                </a:r>
                <a:r>
                  <a:rPr lang="ja-JP" altLang="ja-JP" sz="14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a:t>
                </a:r>
                <a:r>
                  <a:rPr lang="ja-JP"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endParaRPr lang="ja-JP"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Rectangle 67">
                <a:extLst>
                  <a:ext uri="{FF2B5EF4-FFF2-40B4-BE49-F238E27FC236}">
                    <a16:creationId xmlns:a16="http://schemas.microsoft.com/office/drawing/2014/main" id="{0D3F54AF-B503-477D-8255-DB78F4872B16}"/>
                  </a:ext>
                </a:extLst>
              </p:cNvPr>
              <p:cNvSpPr>
                <a:spLocks noChangeArrowheads="1"/>
              </p:cNvSpPr>
              <p:nvPr/>
            </p:nvSpPr>
            <p:spPr bwMode="auto">
              <a:xfrm>
                <a:off x="5280923" y="4745320"/>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Rectangle 68">
                <a:extLst>
                  <a:ext uri="{FF2B5EF4-FFF2-40B4-BE49-F238E27FC236}">
                    <a16:creationId xmlns:a16="http://schemas.microsoft.com/office/drawing/2014/main" id="{2F8D85F6-C6AD-49C3-A8D9-0686694C82D2}"/>
                  </a:ext>
                </a:extLst>
              </p:cNvPr>
              <p:cNvSpPr>
                <a:spLocks noChangeArrowheads="1"/>
              </p:cNvSpPr>
              <p:nvPr/>
            </p:nvSpPr>
            <p:spPr bwMode="auto">
              <a:xfrm>
                <a:off x="5558680" y="4348084"/>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2" name="グループ化 51">
              <a:extLst>
                <a:ext uri="{FF2B5EF4-FFF2-40B4-BE49-F238E27FC236}">
                  <a16:creationId xmlns:a16="http://schemas.microsoft.com/office/drawing/2014/main" id="{6A421E60-2594-4BC8-A603-E7BB0C05C1D9}"/>
                </a:ext>
              </a:extLst>
            </p:cNvPr>
            <p:cNvGrpSpPr/>
            <p:nvPr/>
          </p:nvGrpSpPr>
          <p:grpSpPr>
            <a:xfrm>
              <a:off x="6356090" y="2930137"/>
              <a:ext cx="1732217" cy="370643"/>
              <a:chOff x="3430614" y="4082111"/>
              <a:chExt cx="1732217" cy="370643"/>
            </a:xfrm>
          </p:grpSpPr>
          <p:sp>
            <p:nvSpPr>
              <p:cNvPr id="63" name="Rectangle 62">
                <a:extLst>
                  <a:ext uri="{FF2B5EF4-FFF2-40B4-BE49-F238E27FC236}">
                    <a16:creationId xmlns:a16="http://schemas.microsoft.com/office/drawing/2014/main" id="{4BBB93D6-116C-4B71-BE13-C102973EAA38}"/>
                  </a:ext>
                </a:extLst>
              </p:cNvPr>
              <p:cNvSpPr>
                <a:spLocks noChangeArrowheads="1"/>
              </p:cNvSpPr>
              <p:nvPr/>
            </p:nvSpPr>
            <p:spPr bwMode="auto">
              <a:xfrm>
                <a:off x="3430614" y="4082111"/>
                <a:ext cx="1732217" cy="37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台風影響</a:t>
                </a:r>
                <a:r>
                  <a:rPr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6.35</a:t>
                </a:r>
                <a:r>
                  <a:rPr lang="ja-JP"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a:t>
                </a:r>
                <a:endParaRPr lang="ja-JP" altLang="ja-JP" sz="1400" dirty="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Rectangle 63">
                <a:extLst>
                  <a:ext uri="{FF2B5EF4-FFF2-40B4-BE49-F238E27FC236}">
                    <a16:creationId xmlns:a16="http://schemas.microsoft.com/office/drawing/2014/main" id="{03164381-3117-449E-AF07-BDE43E5634F5}"/>
                  </a:ext>
                </a:extLst>
              </p:cNvPr>
              <p:cNvSpPr>
                <a:spLocks noChangeArrowheads="1"/>
              </p:cNvSpPr>
              <p:nvPr/>
            </p:nvSpPr>
            <p:spPr bwMode="auto">
              <a:xfrm>
                <a:off x="4285800" y="4154489"/>
                <a:ext cx="71"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53" name="Line 39">
              <a:extLst>
                <a:ext uri="{FF2B5EF4-FFF2-40B4-BE49-F238E27FC236}">
                  <a16:creationId xmlns:a16="http://schemas.microsoft.com/office/drawing/2014/main" id="{015D36AD-F890-4AF6-8823-D36BF4217175}"/>
                </a:ext>
              </a:extLst>
            </p:cNvPr>
            <p:cNvSpPr>
              <a:spLocks noChangeShapeType="1"/>
            </p:cNvSpPr>
            <p:nvPr/>
          </p:nvSpPr>
          <p:spPr bwMode="auto">
            <a:xfrm>
              <a:off x="6084403" y="2178013"/>
              <a:ext cx="0" cy="208438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4" name="直線コネクタ 53">
              <a:extLst>
                <a:ext uri="{FF2B5EF4-FFF2-40B4-BE49-F238E27FC236}">
                  <a16:creationId xmlns:a16="http://schemas.microsoft.com/office/drawing/2014/main" id="{D26BFE4F-1F86-48EF-8A71-EDF90960CBCA}"/>
                </a:ext>
              </a:extLst>
            </p:cNvPr>
            <p:cNvCxnSpPr/>
            <p:nvPr/>
          </p:nvCxnSpPr>
          <p:spPr bwMode="auto">
            <a:xfrm flipH="1">
              <a:off x="3822582" y="2185031"/>
              <a:ext cx="4277364" cy="0"/>
            </a:xfrm>
            <a:prstGeom prst="line">
              <a:avLst/>
            </a:prstGeom>
            <a:solidFill>
              <a:schemeClr val="accent1"/>
            </a:solidFill>
            <a:ln w="9525" cap="flat" cmpd="sng" algn="ctr">
              <a:solidFill>
                <a:schemeClr val="tx1"/>
              </a:solidFill>
              <a:prstDash val="dash"/>
              <a:round/>
              <a:headEnd type="none" w="med" len="med"/>
              <a:tailEnd type="none" w="med" len="med"/>
            </a:ln>
          </p:spPr>
        </p:cxnSp>
        <p:sp>
          <p:nvSpPr>
            <p:cNvPr id="55" name="Freeform 61">
              <a:extLst>
                <a:ext uri="{FF2B5EF4-FFF2-40B4-BE49-F238E27FC236}">
                  <a16:creationId xmlns:a16="http://schemas.microsoft.com/office/drawing/2014/main" id="{5FC322E9-6622-4BC5-8C9B-AB2FDCAB3DB3}"/>
                </a:ext>
              </a:extLst>
            </p:cNvPr>
            <p:cNvSpPr>
              <a:spLocks noEditPoints="1"/>
            </p:cNvSpPr>
            <p:nvPr/>
          </p:nvSpPr>
          <p:spPr bwMode="auto">
            <a:xfrm>
              <a:off x="6221493" y="1686331"/>
              <a:ext cx="77788" cy="2542650"/>
            </a:xfrm>
            <a:custGeom>
              <a:avLst/>
              <a:gdLst>
                <a:gd name="T0" fmla="*/ 27 w 49"/>
                <a:gd name="T1" fmla="*/ 813 h 853"/>
                <a:gd name="T2" fmla="*/ 27 w 49"/>
                <a:gd name="T3" fmla="*/ 40 h 853"/>
                <a:gd name="T4" fmla="*/ 21 w 49"/>
                <a:gd name="T5" fmla="*/ 40 h 853"/>
                <a:gd name="T6" fmla="*/ 21 w 49"/>
                <a:gd name="T7" fmla="*/ 813 h 853"/>
                <a:gd name="T8" fmla="*/ 27 w 49"/>
                <a:gd name="T9" fmla="*/ 813 h 853"/>
                <a:gd name="T10" fmla="*/ 0 w 49"/>
                <a:gd name="T11" fmla="*/ 805 h 853"/>
                <a:gd name="T12" fmla="*/ 24 w 49"/>
                <a:gd name="T13" fmla="*/ 853 h 853"/>
                <a:gd name="T14" fmla="*/ 49 w 49"/>
                <a:gd name="T15" fmla="*/ 805 h 853"/>
                <a:gd name="T16" fmla="*/ 0 w 49"/>
                <a:gd name="T17" fmla="*/ 805 h 853"/>
                <a:gd name="T18" fmla="*/ 49 w 49"/>
                <a:gd name="T19" fmla="*/ 49 h 853"/>
                <a:gd name="T20" fmla="*/ 24 w 49"/>
                <a:gd name="T21" fmla="*/ 0 h 853"/>
                <a:gd name="T22" fmla="*/ 0 w 49"/>
                <a:gd name="T23" fmla="*/ 49 h 853"/>
                <a:gd name="T24" fmla="*/ 49 w 49"/>
                <a:gd name="T25" fmla="*/ 49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853">
                  <a:moveTo>
                    <a:pt x="27" y="813"/>
                  </a:moveTo>
                  <a:lnTo>
                    <a:pt x="27" y="40"/>
                  </a:lnTo>
                  <a:lnTo>
                    <a:pt x="21" y="40"/>
                  </a:lnTo>
                  <a:lnTo>
                    <a:pt x="21" y="813"/>
                  </a:lnTo>
                  <a:lnTo>
                    <a:pt x="27" y="813"/>
                  </a:lnTo>
                  <a:close/>
                  <a:moveTo>
                    <a:pt x="0" y="805"/>
                  </a:moveTo>
                  <a:lnTo>
                    <a:pt x="24" y="853"/>
                  </a:lnTo>
                  <a:lnTo>
                    <a:pt x="49" y="805"/>
                  </a:lnTo>
                  <a:lnTo>
                    <a:pt x="0" y="805"/>
                  </a:lnTo>
                  <a:close/>
                  <a:moveTo>
                    <a:pt x="49" y="49"/>
                  </a:moveTo>
                  <a:lnTo>
                    <a:pt x="24" y="0"/>
                  </a:lnTo>
                  <a:lnTo>
                    <a:pt x="0" y="49"/>
                  </a:lnTo>
                  <a:lnTo>
                    <a:pt x="49" y="49"/>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Rectangle 10">
              <a:extLst>
                <a:ext uri="{FF2B5EF4-FFF2-40B4-BE49-F238E27FC236}">
                  <a16:creationId xmlns:a16="http://schemas.microsoft.com/office/drawing/2014/main" id="{CC81EEFE-5F36-4C73-9232-7ABE034F8AD4}"/>
                </a:ext>
              </a:extLst>
            </p:cNvPr>
            <p:cNvSpPr>
              <a:spLocks noChangeArrowheads="1"/>
            </p:cNvSpPr>
            <p:nvPr/>
          </p:nvSpPr>
          <p:spPr bwMode="auto">
            <a:xfrm>
              <a:off x="6263797" y="1500547"/>
              <a:ext cx="1562832" cy="23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ja-JP" altLang="en-US"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波高さ</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KP+</a:t>
              </a:r>
              <a:r>
                <a:rPr kumimoji="1" lang="en-US"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7.7</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m</a:t>
              </a: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Freeform 69">
              <a:extLst>
                <a:ext uri="{FF2B5EF4-FFF2-40B4-BE49-F238E27FC236}">
                  <a16:creationId xmlns:a16="http://schemas.microsoft.com/office/drawing/2014/main" id="{B25B2619-1A0B-496B-ACA0-AF0B8C1EAE2E}"/>
                </a:ext>
              </a:extLst>
            </p:cNvPr>
            <p:cNvSpPr>
              <a:spLocks noEditPoints="1"/>
            </p:cNvSpPr>
            <p:nvPr/>
          </p:nvSpPr>
          <p:spPr bwMode="auto">
            <a:xfrm>
              <a:off x="6396334" y="1686331"/>
              <a:ext cx="98540" cy="504969"/>
            </a:xfrm>
            <a:custGeom>
              <a:avLst/>
              <a:gdLst>
                <a:gd name="T0" fmla="*/ 27 w 49"/>
                <a:gd name="T1" fmla="*/ 184 h 224"/>
                <a:gd name="T2" fmla="*/ 27 w 49"/>
                <a:gd name="T3" fmla="*/ 40 h 224"/>
                <a:gd name="T4" fmla="*/ 21 w 49"/>
                <a:gd name="T5" fmla="*/ 40 h 224"/>
                <a:gd name="T6" fmla="*/ 21 w 49"/>
                <a:gd name="T7" fmla="*/ 184 h 224"/>
                <a:gd name="T8" fmla="*/ 27 w 49"/>
                <a:gd name="T9" fmla="*/ 184 h 224"/>
                <a:gd name="T10" fmla="*/ 0 w 49"/>
                <a:gd name="T11" fmla="*/ 175 h 224"/>
                <a:gd name="T12" fmla="*/ 24 w 49"/>
                <a:gd name="T13" fmla="*/ 224 h 224"/>
                <a:gd name="T14" fmla="*/ 49 w 49"/>
                <a:gd name="T15" fmla="*/ 175 h 224"/>
                <a:gd name="T16" fmla="*/ 0 w 49"/>
                <a:gd name="T17" fmla="*/ 175 h 224"/>
                <a:gd name="T18" fmla="*/ 49 w 49"/>
                <a:gd name="T19" fmla="*/ 48 h 224"/>
                <a:gd name="T20" fmla="*/ 24 w 49"/>
                <a:gd name="T21" fmla="*/ 0 h 224"/>
                <a:gd name="T22" fmla="*/ 0 w 49"/>
                <a:gd name="T23" fmla="*/ 48 h 224"/>
                <a:gd name="T24" fmla="*/ 49 w 49"/>
                <a:gd name="T25" fmla="*/ 4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224">
                  <a:moveTo>
                    <a:pt x="27" y="184"/>
                  </a:moveTo>
                  <a:lnTo>
                    <a:pt x="27" y="40"/>
                  </a:lnTo>
                  <a:lnTo>
                    <a:pt x="21" y="40"/>
                  </a:lnTo>
                  <a:lnTo>
                    <a:pt x="21" y="184"/>
                  </a:lnTo>
                  <a:lnTo>
                    <a:pt x="27" y="184"/>
                  </a:lnTo>
                  <a:close/>
                  <a:moveTo>
                    <a:pt x="0" y="175"/>
                  </a:moveTo>
                  <a:lnTo>
                    <a:pt x="24" y="224"/>
                  </a:lnTo>
                  <a:lnTo>
                    <a:pt x="49" y="175"/>
                  </a:lnTo>
                  <a:lnTo>
                    <a:pt x="0" y="175"/>
                  </a:lnTo>
                  <a:close/>
                  <a:moveTo>
                    <a:pt x="49" y="48"/>
                  </a:moveTo>
                  <a:lnTo>
                    <a:pt x="24" y="0"/>
                  </a:lnTo>
                  <a:lnTo>
                    <a:pt x="0" y="48"/>
                  </a:lnTo>
                  <a:lnTo>
                    <a:pt x="49" y="48"/>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Rectangle 10">
              <a:extLst>
                <a:ext uri="{FF2B5EF4-FFF2-40B4-BE49-F238E27FC236}">
                  <a16:creationId xmlns:a16="http://schemas.microsoft.com/office/drawing/2014/main" id="{51253F89-60B3-4F01-BF2D-AD6660A32EB1}"/>
                </a:ext>
              </a:extLst>
            </p:cNvPr>
            <p:cNvSpPr>
              <a:spLocks noChangeArrowheads="1"/>
            </p:cNvSpPr>
            <p:nvPr/>
          </p:nvSpPr>
          <p:spPr bwMode="auto">
            <a:xfrm>
              <a:off x="6498865" y="1854176"/>
              <a:ext cx="2181307" cy="23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約</a:t>
              </a:r>
              <a:r>
                <a:rPr lang="en-US" altLang="ja-JP"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2m</a:t>
              </a:r>
              <a:r>
                <a:rPr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間欠的に波が越流</a:t>
              </a:r>
              <a:endParaRPr kumimoji="1" lang="ja-JP" altLang="ja-JP" sz="1400" b="1"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Rectangle 6">
              <a:extLst>
                <a:ext uri="{FF2B5EF4-FFF2-40B4-BE49-F238E27FC236}">
                  <a16:creationId xmlns:a16="http://schemas.microsoft.com/office/drawing/2014/main" id="{9726CA65-1F42-4EAE-B9E9-5C32A53DFD0F}"/>
                </a:ext>
              </a:extLst>
            </p:cNvPr>
            <p:cNvSpPr>
              <a:spLocks noChangeArrowheads="1"/>
            </p:cNvSpPr>
            <p:nvPr/>
          </p:nvSpPr>
          <p:spPr bwMode="auto">
            <a:xfrm>
              <a:off x="6963640" y="1201195"/>
              <a:ext cx="1401642" cy="193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台風</a:t>
              </a:r>
              <a:r>
                <a:rPr kumimoji="1" lang="en-US"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20</a:t>
              </a:r>
              <a:r>
                <a:rPr kumimoji="1" lang="ja-JP" altLang="en-US"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号時</a:t>
              </a:r>
              <a:r>
                <a:rPr kumimoji="1" lang="ja-JP" altLang="ja-JP" sz="16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1" lang="ja-JP" altLang="ja-JP"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Rectangle 11">
              <a:extLst>
                <a:ext uri="{FF2B5EF4-FFF2-40B4-BE49-F238E27FC236}">
                  <a16:creationId xmlns:a16="http://schemas.microsoft.com/office/drawing/2014/main" id="{CD379401-60E7-4EE7-8B9C-68131E70194D}"/>
                </a:ext>
              </a:extLst>
            </p:cNvPr>
            <p:cNvSpPr>
              <a:spLocks noChangeArrowheads="1"/>
            </p:cNvSpPr>
            <p:nvPr/>
          </p:nvSpPr>
          <p:spPr bwMode="auto">
            <a:xfrm>
              <a:off x="6372224" y="3997442"/>
              <a:ext cx="1746797" cy="18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kumimoji="1">
                  <a:solidFill>
                    <a:schemeClr val="tx1"/>
                  </a:solidFill>
                  <a:latin typeface="Arial" pitchFamily="34" charset="0"/>
                  <a:ea typeface="ＭＳ Ｐゴシック" pitchFamily="50" charset="-128"/>
                  <a:cs typeface="ＭＳ Ｐゴシック" pitchFamily="50" charset="-128"/>
                </a:defRPr>
              </a:lvl1pPr>
              <a:lvl2pPr>
                <a:defRPr kumimoji="1">
                  <a:solidFill>
                    <a:schemeClr val="tx1"/>
                  </a:solidFill>
                  <a:latin typeface="Arial" pitchFamily="34" charset="0"/>
                  <a:ea typeface="ＭＳ Ｐゴシック" pitchFamily="50" charset="-128"/>
                  <a:cs typeface="ＭＳ Ｐゴシック" pitchFamily="50" charset="-128"/>
                </a:defRPr>
              </a:lvl2pPr>
              <a:lvl3pPr>
                <a:defRPr kumimoji="1">
                  <a:solidFill>
                    <a:schemeClr val="tx1"/>
                  </a:solidFill>
                  <a:latin typeface="Arial" pitchFamily="34" charset="0"/>
                  <a:ea typeface="ＭＳ Ｐゴシック" pitchFamily="50" charset="-128"/>
                  <a:cs typeface="ＭＳ Ｐゴシック" pitchFamily="50" charset="-128"/>
                </a:defRPr>
              </a:lvl3pPr>
              <a:lvl4pPr>
                <a:defRPr kumimoji="1">
                  <a:solidFill>
                    <a:schemeClr val="tx1"/>
                  </a:solidFill>
                  <a:latin typeface="Arial" pitchFamily="34" charset="0"/>
                  <a:ea typeface="ＭＳ Ｐゴシック" pitchFamily="50" charset="-128"/>
                  <a:cs typeface="ＭＳ Ｐゴシック" pitchFamily="50" charset="-128"/>
                </a:defRPr>
              </a:lvl4pPr>
              <a:lvl5pPr>
                <a:defRPr kumimoji="1">
                  <a:solidFill>
                    <a:schemeClr val="tx1"/>
                  </a:solidFill>
                  <a:latin typeface="Arial" pitchFamily="34" charset="0"/>
                  <a:ea typeface="ＭＳ Ｐゴシック" pitchFamily="50" charset="-128"/>
                  <a:cs typeface="ＭＳ Ｐゴシック" pitchFamily="50" charset="-128"/>
                </a:defRPr>
              </a:lvl5pPr>
              <a:lvl6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6pPr>
              <a:lvl7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7pPr>
              <a:lvl8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8pPr>
              <a:lvl9pPr fontAlgn="base">
                <a:spcBef>
                  <a:spcPct val="0"/>
                </a:spcBef>
                <a:spcAft>
                  <a:spcPct val="0"/>
                </a:spcAft>
                <a:defRPr kumimoji="1">
                  <a:solidFill>
                    <a:schemeClr val="tx1"/>
                  </a:solidFill>
                  <a:latin typeface="Arial" pitchFamily="34" charset="0"/>
                  <a:ea typeface="ＭＳ Ｐゴシック" pitchFamily="50" charset="-128"/>
                  <a:cs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潮位　</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KP+1.</a:t>
              </a:r>
              <a:r>
                <a:rPr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3</a:t>
              </a:r>
              <a:r>
                <a:rPr kumimoji="1" lang="en-US"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5</a:t>
              </a:r>
              <a:r>
                <a:rPr kumimoji="1" lang="ja-JP" altLang="ja-JP" sz="14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m</a:t>
              </a:r>
              <a:endParaRPr kumimoji="1" lang="ja-JP"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1" name="直線コネクタ 60">
              <a:extLst>
                <a:ext uri="{FF2B5EF4-FFF2-40B4-BE49-F238E27FC236}">
                  <a16:creationId xmlns:a16="http://schemas.microsoft.com/office/drawing/2014/main" id="{1EC612EC-1467-4039-8CD7-D7A8AE43B3EC}"/>
                </a:ext>
              </a:extLst>
            </p:cNvPr>
            <p:cNvCxnSpPr/>
            <p:nvPr/>
          </p:nvCxnSpPr>
          <p:spPr bwMode="auto">
            <a:xfrm flipH="1">
              <a:off x="6116295" y="4228982"/>
              <a:ext cx="1679357" cy="0"/>
            </a:xfrm>
            <a:prstGeom prst="line">
              <a:avLst/>
            </a:prstGeom>
            <a:solidFill>
              <a:schemeClr val="accent1"/>
            </a:solidFill>
            <a:ln w="9525" cap="flat" cmpd="sng" algn="ctr">
              <a:solidFill>
                <a:schemeClr val="tx1"/>
              </a:solidFill>
              <a:prstDash val="dash"/>
              <a:round/>
              <a:headEnd type="none" w="med" len="med"/>
              <a:tailEnd type="none" w="med" len="med"/>
            </a:ln>
          </p:spPr>
        </p:cxnSp>
        <p:cxnSp>
          <p:nvCxnSpPr>
            <p:cNvPr id="62" name="直線コネクタ 61">
              <a:extLst>
                <a:ext uri="{FF2B5EF4-FFF2-40B4-BE49-F238E27FC236}">
                  <a16:creationId xmlns:a16="http://schemas.microsoft.com/office/drawing/2014/main" id="{13B0121C-A46F-43D4-9A09-1348343328AE}"/>
                </a:ext>
              </a:extLst>
            </p:cNvPr>
            <p:cNvCxnSpPr/>
            <p:nvPr/>
          </p:nvCxnSpPr>
          <p:spPr bwMode="auto">
            <a:xfrm flipH="1">
              <a:off x="5844508" y="1686331"/>
              <a:ext cx="2089450" cy="0"/>
            </a:xfrm>
            <a:prstGeom prst="line">
              <a:avLst/>
            </a:prstGeom>
            <a:solidFill>
              <a:schemeClr val="accent1"/>
            </a:solidFill>
            <a:ln w="9525" cap="flat" cmpd="sng" algn="ctr">
              <a:solidFill>
                <a:schemeClr val="tx1"/>
              </a:solidFill>
              <a:prstDash val="dash"/>
              <a:round/>
              <a:headEnd type="none" w="med" len="med"/>
              <a:tailEnd type="none" w="med" len="med"/>
            </a:ln>
          </p:spPr>
        </p:cxnSp>
      </p:grpSp>
      <p:sp>
        <p:nvSpPr>
          <p:cNvPr id="72" name="正方形/長方形 2">
            <a:extLst>
              <a:ext uri="{FF2B5EF4-FFF2-40B4-BE49-F238E27FC236}">
                <a16:creationId xmlns:a16="http://schemas.microsoft.com/office/drawing/2014/main" id="{93AB9119-61E3-4C7E-B7BF-CD0AE0273117}"/>
              </a:ext>
            </a:extLst>
          </p:cNvPr>
          <p:cNvSpPr>
            <a:spLocks noChangeArrowheads="1"/>
          </p:cNvSpPr>
          <p:nvPr/>
        </p:nvSpPr>
        <p:spPr bwMode="auto">
          <a:xfrm>
            <a:off x="5908138" y="6442434"/>
            <a:ext cx="3235862" cy="2545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100" dirty="0">
                <a:latin typeface="HG丸ｺﾞｼｯｸM-PRO" pitchFamily="50" charset="-128"/>
                <a:ea typeface="HG丸ｺﾞｼｯｸM-PRO" pitchFamily="50" charset="-128"/>
              </a:rPr>
              <a:t>※【</a:t>
            </a:r>
            <a:r>
              <a:rPr lang="ja-JP" altLang="en-US" sz="1100" dirty="0">
                <a:latin typeface="HG丸ｺﾞｼｯｸM-PRO" pitchFamily="50" charset="-128"/>
                <a:ea typeface="HG丸ｺﾞｼｯｸM-PRO" pitchFamily="50" charset="-128"/>
              </a:rPr>
              <a:t>有義波高さ</a:t>
            </a:r>
            <a:r>
              <a:rPr lang="en-US" altLang="ja-JP" sz="1100" dirty="0">
                <a:latin typeface="HG丸ｺﾞｼｯｸM-PRO" pitchFamily="50" charset="-128"/>
                <a:ea typeface="HG丸ｺﾞｼｯｸM-PRO" pitchFamily="50" charset="-128"/>
              </a:rPr>
              <a:t>】</a:t>
            </a:r>
            <a:r>
              <a:rPr lang="ja-JP" altLang="en-US" sz="1100" dirty="0">
                <a:latin typeface="HG丸ｺﾞｼｯｸM-PRO" pitchFamily="50" charset="-128"/>
                <a:ea typeface="HG丸ｺﾞｼｯｸM-PRO" pitchFamily="50" charset="-128"/>
              </a:rPr>
              <a:t>上位</a:t>
            </a:r>
            <a:r>
              <a:rPr lang="en-US" altLang="ja-JP" sz="1100" dirty="0">
                <a:latin typeface="HG丸ｺﾞｼｯｸM-PRO" pitchFamily="50" charset="-128"/>
                <a:ea typeface="HG丸ｺﾞｼｯｸM-PRO" pitchFamily="50" charset="-128"/>
              </a:rPr>
              <a:t>1/3</a:t>
            </a:r>
            <a:r>
              <a:rPr lang="ja-JP" altLang="en-US" sz="1100" dirty="0">
                <a:latin typeface="HG丸ｺﾞｼｯｸM-PRO" pitchFamily="50" charset="-128"/>
                <a:ea typeface="HG丸ｺﾞｼｯｸM-PRO" pitchFamily="50" charset="-128"/>
              </a:rPr>
              <a:t>について平均した値</a:t>
            </a:r>
          </a:p>
        </p:txBody>
      </p:sp>
      <p:sp>
        <p:nvSpPr>
          <p:cNvPr id="75" name="角丸四角形 10">
            <a:extLst>
              <a:ext uri="{FF2B5EF4-FFF2-40B4-BE49-F238E27FC236}">
                <a16:creationId xmlns:a16="http://schemas.microsoft.com/office/drawing/2014/main" id="{1E1481B9-086C-43E2-956C-4CF529C877D5}"/>
              </a:ext>
            </a:extLst>
          </p:cNvPr>
          <p:cNvSpPr/>
          <p:nvPr/>
        </p:nvSpPr>
        <p:spPr>
          <a:xfrm>
            <a:off x="71734" y="737451"/>
            <a:ext cx="8994060" cy="1442169"/>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a:lnSpc>
                <a:spcPts val="2600"/>
              </a:lnSpc>
            </a:pPr>
            <a:r>
              <a:rPr lang="ja-JP" altLang="en-US" sz="1600" dirty="0">
                <a:solidFill>
                  <a:schemeClr val="tx1"/>
                </a:solidFill>
                <a:latin typeface="Meiryo UI" pitchFamily="50" charset="-128"/>
                <a:ea typeface="Meiryo UI" pitchFamily="50" charset="-128"/>
                <a:cs typeface="Meiryo UI" pitchFamily="50" charset="-128"/>
              </a:rPr>
              <a:t>　</a:t>
            </a:r>
            <a:r>
              <a:rPr lang="ja-JP" altLang="en-US" dirty="0">
                <a:solidFill>
                  <a:schemeClr val="tx1"/>
                </a:solidFill>
                <a:latin typeface="Meiryo UI" pitchFamily="50" charset="-128"/>
                <a:ea typeface="Meiryo UI" pitchFamily="50" charset="-128"/>
                <a:cs typeface="Meiryo UI" pitchFamily="50" charset="-128"/>
              </a:rPr>
              <a:t>　現状　　　：満潮時に南海トラフ地震レベル２（千年に一度の発生確率）の津波</a:t>
            </a:r>
            <a:r>
              <a:rPr lang="ja-JP" altLang="en-US" sz="1600" dirty="0">
                <a:solidFill>
                  <a:schemeClr val="tx1"/>
                </a:solidFill>
                <a:latin typeface="Meiryo UI" pitchFamily="50" charset="-128"/>
                <a:ea typeface="Meiryo UI" pitchFamily="50" charset="-128"/>
                <a:cs typeface="Meiryo UI" pitchFamily="50" charset="-128"/>
              </a:rPr>
              <a:t>（</a:t>
            </a:r>
            <a:r>
              <a:rPr lang="en-US" altLang="ja-JP" sz="1600" dirty="0">
                <a:solidFill>
                  <a:schemeClr val="tx1"/>
                </a:solidFill>
                <a:latin typeface="Meiryo UI" pitchFamily="50" charset="-128"/>
                <a:ea typeface="Meiryo UI" pitchFamily="50" charset="-128"/>
                <a:cs typeface="Meiryo UI" pitchFamily="50" charset="-128"/>
              </a:rPr>
              <a:t>2.43m</a:t>
            </a:r>
            <a:r>
              <a:rPr lang="ja-JP" altLang="en-US" sz="1600" dirty="0">
                <a:solidFill>
                  <a:schemeClr val="tx1"/>
                </a:solidFill>
                <a:latin typeface="Meiryo UI" pitchFamily="50" charset="-128"/>
                <a:ea typeface="Meiryo UI" pitchFamily="50" charset="-128"/>
                <a:cs typeface="Meiryo UI"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a:p>
            <a:pPr>
              <a:lnSpc>
                <a:spcPts val="2600"/>
              </a:lnSpc>
            </a:pPr>
            <a:r>
              <a:rPr lang="ja-JP" altLang="en-US" sz="1600" dirty="0">
                <a:solidFill>
                  <a:schemeClr val="tx1"/>
                </a:solidFill>
                <a:latin typeface="Meiryo UI" pitchFamily="50" charset="-128"/>
                <a:ea typeface="Meiryo UI" pitchFamily="50" charset="-128"/>
                <a:cs typeface="Meiryo UI" pitchFamily="50" charset="-128"/>
              </a:rPr>
              <a:t>　　　　　　　　　　　</a:t>
            </a:r>
            <a:r>
              <a:rPr lang="ja-JP" altLang="en-US" dirty="0">
                <a:solidFill>
                  <a:schemeClr val="tx1"/>
                </a:solidFill>
                <a:latin typeface="Meiryo UI" pitchFamily="50" charset="-128"/>
                <a:ea typeface="Meiryo UI" pitchFamily="50" charset="-128"/>
                <a:cs typeface="Meiryo UI" pitchFamily="50" charset="-128"/>
              </a:rPr>
              <a:t>が発生しても、</a:t>
            </a:r>
            <a:r>
              <a:rPr lang="ja-JP" altLang="en-US" dirty="0">
                <a:solidFill>
                  <a:srgbClr val="7030A0"/>
                </a:solidFill>
                <a:latin typeface="Meiryo UI" pitchFamily="50" charset="-128"/>
                <a:ea typeface="Meiryo UI" pitchFamily="50" charset="-128"/>
                <a:cs typeface="Meiryo UI" pitchFamily="50" charset="-128"/>
              </a:rPr>
              <a:t>約</a:t>
            </a:r>
            <a:r>
              <a:rPr lang="en-US" altLang="ja-JP" dirty="0">
                <a:solidFill>
                  <a:srgbClr val="7030A0"/>
                </a:solidFill>
                <a:latin typeface="Meiryo UI" pitchFamily="50" charset="-128"/>
                <a:ea typeface="Meiryo UI" pitchFamily="50" charset="-128"/>
                <a:cs typeface="Meiryo UI" pitchFamily="50" charset="-128"/>
              </a:rPr>
              <a:t>1.6m</a:t>
            </a:r>
            <a:r>
              <a:rPr lang="ja-JP" altLang="en-US" dirty="0">
                <a:solidFill>
                  <a:srgbClr val="7030A0"/>
                </a:solidFill>
                <a:latin typeface="Meiryo UI" pitchFamily="50" charset="-128"/>
                <a:ea typeface="Meiryo UI" pitchFamily="50" charset="-128"/>
                <a:cs typeface="Meiryo UI" pitchFamily="50" charset="-128"/>
              </a:rPr>
              <a:t>の余裕代がある。</a:t>
            </a:r>
            <a:r>
              <a:rPr kumimoji="1" lang="ja-JP" altLang="en-US" dirty="0">
                <a:solidFill>
                  <a:srgbClr val="7030A0"/>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dirty="0">
              <a:solidFill>
                <a:srgbClr val="7030A0"/>
              </a:solidFill>
              <a:latin typeface="Meiryo UI" panose="020B0604030504040204" pitchFamily="50" charset="-128"/>
              <a:ea typeface="Meiryo UI" panose="020B0604030504040204" pitchFamily="50" charset="-128"/>
              <a:cs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高波時　　：８</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/24</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0</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時付近に東風に変わり、急激に波高さが上昇（　　波高さ</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5.1m</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dirty="0">
              <a:latin typeface="Meiryo UI" panose="020B0604030504040204" pitchFamily="50" charset="-128"/>
              <a:ea typeface="Meiryo UI" panose="020B0604030504040204" pitchFamily="50" charset="-128"/>
              <a:cs typeface="Meiryo UI" panose="020B0604030504040204" pitchFamily="50" charset="-128"/>
            </a:endParaRPr>
          </a:p>
          <a:p>
            <a:pPr>
              <a:lnSpc>
                <a:spcPts val="2600"/>
              </a:lnSpc>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東岸壁から間欠的に</a:t>
            </a:r>
            <a:r>
              <a:rPr kumimoji="1"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高波が越流</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し、</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線材ステルモア等の地下ピットに浸水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p:txBody>
      </p:sp>
      <p:sp>
        <p:nvSpPr>
          <p:cNvPr id="76" name="星: 5 pt 75">
            <a:extLst>
              <a:ext uri="{FF2B5EF4-FFF2-40B4-BE49-F238E27FC236}">
                <a16:creationId xmlns:a16="http://schemas.microsoft.com/office/drawing/2014/main" id="{8FC853B9-8A4C-49A1-90EC-784314ECEBC1}"/>
              </a:ext>
            </a:extLst>
          </p:cNvPr>
          <p:cNvSpPr/>
          <p:nvPr/>
        </p:nvSpPr>
        <p:spPr bwMode="auto">
          <a:xfrm>
            <a:off x="7644144" y="2640520"/>
            <a:ext cx="210049" cy="226692"/>
          </a:xfrm>
          <a:prstGeom prst="star5">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
        <p:nvSpPr>
          <p:cNvPr id="77" name="星: 5 pt 76">
            <a:extLst>
              <a:ext uri="{FF2B5EF4-FFF2-40B4-BE49-F238E27FC236}">
                <a16:creationId xmlns:a16="http://schemas.microsoft.com/office/drawing/2014/main" id="{B890D206-B5D6-4BFD-B912-76270CB3DD52}"/>
              </a:ext>
            </a:extLst>
          </p:cNvPr>
          <p:cNvSpPr/>
          <p:nvPr/>
        </p:nvSpPr>
        <p:spPr bwMode="auto">
          <a:xfrm>
            <a:off x="6931997" y="1529493"/>
            <a:ext cx="210049" cy="226692"/>
          </a:xfrm>
          <a:prstGeom prst="star5">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ja-JP" altLang="en-US" sz="1800" b="0" i="0" u="none" strike="noStrike" cap="none" normalizeH="0" baseline="0">
              <a:ln>
                <a:noFill/>
              </a:ln>
              <a:solidFill>
                <a:schemeClr val="tx1"/>
              </a:solidFill>
              <a:effectLst/>
              <a:latin typeface="Calibri" panose="020F0502020204030204" pitchFamily="34" charset="0"/>
              <a:ea typeface="ＭＳ Ｐゴシック" panose="020B0600070205080204" pitchFamily="50" charset="-128"/>
            </a:endParaRPr>
          </a:p>
        </p:txBody>
      </p:sp>
    </p:spTree>
    <p:extLst>
      <p:ext uri="{BB962C8B-B14F-4D97-AF65-F5344CB8AC3E}">
        <p14:creationId xmlns:p14="http://schemas.microsoft.com/office/powerpoint/2010/main" val="244253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9216"/>
          <p:cNvGrpSpPr>
            <a:grpSpLocks/>
          </p:cNvGrpSpPr>
          <p:nvPr/>
        </p:nvGrpSpPr>
        <p:grpSpPr bwMode="auto">
          <a:xfrm>
            <a:off x="1704979" y="4080204"/>
            <a:ext cx="5385138" cy="2422937"/>
            <a:chOff x="3464813" y="4206137"/>
            <a:chExt cx="5248275" cy="2381250"/>
          </a:xfrm>
        </p:grpSpPr>
        <p:pic>
          <p:nvPicPr>
            <p:cNvPr id="20" name="Picture 36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4813" y="4206137"/>
              <a:ext cx="5248275" cy="2381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テキスト ボックス 11"/>
            <p:cNvSpPr txBox="1">
              <a:spLocks noChangeArrowheads="1"/>
            </p:cNvSpPr>
            <p:nvPr/>
          </p:nvSpPr>
          <p:spPr bwMode="auto">
            <a:xfrm>
              <a:off x="6466587" y="4693585"/>
              <a:ext cx="1265298" cy="3622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en-US" altLang="ja-JP" sz="1800" dirty="0">
                  <a:latin typeface="HG丸ｺﾞｼｯｸM-PRO" pitchFamily="50" charset="-128"/>
                  <a:ea typeface="HG丸ｺﾞｼｯｸM-PRO" pitchFamily="50" charset="-128"/>
                </a:rPr>
                <a:t>7</a:t>
              </a:r>
              <a:r>
                <a:rPr lang="ja-JP" altLang="en-US" sz="1800" dirty="0">
                  <a:latin typeface="HG丸ｺﾞｼｯｸM-PRO" pitchFamily="50" charset="-128"/>
                  <a:ea typeface="HG丸ｺﾞｼｯｸM-PRO" pitchFamily="50" charset="-128"/>
                </a:rPr>
                <a:t>線材工場</a:t>
              </a:r>
              <a:endParaRPr lang="en-US" altLang="ja-JP" sz="1800" dirty="0">
                <a:latin typeface="HG丸ｺﾞｼｯｸM-PRO" pitchFamily="50" charset="-128"/>
                <a:ea typeface="HG丸ｺﾞｼｯｸM-PRO" pitchFamily="50" charset="-128"/>
              </a:endParaRPr>
            </a:p>
          </p:txBody>
        </p:sp>
        <p:sp>
          <p:nvSpPr>
            <p:cNvPr id="22" name="テキスト ボックス 11"/>
            <p:cNvSpPr txBox="1">
              <a:spLocks noChangeArrowheads="1"/>
            </p:cNvSpPr>
            <p:nvPr/>
          </p:nvSpPr>
          <p:spPr bwMode="auto">
            <a:xfrm>
              <a:off x="4002270" y="4755140"/>
              <a:ext cx="1380714" cy="3006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4399" tIns="42200" rIns="84399" bIns="4220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spcBef>
                  <a:spcPct val="50000"/>
                </a:spcBef>
                <a:buFontTx/>
                <a:buNone/>
              </a:pPr>
              <a:r>
                <a:rPr lang="ja-JP" altLang="en-US" sz="1400">
                  <a:latin typeface="HG丸ｺﾞｼｯｸM-PRO" pitchFamily="50" charset="-128"/>
                  <a:ea typeface="HG丸ｺﾞｼｯｸM-PRO" pitchFamily="50" charset="-128"/>
                </a:rPr>
                <a:t>鋼片</a:t>
              </a:r>
              <a:r>
                <a:rPr lang="en-US" altLang="ja-JP" sz="1400">
                  <a:latin typeface="HG丸ｺﾞｼｯｸM-PRO" pitchFamily="50" charset="-128"/>
                  <a:ea typeface="HG丸ｺﾞｼｯｸM-PRO" pitchFamily="50" charset="-128"/>
                </a:rPr>
                <a:t>3</a:t>
              </a:r>
              <a:r>
                <a:rPr lang="ja-JP" altLang="en-US" sz="1400">
                  <a:latin typeface="HG丸ｺﾞｼｯｸM-PRO" pitchFamily="50" charset="-128"/>
                  <a:ea typeface="HG丸ｺﾞｼｯｸM-PRO" pitchFamily="50" charset="-128"/>
                </a:rPr>
                <a:t>加工工場</a:t>
              </a:r>
              <a:endParaRPr lang="en-US" altLang="ja-JP" sz="1400">
                <a:latin typeface="HG丸ｺﾞｼｯｸM-PRO" pitchFamily="50" charset="-128"/>
                <a:ea typeface="HG丸ｺﾞｼｯｸM-PRO" pitchFamily="50" charset="-128"/>
              </a:endParaRPr>
            </a:p>
          </p:txBody>
        </p:sp>
        <p:sp>
          <p:nvSpPr>
            <p:cNvPr id="23" name="テキスト ボックス 11"/>
            <p:cNvSpPr txBox="1">
              <a:spLocks noChangeArrowheads="1"/>
            </p:cNvSpPr>
            <p:nvPr/>
          </p:nvSpPr>
          <p:spPr bwMode="auto">
            <a:xfrm>
              <a:off x="7561062" y="5435500"/>
              <a:ext cx="453183" cy="3958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72000" rIns="72000" bIns="0">
              <a:spAutoFit/>
            </a:bodyPr>
            <a:lstStyle>
              <a:lvl1pPr eaLnBrk="0" hangingPunct="0">
                <a:spcBef>
                  <a:spcPct val="20000"/>
                </a:spcBef>
                <a:buChar char="•"/>
                <a:defRPr kumimoji="1" sz="3200">
                  <a:solidFill>
                    <a:schemeClr val="tx1"/>
                  </a:solidFill>
                  <a:latin typeface="Arial" charset="0"/>
                  <a:ea typeface="ＭＳ Ｐゴシック" charset="-128"/>
                </a:defRPr>
              </a:lvl1pPr>
              <a:lvl2pPr marL="742950" indent="-285750" eaLnBrk="0" hangingPunct="0">
                <a:spcBef>
                  <a:spcPct val="20000"/>
                </a:spcBef>
                <a:buChar char="–"/>
                <a:defRPr kumimoji="1" sz="2800">
                  <a:solidFill>
                    <a:schemeClr val="tx1"/>
                  </a:solidFill>
                  <a:latin typeface="Arial" charset="0"/>
                  <a:ea typeface="ＭＳ Ｐゴシック" charset="-128"/>
                </a:defRPr>
              </a:lvl2pPr>
              <a:lvl3pPr marL="1143000" indent="-228600" eaLnBrk="0" hangingPunct="0">
                <a:spcBef>
                  <a:spcPct val="20000"/>
                </a:spcBef>
                <a:buChar char="•"/>
                <a:defRPr kumimoji="1" sz="2400">
                  <a:solidFill>
                    <a:schemeClr val="tx1"/>
                  </a:solidFill>
                  <a:latin typeface="Arial" charset="0"/>
                  <a:ea typeface="ＭＳ Ｐゴシック" charset="-128"/>
                </a:defRPr>
              </a:lvl3pPr>
              <a:lvl4pPr marL="1600200" indent="-228600" eaLnBrk="0" hangingPunct="0">
                <a:spcBef>
                  <a:spcPct val="20000"/>
                </a:spcBef>
                <a:buChar char="–"/>
                <a:defRPr kumimoji="1" sz="2000">
                  <a:solidFill>
                    <a:schemeClr val="tx1"/>
                  </a:solidFill>
                  <a:latin typeface="Arial" charset="0"/>
                  <a:ea typeface="ＭＳ Ｐゴシック" charset="-128"/>
                </a:defRPr>
              </a:lvl4pPr>
              <a:lvl5pPr marL="2057400" indent="-228600"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lnSpc>
                  <a:spcPts val="900"/>
                </a:lnSpc>
                <a:spcBef>
                  <a:spcPct val="50000"/>
                </a:spcBef>
                <a:buFontTx/>
                <a:buNone/>
              </a:pPr>
              <a:r>
                <a:rPr lang="ja-JP" altLang="en-US" sz="1200">
                  <a:latin typeface="HG丸ｺﾞｼｯｸM-PRO" pitchFamily="50" charset="-128"/>
                  <a:ea typeface="HG丸ｺﾞｼｯｸM-PRO" pitchFamily="50" charset="-128"/>
                </a:rPr>
                <a:t>立体</a:t>
              </a:r>
              <a:endParaRPr lang="en-US" altLang="ja-JP" sz="1200">
                <a:latin typeface="HG丸ｺﾞｼｯｸM-PRO" pitchFamily="50" charset="-128"/>
                <a:ea typeface="HG丸ｺﾞｼｯｸM-PRO" pitchFamily="50" charset="-128"/>
              </a:endParaRPr>
            </a:p>
            <a:p>
              <a:pPr eaLnBrk="1" hangingPunct="1">
                <a:lnSpc>
                  <a:spcPts val="900"/>
                </a:lnSpc>
                <a:spcBef>
                  <a:spcPct val="50000"/>
                </a:spcBef>
                <a:buFontTx/>
                <a:buNone/>
              </a:pPr>
              <a:r>
                <a:rPr lang="ja-JP" altLang="en-US" sz="1200">
                  <a:latin typeface="HG丸ｺﾞｼｯｸM-PRO" pitchFamily="50" charset="-128"/>
                  <a:ea typeface="HG丸ｺﾞｼｯｸM-PRO" pitchFamily="50" charset="-128"/>
                </a:rPr>
                <a:t>倉庫</a:t>
              </a:r>
              <a:endParaRPr lang="en-US" altLang="ja-JP" sz="1200">
                <a:latin typeface="HG丸ｺﾞｼｯｸM-PRO" pitchFamily="50" charset="-128"/>
                <a:ea typeface="HG丸ｺﾞｼｯｸM-PRO" pitchFamily="50" charset="-128"/>
              </a:endParaRPr>
            </a:p>
          </p:txBody>
        </p:sp>
        <p:cxnSp>
          <p:nvCxnSpPr>
            <p:cNvPr id="26" name="直線コネクタ 3"/>
            <p:cNvCxnSpPr>
              <a:cxnSpLocks noChangeShapeType="1"/>
            </p:cNvCxnSpPr>
            <p:nvPr/>
          </p:nvCxnSpPr>
          <p:spPr bwMode="auto">
            <a:xfrm>
              <a:off x="8277915" y="4596803"/>
              <a:ext cx="0" cy="1336518"/>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grpSp>
      <p:grpSp>
        <p:nvGrpSpPr>
          <p:cNvPr id="8" name="グループ化 7"/>
          <p:cNvGrpSpPr/>
          <p:nvPr/>
        </p:nvGrpSpPr>
        <p:grpSpPr>
          <a:xfrm>
            <a:off x="4614620" y="2003519"/>
            <a:ext cx="4036924" cy="2227303"/>
            <a:chOff x="684462" y="5337175"/>
            <a:chExt cx="2743466" cy="1297608"/>
          </a:xfrm>
        </p:grpSpPr>
        <p:pic>
          <p:nvPicPr>
            <p:cNvPr id="14" name="図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9013" y="5337175"/>
              <a:ext cx="1620837"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テキスト ボックス 14"/>
            <p:cNvSpPr txBox="1"/>
            <p:nvPr/>
          </p:nvSpPr>
          <p:spPr>
            <a:xfrm>
              <a:off x="684462" y="6437544"/>
              <a:ext cx="2743466" cy="197239"/>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a:spAutoFit/>
            </a:bodyPr>
            <a:lstStyle/>
            <a:p>
              <a:pPr>
                <a:defRPr/>
              </a:pPr>
              <a:r>
                <a:rPr lang="ja-JP" altLang="en-US" sz="1600" dirty="0">
                  <a:latin typeface="Meiryo UI" panose="020B0604030504040204" pitchFamily="50" charset="-128"/>
                  <a:ea typeface="Meiryo UI" panose="020B0604030504040204" pitchFamily="50" charset="-128"/>
                  <a:cs typeface="Meiryo UI" panose="020B0604030504040204" pitchFamily="50" charset="-128"/>
                </a:rPr>
                <a:t>写真</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コイル運搬用通路へのフレコン設置</a:t>
              </a:r>
            </a:p>
          </p:txBody>
        </p:sp>
        <p:sp>
          <p:nvSpPr>
            <p:cNvPr id="16" name="正方形/長方形 15"/>
            <p:cNvSpPr/>
            <p:nvPr/>
          </p:nvSpPr>
          <p:spPr>
            <a:xfrm>
              <a:off x="989013" y="5859464"/>
              <a:ext cx="1606550" cy="35300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grpSp>
        <p:nvGrpSpPr>
          <p:cNvPr id="9" name="グループ化 9"/>
          <p:cNvGrpSpPr>
            <a:grpSpLocks/>
          </p:cNvGrpSpPr>
          <p:nvPr/>
        </p:nvGrpSpPr>
        <p:grpSpPr bwMode="auto">
          <a:xfrm>
            <a:off x="581793" y="3955817"/>
            <a:ext cx="2816145" cy="1968539"/>
            <a:chOff x="1076249" y="3569320"/>
            <a:chExt cx="1464271" cy="1097506"/>
          </a:xfrm>
        </p:grpSpPr>
        <p:pic>
          <p:nvPicPr>
            <p:cNvPr id="12" name="図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6249" y="3569320"/>
              <a:ext cx="1464271" cy="1097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フリーフォーム 12"/>
            <p:cNvSpPr/>
            <p:nvPr/>
          </p:nvSpPr>
          <p:spPr>
            <a:xfrm flipH="1">
              <a:off x="1324514" y="3894482"/>
              <a:ext cx="1196216" cy="760582"/>
            </a:xfrm>
            <a:custGeom>
              <a:avLst/>
              <a:gdLst>
                <a:gd name="connsiteX0" fmla="*/ 0 w 1216241"/>
                <a:gd name="connsiteY0" fmla="*/ 408373 h 408373"/>
                <a:gd name="connsiteX1" fmla="*/ 0 w 1216241"/>
                <a:gd name="connsiteY1" fmla="*/ 62144 h 408373"/>
                <a:gd name="connsiteX2" fmla="*/ 1216241 w 1216241"/>
                <a:gd name="connsiteY2" fmla="*/ 0 h 408373"/>
                <a:gd name="connsiteX3" fmla="*/ 1198486 w 1216241"/>
                <a:gd name="connsiteY3" fmla="*/ 221942 h 408373"/>
                <a:gd name="connsiteX4" fmla="*/ 1047565 w 1216241"/>
                <a:gd name="connsiteY4" fmla="*/ 248575 h 408373"/>
                <a:gd name="connsiteX5" fmla="*/ 0 w 1216241"/>
                <a:gd name="connsiteY5" fmla="*/ 408373 h 408373"/>
                <a:gd name="connsiteX0" fmla="*/ 0 w 1224989"/>
                <a:gd name="connsiteY0" fmla="*/ 885176 h 885176"/>
                <a:gd name="connsiteX1" fmla="*/ 8748 w 1224989"/>
                <a:gd name="connsiteY1" fmla="*/ 62144 h 885176"/>
                <a:gd name="connsiteX2" fmla="*/ 1224989 w 1224989"/>
                <a:gd name="connsiteY2" fmla="*/ 0 h 885176"/>
                <a:gd name="connsiteX3" fmla="*/ 1207234 w 1224989"/>
                <a:gd name="connsiteY3" fmla="*/ 221942 h 885176"/>
                <a:gd name="connsiteX4" fmla="*/ 1056313 w 1224989"/>
                <a:gd name="connsiteY4" fmla="*/ 248575 h 885176"/>
                <a:gd name="connsiteX5" fmla="*/ 0 w 1224989"/>
                <a:gd name="connsiteY5" fmla="*/ 885176 h 885176"/>
                <a:gd name="connsiteX0" fmla="*/ 8748 w 1233737"/>
                <a:gd name="connsiteY0" fmla="*/ 885176 h 885176"/>
                <a:gd name="connsiteX1" fmla="*/ 0 w 1233737"/>
                <a:gd name="connsiteY1" fmla="*/ 328831 h 885176"/>
                <a:gd name="connsiteX2" fmla="*/ 1233737 w 1233737"/>
                <a:gd name="connsiteY2" fmla="*/ 0 h 885176"/>
                <a:gd name="connsiteX3" fmla="*/ 1215982 w 1233737"/>
                <a:gd name="connsiteY3" fmla="*/ 221942 h 885176"/>
                <a:gd name="connsiteX4" fmla="*/ 1065061 w 1233737"/>
                <a:gd name="connsiteY4" fmla="*/ 248575 h 885176"/>
                <a:gd name="connsiteX5" fmla="*/ 8748 w 1233737"/>
                <a:gd name="connsiteY5" fmla="*/ 885176 h 885176"/>
                <a:gd name="connsiteX0" fmla="*/ 8748 w 1233737"/>
                <a:gd name="connsiteY0" fmla="*/ 885176 h 885176"/>
                <a:gd name="connsiteX1" fmla="*/ 0 w 1233737"/>
                <a:gd name="connsiteY1" fmla="*/ 328831 h 885176"/>
                <a:gd name="connsiteX2" fmla="*/ 1233737 w 1233737"/>
                <a:gd name="connsiteY2" fmla="*/ 0 h 885176"/>
                <a:gd name="connsiteX3" fmla="*/ 1215982 w 1233737"/>
                <a:gd name="connsiteY3" fmla="*/ 108802 h 885176"/>
                <a:gd name="connsiteX4" fmla="*/ 1065061 w 1233737"/>
                <a:gd name="connsiteY4" fmla="*/ 248575 h 885176"/>
                <a:gd name="connsiteX5" fmla="*/ 8748 w 1233737"/>
                <a:gd name="connsiteY5" fmla="*/ 885176 h 885176"/>
                <a:gd name="connsiteX0" fmla="*/ 8748 w 1233737"/>
                <a:gd name="connsiteY0" fmla="*/ 885176 h 885176"/>
                <a:gd name="connsiteX1" fmla="*/ 0 w 1233737"/>
                <a:gd name="connsiteY1" fmla="*/ 328831 h 885176"/>
                <a:gd name="connsiteX2" fmla="*/ 1233737 w 1233737"/>
                <a:gd name="connsiteY2" fmla="*/ 0 h 885176"/>
                <a:gd name="connsiteX3" fmla="*/ 1215982 w 1233737"/>
                <a:gd name="connsiteY3" fmla="*/ 108802 h 885176"/>
                <a:gd name="connsiteX4" fmla="*/ 8748 w 1233737"/>
                <a:gd name="connsiteY4" fmla="*/ 885176 h 885176"/>
                <a:gd name="connsiteX0" fmla="*/ 0 w 1233737"/>
                <a:gd name="connsiteY0" fmla="*/ 998316 h 998316"/>
                <a:gd name="connsiteX1" fmla="*/ 0 w 1233737"/>
                <a:gd name="connsiteY1" fmla="*/ 328831 h 998316"/>
                <a:gd name="connsiteX2" fmla="*/ 1233737 w 1233737"/>
                <a:gd name="connsiteY2" fmla="*/ 0 h 998316"/>
                <a:gd name="connsiteX3" fmla="*/ 1215982 w 1233737"/>
                <a:gd name="connsiteY3" fmla="*/ 108802 h 998316"/>
                <a:gd name="connsiteX4" fmla="*/ 0 w 1233737"/>
                <a:gd name="connsiteY4" fmla="*/ 998316 h 998316"/>
                <a:gd name="connsiteX0" fmla="*/ 0 w 1242485"/>
                <a:gd name="connsiteY0" fmla="*/ 860932 h 860932"/>
                <a:gd name="connsiteX1" fmla="*/ 8748 w 1242485"/>
                <a:gd name="connsiteY1" fmla="*/ 328831 h 860932"/>
                <a:gd name="connsiteX2" fmla="*/ 1242485 w 1242485"/>
                <a:gd name="connsiteY2" fmla="*/ 0 h 860932"/>
                <a:gd name="connsiteX3" fmla="*/ 1224730 w 1242485"/>
                <a:gd name="connsiteY3" fmla="*/ 108802 h 860932"/>
                <a:gd name="connsiteX4" fmla="*/ 0 w 1242485"/>
                <a:gd name="connsiteY4" fmla="*/ 860932 h 860932"/>
                <a:gd name="connsiteX0" fmla="*/ 0 w 1242485"/>
                <a:gd name="connsiteY0" fmla="*/ 860932 h 860932"/>
                <a:gd name="connsiteX1" fmla="*/ 8748 w 1242485"/>
                <a:gd name="connsiteY1" fmla="*/ 328831 h 860932"/>
                <a:gd name="connsiteX2" fmla="*/ 1242485 w 1242485"/>
                <a:gd name="connsiteY2" fmla="*/ 0 h 860932"/>
                <a:gd name="connsiteX3" fmla="*/ 1224730 w 1242485"/>
                <a:gd name="connsiteY3" fmla="*/ 108802 h 860932"/>
                <a:gd name="connsiteX4" fmla="*/ 355629 w 1242485"/>
                <a:gd name="connsiteY4" fmla="*/ 734613 h 860932"/>
                <a:gd name="connsiteX5" fmla="*/ 0 w 1242485"/>
                <a:gd name="connsiteY5" fmla="*/ 860932 h 860932"/>
                <a:gd name="connsiteX0" fmla="*/ 0 w 1251233"/>
                <a:gd name="connsiteY0" fmla="*/ 731629 h 734613"/>
                <a:gd name="connsiteX1" fmla="*/ 17496 w 1251233"/>
                <a:gd name="connsiteY1" fmla="*/ 328831 h 734613"/>
                <a:gd name="connsiteX2" fmla="*/ 1251233 w 1251233"/>
                <a:gd name="connsiteY2" fmla="*/ 0 h 734613"/>
                <a:gd name="connsiteX3" fmla="*/ 1233478 w 1251233"/>
                <a:gd name="connsiteY3" fmla="*/ 108802 h 734613"/>
                <a:gd name="connsiteX4" fmla="*/ 364377 w 1251233"/>
                <a:gd name="connsiteY4" fmla="*/ 734613 h 734613"/>
                <a:gd name="connsiteX5" fmla="*/ 0 w 1251233"/>
                <a:gd name="connsiteY5" fmla="*/ 731629 h 73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233" h="734613">
                  <a:moveTo>
                    <a:pt x="0" y="731629"/>
                  </a:moveTo>
                  <a:lnTo>
                    <a:pt x="17496" y="328831"/>
                  </a:lnTo>
                  <a:lnTo>
                    <a:pt x="1251233" y="0"/>
                  </a:lnTo>
                  <a:lnTo>
                    <a:pt x="1233478" y="108802"/>
                  </a:lnTo>
                  <a:cubicBezTo>
                    <a:pt x="996265" y="260836"/>
                    <a:pt x="601590" y="582579"/>
                    <a:pt x="364377" y="734613"/>
                  </a:cubicBezTo>
                  <a:lnTo>
                    <a:pt x="0" y="731629"/>
                  </a:lnTo>
                  <a:close/>
                </a:path>
              </a:pathLst>
            </a:cu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cxnSp>
        <p:nvCxnSpPr>
          <p:cNvPr id="10" name="直線矢印コネクタ 11"/>
          <p:cNvCxnSpPr>
            <a:cxnSpLocks noChangeShapeType="1"/>
          </p:cNvCxnSpPr>
          <p:nvPr/>
        </p:nvCxnSpPr>
        <p:spPr bwMode="auto">
          <a:xfrm>
            <a:off x="3593338" y="5733888"/>
            <a:ext cx="2938838" cy="0"/>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6" name="直線矢印コネクタ 6"/>
          <p:cNvCxnSpPr>
            <a:cxnSpLocks noChangeShapeType="1"/>
          </p:cNvCxnSpPr>
          <p:nvPr/>
        </p:nvCxnSpPr>
        <p:spPr bwMode="auto">
          <a:xfrm flipH="1">
            <a:off x="6798889" y="4196150"/>
            <a:ext cx="291228" cy="1864572"/>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sp>
        <p:nvSpPr>
          <p:cNvPr id="39" name="タイトル 2"/>
          <p:cNvSpPr>
            <a:spLocks noGrp="1" noChangeArrowheads="1"/>
          </p:cNvSpPr>
          <p:nvPr/>
        </p:nvSpPr>
        <p:spPr bwMode="auto">
          <a:xfrm>
            <a:off x="35899" y="6783"/>
            <a:ext cx="822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Calibri" pitchFamily="34" charset="0"/>
                <a:ea typeface="ＭＳ Ｐゴシック" pitchFamily="50" charset="-128"/>
              </a:defRPr>
            </a:lvl1pPr>
            <a:lvl2pPr marL="742950" indent="-285750" eaLnBrk="0" hangingPunct="0">
              <a:spcBef>
                <a:spcPct val="20000"/>
              </a:spcBef>
              <a:buChar char="–"/>
              <a:defRPr sz="2800">
                <a:solidFill>
                  <a:schemeClr val="tx1"/>
                </a:solidFill>
                <a:latin typeface="Calibri" pitchFamily="34" charset="0"/>
                <a:ea typeface="ＭＳ Ｐゴシック" pitchFamily="50" charset="-128"/>
              </a:defRPr>
            </a:lvl2pPr>
            <a:lvl3pPr marL="1143000" indent="-228600" eaLnBrk="0" hangingPunct="0">
              <a:spcBef>
                <a:spcPct val="20000"/>
              </a:spcBef>
              <a:buChar char="•"/>
              <a:defRPr sz="2400">
                <a:solidFill>
                  <a:schemeClr val="tx1"/>
                </a:solidFill>
                <a:latin typeface="Calibri" pitchFamily="34" charset="0"/>
                <a:ea typeface="ＭＳ Ｐゴシック" pitchFamily="50" charset="-128"/>
              </a:defRPr>
            </a:lvl3pPr>
            <a:lvl4pPr marL="1600200" indent="-228600" eaLnBrk="0" hangingPunct="0">
              <a:spcBef>
                <a:spcPct val="20000"/>
              </a:spcBef>
              <a:buChar char="–"/>
              <a:defRPr sz="2000">
                <a:solidFill>
                  <a:schemeClr val="tx1"/>
                </a:solidFill>
                <a:latin typeface="Calibri" pitchFamily="34" charset="0"/>
                <a:ea typeface="ＭＳ Ｐゴシック" pitchFamily="50" charset="-128"/>
              </a:defRPr>
            </a:lvl4pPr>
            <a:lvl5pPr marL="2057400" indent="-228600" eaLnBrk="0" hangingPunct="0">
              <a:spcBef>
                <a:spcPct val="20000"/>
              </a:spcBef>
              <a:buChar char="»"/>
              <a:defRPr sz="2000">
                <a:solidFill>
                  <a:schemeClr val="tx1"/>
                </a:solidFill>
                <a:latin typeface="Calibri" pitchFamily="34" charset="0"/>
                <a:ea typeface="ＭＳ Ｐゴシック" pitchFamily="50" charset="-128"/>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ＭＳ Ｐゴシック" pitchFamily="50" charset="-128"/>
              </a:defRPr>
            </a:lvl9pPr>
          </a:lstStyle>
          <a:p>
            <a:pPr eaLnBrk="1" hangingPunct="1">
              <a:spcBef>
                <a:spcPct val="0"/>
              </a:spcBef>
              <a:buNone/>
            </a:pP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参考</a:t>
            </a:r>
            <a:r>
              <a:rPr lang="en-US" altLang="ja-JP" sz="2400" b="1" dirty="0">
                <a:solidFill>
                  <a:schemeClr val="tx2"/>
                </a:solidFill>
                <a:latin typeface="Meiryo UI" pitchFamily="50" charset="-128"/>
                <a:ea typeface="Meiryo UI" pitchFamily="50" charset="-128"/>
                <a:cs typeface="Meiryo UI" pitchFamily="50" charset="-128"/>
                <a:sym typeface="Meiryo UI" pitchFamily="50" charset="-128"/>
              </a:rPr>
              <a:t>3-1</a:t>
            </a:r>
            <a:r>
              <a:rPr lang="ja-JP" altLang="en-US" sz="2400" b="1" dirty="0">
                <a:solidFill>
                  <a:schemeClr val="tx2"/>
                </a:solidFill>
                <a:latin typeface="Meiryo UI" pitchFamily="50" charset="-128"/>
                <a:ea typeface="Meiryo UI" pitchFamily="50" charset="-128"/>
                <a:cs typeface="Meiryo UI" pitchFamily="50" charset="-128"/>
                <a:sym typeface="Meiryo UI" pitchFamily="50" charset="-128"/>
              </a:rPr>
              <a:t>　高波対策（別途工事実施　完了）</a:t>
            </a:r>
            <a:endParaRPr lang="ja-JP" altLang="en-US" sz="2000" b="1" dirty="0">
              <a:solidFill>
                <a:schemeClr val="tx2"/>
              </a:solidFill>
              <a:latin typeface="Meiryo UI" pitchFamily="50" charset="-128"/>
              <a:ea typeface="Meiryo UI" pitchFamily="50" charset="-128"/>
              <a:cs typeface="Meiryo UI" pitchFamily="50" charset="-128"/>
              <a:sym typeface="Meiryo UI" pitchFamily="50" charset="-128"/>
            </a:endParaRPr>
          </a:p>
        </p:txBody>
      </p:sp>
      <p:sp>
        <p:nvSpPr>
          <p:cNvPr id="24" name="テキスト ボックス 23"/>
          <p:cNvSpPr txBox="1"/>
          <p:nvPr/>
        </p:nvSpPr>
        <p:spPr>
          <a:xfrm>
            <a:off x="85880" y="6164587"/>
            <a:ext cx="3938882" cy="338554"/>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defRPr/>
            </a:pPr>
            <a:r>
              <a:rPr lang="ja-JP" altLang="en-US" sz="1600" dirty="0">
                <a:latin typeface="Meiryo UI" panose="020B0604030504040204" pitchFamily="50" charset="-128"/>
                <a:ea typeface="Meiryo UI" panose="020B0604030504040204" pitchFamily="50" charset="-128"/>
                <a:cs typeface="Meiryo UI" panose="020B0604030504040204" pitchFamily="50" charset="-128"/>
              </a:rPr>
              <a:t>写真</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：前回冠水部への侵水防止板取付</a:t>
            </a:r>
          </a:p>
        </p:txBody>
      </p:sp>
      <p:sp>
        <p:nvSpPr>
          <p:cNvPr id="25" name="角丸四角形 10">
            <a:extLst>
              <a:ext uri="{FF2B5EF4-FFF2-40B4-BE49-F238E27FC236}">
                <a16:creationId xmlns:a16="http://schemas.microsoft.com/office/drawing/2014/main" id="{EF05CF7B-B9F1-4CC7-A1EB-5EF00183E342}"/>
              </a:ext>
            </a:extLst>
          </p:cNvPr>
          <p:cNvSpPr/>
          <p:nvPr/>
        </p:nvSpPr>
        <p:spPr>
          <a:xfrm>
            <a:off x="204337" y="720685"/>
            <a:ext cx="8531700" cy="1095846"/>
          </a:xfrm>
          <a:prstGeom prst="roundRect">
            <a:avLst>
              <a:gd name="adj" fmla="val 7194"/>
            </a:avLst>
          </a:prstGeom>
        </p:spPr>
        <p:style>
          <a:lnRef idx="1">
            <a:schemeClr val="accent1"/>
          </a:lnRef>
          <a:fillRef idx="2">
            <a:schemeClr val="accent1"/>
          </a:fillRef>
          <a:effectRef idx="1">
            <a:schemeClr val="accent1"/>
          </a:effectRef>
          <a:fontRef idx="minor">
            <a:schemeClr val="dk1"/>
          </a:fontRef>
        </p:style>
        <p:txBody>
          <a:bodyPr wrap="square" lIns="36000" rIns="36000">
            <a:spAutoFit/>
          </a:bodyPr>
          <a:lstStyle/>
          <a:p>
            <a:pPr eaLnBrk="1" fontAlgn="auto" hangingPunct="1">
              <a:lnSpc>
                <a:spcPts val="2600"/>
              </a:lnSpc>
              <a:spcBef>
                <a:spcPts val="0"/>
              </a:spcBef>
              <a:spcAft>
                <a:spcPts val="0"/>
              </a:spcAft>
              <a:defRPr/>
            </a:pPr>
            <a:r>
              <a:rPr kumimoji="1" lang="ja-JP" altLang="en-US" dirty="0">
                <a:solidFill>
                  <a:schemeClr val="tx1"/>
                </a:solidFill>
                <a:latin typeface="Meiryo UI" pitchFamily="50" charset="-128"/>
                <a:ea typeface="Meiryo UI" pitchFamily="50" charset="-128"/>
                <a:cs typeface="Meiryo UI" pitchFamily="50" charset="-128"/>
              </a:rPr>
              <a:t>高波については、</a:t>
            </a:r>
            <a:r>
              <a:rPr kumimoji="1" lang="en-US" altLang="ja-JP" dirty="0">
                <a:solidFill>
                  <a:schemeClr val="tx1"/>
                </a:solidFill>
                <a:latin typeface="Meiryo UI" pitchFamily="50" charset="-128"/>
                <a:ea typeface="Meiryo UI" pitchFamily="50" charset="-128"/>
                <a:cs typeface="Meiryo UI" pitchFamily="50" charset="-128"/>
              </a:rPr>
              <a:t>7</a:t>
            </a:r>
            <a:r>
              <a:rPr kumimoji="1" lang="ja-JP" altLang="en-US" dirty="0">
                <a:solidFill>
                  <a:schemeClr val="tx1"/>
                </a:solidFill>
                <a:latin typeface="Meiryo UI" pitchFamily="50" charset="-128"/>
                <a:ea typeface="Meiryo UI" pitchFamily="50" charset="-128"/>
                <a:cs typeface="Meiryo UI" pitchFamily="50" charset="-128"/>
              </a:rPr>
              <a:t>線材工場東面に浸水防止板を設置（写真</a:t>
            </a:r>
            <a:r>
              <a:rPr kumimoji="1" lang="en-US" altLang="ja-JP" dirty="0">
                <a:solidFill>
                  <a:schemeClr val="tx1"/>
                </a:solidFill>
                <a:latin typeface="Meiryo UI" pitchFamily="50" charset="-128"/>
                <a:ea typeface="Meiryo UI" pitchFamily="50" charset="-128"/>
                <a:cs typeface="Meiryo UI" pitchFamily="50" charset="-128"/>
              </a:rPr>
              <a:t>1</a:t>
            </a:r>
            <a:r>
              <a:rPr kumimoji="1" lang="ja-JP" altLang="en-US" dirty="0">
                <a:solidFill>
                  <a:schemeClr val="tx1"/>
                </a:solidFill>
                <a:latin typeface="Meiryo UI" pitchFamily="50" charset="-128"/>
                <a:ea typeface="Meiryo UI" pitchFamily="50" charset="-128"/>
                <a:cs typeface="Meiryo UI" pitchFamily="50" charset="-128"/>
              </a:rPr>
              <a:t>）</a:t>
            </a:r>
            <a:endParaRPr kumimoji="1" lang="en-US" altLang="ja-JP" dirty="0">
              <a:solidFill>
                <a:schemeClr val="tx1"/>
              </a:solidFill>
              <a:latin typeface="Meiryo UI" pitchFamily="50" charset="-128"/>
              <a:ea typeface="Meiryo UI" pitchFamily="50" charset="-128"/>
              <a:cs typeface="Meiryo UI" pitchFamily="50" charset="-128"/>
            </a:endParaRPr>
          </a:p>
          <a:p>
            <a:pPr eaLnBrk="1" fontAlgn="auto" hangingPunct="1">
              <a:lnSpc>
                <a:spcPts val="2600"/>
              </a:lnSpc>
              <a:spcBef>
                <a:spcPts val="0"/>
              </a:spcBef>
              <a:spcAft>
                <a:spcPts val="0"/>
              </a:spcAft>
              <a:defRPr/>
            </a:pPr>
            <a:r>
              <a:rPr kumimoji="1" lang="ja-JP" altLang="en-US" dirty="0">
                <a:solidFill>
                  <a:schemeClr val="tx1"/>
                </a:solidFill>
                <a:latin typeface="Meiryo UI" pitchFamily="50" charset="-128"/>
                <a:ea typeface="Meiryo UI" pitchFamily="50" charset="-128"/>
                <a:cs typeface="Meiryo UI" pitchFamily="50" charset="-128"/>
              </a:rPr>
              <a:t>　　　　　　　　　　</a:t>
            </a:r>
            <a:r>
              <a:rPr kumimoji="1" lang="en-US" altLang="ja-JP" dirty="0">
                <a:solidFill>
                  <a:schemeClr val="tx1"/>
                </a:solidFill>
                <a:latin typeface="Meiryo UI" pitchFamily="50" charset="-128"/>
                <a:ea typeface="Meiryo UI" pitchFamily="50" charset="-128"/>
                <a:cs typeface="Meiryo UI" pitchFamily="50" charset="-128"/>
              </a:rPr>
              <a:t>7</a:t>
            </a:r>
            <a:r>
              <a:rPr kumimoji="1" lang="ja-JP" altLang="en-US" dirty="0">
                <a:solidFill>
                  <a:schemeClr val="tx1"/>
                </a:solidFill>
                <a:latin typeface="Meiryo UI" pitchFamily="50" charset="-128"/>
                <a:ea typeface="Meiryo UI" pitchFamily="50" charset="-128"/>
                <a:cs typeface="Meiryo UI" pitchFamily="50" charset="-128"/>
              </a:rPr>
              <a:t>線材工場南東面にフレコンバックを設置（写真</a:t>
            </a:r>
            <a:r>
              <a:rPr kumimoji="1" lang="en-US" altLang="ja-JP" dirty="0">
                <a:solidFill>
                  <a:schemeClr val="tx1"/>
                </a:solidFill>
                <a:latin typeface="Meiryo UI" pitchFamily="50" charset="-128"/>
                <a:ea typeface="Meiryo UI" pitchFamily="50" charset="-128"/>
                <a:cs typeface="Meiryo UI" pitchFamily="50" charset="-128"/>
              </a:rPr>
              <a:t>2</a:t>
            </a:r>
            <a:r>
              <a:rPr kumimoji="1" lang="ja-JP" altLang="en-US" dirty="0">
                <a:solidFill>
                  <a:schemeClr val="tx1"/>
                </a:solidFill>
                <a:latin typeface="Meiryo UI" pitchFamily="50" charset="-128"/>
                <a:ea typeface="Meiryo UI" pitchFamily="50" charset="-128"/>
                <a:cs typeface="Meiryo UI" pitchFamily="50" charset="-128"/>
              </a:rPr>
              <a:t>）</a:t>
            </a:r>
            <a:endParaRPr kumimoji="1" lang="en-US" altLang="ja-JP" dirty="0">
              <a:solidFill>
                <a:schemeClr val="tx1"/>
              </a:solidFill>
              <a:latin typeface="Meiryo UI" pitchFamily="50" charset="-128"/>
              <a:ea typeface="Meiryo UI" pitchFamily="50" charset="-128"/>
              <a:cs typeface="Meiryo UI" pitchFamily="50" charset="-128"/>
            </a:endParaRPr>
          </a:p>
          <a:p>
            <a:pPr eaLnBrk="1" fontAlgn="auto" hangingPunct="1">
              <a:lnSpc>
                <a:spcPts val="2600"/>
              </a:lnSpc>
              <a:spcBef>
                <a:spcPts val="0"/>
              </a:spcBef>
              <a:spcAft>
                <a:spcPts val="0"/>
              </a:spcAft>
              <a:defRPr/>
            </a:pPr>
            <a:r>
              <a:rPr kumimoji="1" lang="ja-JP" altLang="en-US" dirty="0">
                <a:solidFill>
                  <a:schemeClr val="tx1"/>
                </a:solidFill>
                <a:latin typeface="Meiryo UI" pitchFamily="50" charset="-128"/>
                <a:ea typeface="Meiryo UI" pitchFamily="50" charset="-128"/>
                <a:cs typeface="Meiryo UI" pitchFamily="50" charset="-128"/>
              </a:rPr>
              <a:t>　　　　　　　　　　することで、地下ピットへの浸水を防止した。（</a:t>
            </a:r>
            <a:r>
              <a:rPr kumimoji="1" lang="en-US" altLang="ja-JP" dirty="0">
                <a:solidFill>
                  <a:schemeClr val="tx1"/>
                </a:solidFill>
                <a:latin typeface="Meiryo UI" pitchFamily="50" charset="-128"/>
                <a:ea typeface="Meiryo UI" pitchFamily="50" charset="-128"/>
                <a:cs typeface="Meiryo UI" pitchFamily="50" charset="-128"/>
              </a:rPr>
              <a:t>2018.8</a:t>
            </a:r>
            <a:r>
              <a:rPr kumimoji="1" lang="ja-JP" altLang="en-US" dirty="0">
                <a:solidFill>
                  <a:schemeClr val="tx1"/>
                </a:solidFill>
                <a:latin typeface="Meiryo UI" pitchFamily="50" charset="-128"/>
                <a:ea typeface="Meiryo UI" pitchFamily="50" charset="-128"/>
                <a:cs typeface="Meiryo UI" pitchFamily="50" charset="-128"/>
              </a:rPr>
              <a:t>月末完了）</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600" dirty="0">
              <a:solidFill>
                <a:schemeClr val="tx1"/>
              </a:solidFill>
              <a:latin typeface="Meiryo UI" pitchFamily="50" charset="-128"/>
              <a:ea typeface="Meiryo UI" pitchFamily="50" charset="-128"/>
              <a:cs typeface="Meiryo UI" pitchFamily="50" charset="-128"/>
            </a:endParaRPr>
          </a:p>
        </p:txBody>
      </p:sp>
      <p:grpSp>
        <p:nvGrpSpPr>
          <p:cNvPr id="27" name="グループ化 7">
            <a:extLst>
              <a:ext uri="{FF2B5EF4-FFF2-40B4-BE49-F238E27FC236}">
                <a16:creationId xmlns:a16="http://schemas.microsoft.com/office/drawing/2014/main" id="{D9A2BC90-D8DC-4DF9-97DA-3B1698F52AEB}"/>
              </a:ext>
            </a:extLst>
          </p:cNvPr>
          <p:cNvGrpSpPr>
            <a:grpSpLocks/>
          </p:cNvGrpSpPr>
          <p:nvPr/>
        </p:nvGrpSpPr>
        <p:grpSpPr bwMode="auto">
          <a:xfrm>
            <a:off x="524750" y="2056762"/>
            <a:ext cx="2873188" cy="1877958"/>
            <a:chOff x="1174062" y="2590582"/>
            <a:chExt cx="1606233" cy="968163"/>
          </a:xfrm>
        </p:grpSpPr>
        <p:pic>
          <p:nvPicPr>
            <p:cNvPr id="28" name="Picture 3">
              <a:extLst>
                <a:ext uri="{FF2B5EF4-FFF2-40B4-BE49-F238E27FC236}">
                  <a16:creationId xmlns:a16="http://schemas.microsoft.com/office/drawing/2014/main" id="{F620D601-42C2-491E-A553-6F9B43AEDF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20818" b="15259"/>
            <a:stretch>
              <a:fillRect/>
            </a:stretch>
          </p:blipFill>
          <p:spPr bwMode="auto">
            <a:xfrm>
              <a:off x="1174062" y="2590582"/>
              <a:ext cx="1606233" cy="968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フリーフォーム 30">
              <a:extLst>
                <a:ext uri="{FF2B5EF4-FFF2-40B4-BE49-F238E27FC236}">
                  <a16:creationId xmlns:a16="http://schemas.microsoft.com/office/drawing/2014/main" id="{45408E11-5984-4DED-9FCE-756DC055F02D}"/>
                </a:ext>
              </a:extLst>
            </p:cNvPr>
            <p:cNvSpPr/>
            <p:nvPr/>
          </p:nvSpPr>
          <p:spPr>
            <a:xfrm>
              <a:off x="1194549" y="2987146"/>
              <a:ext cx="1439600" cy="404769"/>
            </a:xfrm>
            <a:custGeom>
              <a:avLst/>
              <a:gdLst>
                <a:gd name="connsiteX0" fmla="*/ 0 w 1216241"/>
                <a:gd name="connsiteY0" fmla="*/ 408373 h 408373"/>
                <a:gd name="connsiteX1" fmla="*/ 0 w 1216241"/>
                <a:gd name="connsiteY1" fmla="*/ 62144 h 408373"/>
                <a:gd name="connsiteX2" fmla="*/ 1216241 w 1216241"/>
                <a:gd name="connsiteY2" fmla="*/ 0 h 408373"/>
                <a:gd name="connsiteX3" fmla="*/ 1198486 w 1216241"/>
                <a:gd name="connsiteY3" fmla="*/ 221942 h 408373"/>
                <a:gd name="connsiteX4" fmla="*/ 1047565 w 1216241"/>
                <a:gd name="connsiteY4" fmla="*/ 248575 h 408373"/>
                <a:gd name="connsiteX5" fmla="*/ 0 w 1216241"/>
                <a:gd name="connsiteY5" fmla="*/ 408373 h 40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6241" h="408373">
                  <a:moveTo>
                    <a:pt x="0" y="408373"/>
                  </a:moveTo>
                  <a:lnTo>
                    <a:pt x="0" y="62144"/>
                  </a:lnTo>
                  <a:lnTo>
                    <a:pt x="1216241" y="0"/>
                  </a:lnTo>
                  <a:lnTo>
                    <a:pt x="1198486" y="221942"/>
                  </a:lnTo>
                  <a:lnTo>
                    <a:pt x="1047565" y="248575"/>
                  </a:lnTo>
                  <a:lnTo>
                    <a:pt x="0" y="408373"/>
                  </a:lnTo>
                  <a:close/>
                </a:path>
              </a:pathLst>
            </a:cu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cxnSp>
        <p:nvCxnSpPr>
          <p:cNvPr id="30" name="直線矢印コネクタ 11">
            <a:extLst>
              <a:ext uri="{FF2B5EF4-FFF2-40B4-BE49-F238E27FC236}">
                <a16:creationId xmlns:a16="http://schemas.microsoft.com/office/drawing/2014/main" id="{B8CA3A6E-B49C-4EA9-8D52-EDDF289F1ADA}"/>
              </a:ext>
            </a:extLst>
          </p:cNvPr>
          <p:cNvCxnSpPr>
            <a:cxnSpLocks noChangeShapeType="1"/>
          </p:cNvCxnSpPr>
          <p:nvPr/>
        </p:nvCxnSpPr>
        <p:spPr bwMode="auto">
          <a:xfrm>
            <a:off x="3359877" y="3611118"/>
            <a:ext cx="3252133" cy="1271630"/>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3" name="直線コネクタ 2">
            <a:extLst>
              <a:ext uri="{FF2B5EF4-FFF2-40B4-BE49-F238E27FC236}">
                <a16:creationId xmlns:a16="http://schemas.microsoft.com/office/drawing/2014/main" id="{D00CD30E-3322-4433-9631-26C8D57F39A9}"/>
              </a:ext>
            </a:extLst>
          </p:cNvPr>
          <p:cNvCxnSpPr>
            <a:cxnSpLocks/>
          </p:cNvCxnSpPr>
          <p:nvPr/>
        </p:nvCxnSpPr>
        <p:spPr bwMode="auto">
          <a:xfrm flipH="1">
            <a:off x="5598942" y="4496839"/>
            <a:ext cx="1041205" cy="0"/>
          </a:xfrm>
          <a:prstGeom prst="line">
            <a:avLst/>
          </a:prstGeom>
          <a:ln w="28575">
            <a:headEnd type="none" w="med" len="med"/>
            <a:tailEnd type="none" w="med" len="med"/>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272785597"/>
      </p:ext>
    </p:extLst>
  </p:cSld>
  <p:clrMapOvr>
    <a:masterClrMapping/>
  </p:clrMapOvr>
</p:sld>
</file>

<file path=ppt/theme/theme1.xml><?xml version="1.0" encoding="utf-8"?>
<a:theme xmlns:a="http://schemas.openxmlformats.org/drawingml/2006/main" name="1_Office ​​テーマ">
  <a:themeElements>
    <a:clrScheme name="1_Office ​​テーマ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テーマ">
      <a:majorFont>
        <a:latin typeface="Calibri"/>
        <a:ea typeface="ＭＳ Ｐゴシック"/>
        <a:cs typeface=""/>
      </a:majorFont>
      <a:minorFont>
        <a:latin typeface="Calibri"/>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ja-JP" altLang="ja-JP" sz="18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ja-JP" altLang="ja-JP" sz="1800" b="0" i="0" u="none" strike="noStrike" cap="none" normalizeH="0" baseline="0" smtClean="0">
            <a:ln>
              <a:noFill/>
            </a:ln>
            <a:solidFill>
              <a:schemeClr val="tx1"/>
            </a:solidFill>
            <a:effectLst/>
            <a:latin typeface="Calibri" panose="020F0502020204030204" pitchFamily="34" charset="0"/>
            <a:ea typeface="ＭＳ Ｐゴシック" panose="020B0600070205080204" pitchFamily="50" charset="-128"/>
          </a:defRPr>
        </a:defPPr>
      </a:lstStyle>
    </a:lnDef>
  </a:objectDefaults>
  <a:extraClrSchemeLst>
    <a:extraClrScheme>
      <a:clrScheme name="1_Office ​​テーマ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BDC6963646C3C4C9079BC7B960AF585" ma:contentTypeVersion="13" ma:contentTypeDescription="新しいドキュメントを作成します。" ma:contentTypeScope="" ma:versionID="69f175092782b7a2affddf3cde5ff417">
  <xsd:schema xmlns:xsd="http://www.w3.org/2001/XMLSchema" xmlns:xs="http://www.w3.org/2001/XMLSchema" xmlns:p="http://schemas.microsoft.com/office/2006/metadata/properties" xmlns:ns2="ea09212a-73e4-48ce-9aae-f5b0c4593a7e" xmlns:ns3="e41bc887-aff5-4391-9168-34e1364e0a53" targetNamespace="http://schemas.microsoft.com/office/2006/metadata/properties" ma:root="true" ma:fieldsID="3b68486f777839a8d67eb3795791e132" ns2:_="" ns3:_="">
    <xsd:import namespace="ea09212a-73e4-48ce-9aae-f5b0c4593a7e"/>
    <xsd:import namespace="e41bc887-aff5-4391-9168-34e1364e0a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09212a-73e4-48ce-9aae-f5b0c4593a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59cf359f-7b37-47b4-b46a-c0f8dc25d3b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1bc887-aff5-4391-9168-34e1364e0a5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9b96f8d-c7c5-44aa-ab1a-f248bc49b097}" ma:internalName="TaxCatchAll" ma:showField="CatchAllData" ma:web="e41bc887-aff5-4391-9168-34e1364e0a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41bc887-aff5-4391-9168-34e1364e0a53" xsi:nil="true"/>
    <lcf76f155ced4ddcb4097134ff3c332f xmlns="ea09212a-73e4-48ce-9aae-f5b0c4593a7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DA487C7-02AF-431F-BB0D-8794F99C13AC}"/>
</file>

<file path=customXml/itemProps2.xml><?xml version="1.0" encoding="utf-8"?>
<ds:datastoreItem xmlns:ds="http://schemas.openxmlformats.org/officeDocument/2006/customXml" ds:itemID="{E77341C5-D456-484A-A25D-D4493E91D945}"/>
</file>

<file path=customXml/itemProps3.xml><?xml version="1.0" encoding="utf-8"?>
<ds:datastoreItem xmlns:ds="http://schemas.openxmlformats.org/officeDocument/2006/customXml" ds:itemID="{090E5A27-9C48-44D9-B4DA-0B7E2B5E0E11}"/>
</file>

<file path=docProps/app.xml><?xml version="1.0" encoding="utf-8"?>
<Properties xmlns="http://schemas.openxmlformats.org/officeDocument/2006/extended-properties" xmlns:vt="http://schemas.openxmlformats.org/officeDocument/2006/docPropsVTypes">
  <Template/>
  <TotalTime>7408</TotalTime>
  <Pages>0</Pages>
  <Words>2344</Words>
  <Characters>0</Characters>
  <Application>Microsoft Office PowerPoint</Application>
  <DocSecurity>0</DocSecurity>
  <PresentationFormat>画面に合わせる (4:3)</PresentationFormat>
  <Lines>0</Lines>
  <Paragraphs>756</Paragraphs>
  <Slides>22</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HG丸ｺﾞｼｯｸM-PRO</vt:lpstr>
      <vt:lpstr>Meiryo UI</vt:lpstr>
      <vt:lpstr>ＭＳ Ｐゴシック</vt:lpstr>
      <vt:lpstr>メイリオ</vt:lpstr>
      <vt:lpstr>Arial</vt:lpstr>
      <vt:lpstr>Calibri</vt:lpstr>
      <vt:lpstr>Verdana</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 2号ボイラ 右壁蒸発管噴破</dc:title>
  <dc:creator>岡 俊裕</dc:creator>
  <cp:lastModifiedBy>岡田 翔[Sho_OKADA]</cp:lastModifiedBy>
  <cp:revision>1150</cp:revision>
  <cp:lastPrinted>2019-05-16T02:08:57Z</cp:lastPrinted>
  <dcterms:created xsi:type="dcterms:W3CDTF">2016-07-27T02:20:39Z</dcterms:created>
  <dcterms:modified xsi:type="dcterms:W3CDTF">2019-05-21T01:59:01Z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1033-10.2.0.5965</vt:lpwstr>
  </property>
  <property fmtid="{D5CDD505-2E9C-101B-9397-08002B2CF9AE}" pid="3" name="ContentTypeId">
    <vt:lpwstr>0x010100DBDC6963646C3C4C9079BC7B960AF585</vt:lpwstr>
  </property>
</Properties>
</file>